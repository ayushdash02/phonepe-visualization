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84" r:id="rId13"/>
    <p:sldId id="285" r:id="rId14"/>
    <p:sldId id="267" r:id="rId15"/>
    <p:sldId id="268" r:id="rId16"/>
    <p:sldId id="280" r:id="rId17"/>
    <p:sldId id="269" r:id="rId18"/>
    <p:sldId id="281" r:id="rId19"/>
    <p:sldId id="270" r:id="rId20"/>
    <p:sldId id="282" r:id="rId21"/>
    <p:sldId id="271" r:id="rId22"/>
    <p:sldId id="272" r:id="rId23"/>
    <p:sldId id="283" r:id="rId24"/>
    <p:sldId id="273" r:id="rId25"/>
    <p:sldId id="274" r:id="rId26"/>
    <p:sldId id="275" r:id="rId27"/>
    <p:sldId id="276" r:id="rId28"/>
    <p:sldId id="277" r:id="rId29"/>
    <p:sldId id="278" r:id="rId30"/>
    <p:sldId id="279" r:id="rId3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=""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=""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>
        <p:scale>
          <a:sx n="70" d="100"/>
          <a:sy n="70" d="100"/>
        </p:scale>
        <p:origin x="-720" y="-11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ableStyles" Target="tableStyles.xml"/><Relationship Id="rId8" Type="http://schemas.openxmlformats.org/officeDocument/2006/relationships/slide" Target="slides/slide7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标题幻灯片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blipFill>
            <a:blip r:embed="rId2"/>
            <a:stretch>
              <a:fillRect/>
            </a:stretch>
          </a:blipFill>
          <a:ln cap="flat" cmpd="sng">
            <a:prstDash val="solid"/>
          </a:ln>
        </p:spPr>
        <p:txBody>
          <a:bodyPr vert="horz" lIns="91440" tIns="45720" rIns="91440" bIns="45720" anchor="ctr">
            <a:normAutofit/>
          </a:bodyPr>
          <a:lstStyle/>
          <a:p>
            <a:pPr marL="0" algn="ctr"/>
            <a:endParaRPr/>
          </a:p>
        </p:txBody>
      </p:sp>
      <p:sp>
        <p:nvSpPr>
          <p:cNvPr id="3" name="AutoShape 3"/>
          <p:cNvSpPr>
            <a:spLocks noGrp="1"/>
          </p:cNvSpPr>
          <p:nvPr>
            <p:ph type="subTitle" idx="1"/>
          </p:nvPr>
        </p:nvSpPr>
        <p:spPr>
          <a:xfrm>
            <a:off x="3953691" y="2935338"/>
            <a:ext cx="5870568" cy="683340"/>
          </a:xfrm>
        </p:spPr>
        <p:txBody>
          <a:bodyPr vert="horz" lIns="91440" tIns="45720" rIns="91440" bIns="45720" anchor="ctr">
            <a:normAutofit/>
          </a:bodyPr>
          <a:lstStyle/>
          <a:p>
            <a:pPr marL="0" indent="0" algn="r">
              <a:lnSpc>
                <a:spcPct val="90000"/>
              </a:lnSpc>
              <a:spcBef>
                <a:spcPts val="1000"/>
              </a:spcBef>
            </a:pPr>
            <a:r>
              <a:rPr lang="en-US" sz="2000" b="0" i="0" u="none" baseline="0">
                <a:solidFill>
                  <a:srgbClr val="F0F0F0">
                    <a:lumMod val="25000"/>
                  </a:srgbClr>
                </a:solidFill>
                <a:latin typeface="Arial"/>
                <a:ea typeface="Arial"/>
              </a:rPr>
              <a:t>Click to edit Master subtitle style</a:t>
            </a:r>
          </a:p>
        </p:txBody>
      </p:sp>
      <p:sp>
        <p:nvSpPr>
          <p:cNvPr id="4" name="AutoShape 4"/>
          <p:cNvSpPr>
            <a:spLocks noGrp="1"/>
          </p:cNvSpPr>
          <p:nvPr>
            <p:ph type="ctrTitle"/>
          </p:nvPr>
        </p:nvSpPr>
        <p:spPr>
          <a:xfrm>
            <a:off x="3953691" y="1376630"/>
            <a:ext cx="5870568" cy="1516692"/>
          </a:xfrm>
        </p:spPr>
        <p:txBody>
          <a:bodyPr vert="horz" lIns="91440" tIns="45720" rIns="91440" bIns="45720" anchor="ctr">
            <a:normAutofit/>
          </a:bodyPr>
          <a:lstStyle/>
          <a:p>
            <a:pPr algn="r">
              <a:lnSpc>
                <a:spcPct val="90000"/>
              </a:lnSpc>
              <a:spcBef>
                <a:spcPct val="0"/>
              </a:spcBef>
            </a:pPr>
            <a:r>
              <a:rPr lang="en-US" sz="4000" b="1" i="0" u="none" baseline="0">
                <a:solidFill>
                  <a:schemeClr val="accent1"/>
                </a:solidFill>
                <a:latin typeface="Arial"/>
                <a:ea typeface="Arial"/>
              </a:rPr>
              <a:t>Click to edit Master </a:t>
            </a:r>
            <a:br>
              <a:rPr lang="en-US" sz="4000" b="1" i="0" u="none" baseline="0">
                <a:solidFill>
                  <a:schemeClr val="accent1"/>
                </a:solidFill>
                <a:latin typeface="Arial"/>
                <a:ea typeface="Arial"/>
              </a:rPr>
            </a:br>
            <a:r>
              <a:rPr lang="en-US" sz="4000" b="1" i="0" u="none" baseline="0">
                <a:solidFill>
                  <a:schemeClr val="accent1"/>
                </a:solidFill>
                <a:latin typeface="Arial"/>
                <a:ea typeface="Arial"/>
              </a:rPr>
              <a:t>title style</a:t>
            </a:r>
          </a:p>
        </p:txBody>
      </p:sp>
      <p:sp>
        <p:nvSpPr>
          <p:cNvPr id="5" name="AutoShape 5"/>
          <p:cNvSpPr>
            <a:spLocks noGrp="1"/>
          </p:cNvSpPr>
          <p:nvPr>
            <p:ph type="body" sz="quarter" idx="10"/>
          </p:nvPr>
        </p:nvSpPr>
        <p:spPr>
          <a:xfrm>
            <a:off x="3953692" y="4306521"/>
            <a:ext cx="5870568" cy="296271"/>
          </a:xfrm>
        </p:spPr>
        <p:txBody>
          <a:bodyPr vert="horz" lIns="91440" tIns="45720" rIns="91440" bIns="45720" anchor="ctr">
            <a:noAutofit/>
          </a:bodyPr>
          <a:lstStyle/>
          <a:p>
            <a:pPr marL="0" indent="0" algn="r">
              <a:lnSpc>
                <a:spcPct val="90000"/>
              </a:lnSpc>
              <a:spcBef>
                <a:spcPts val="1000"/>
              </a:spcBef>
            </a:pPr>
            <a:r>
              <a:rPr lang="en-US" sz="1500" b="0" i="0" u="none" baseline="0"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ea typeface="Arial"/>
              </a:rPr>
              <a:t>Signature</a:t>
            </a:r>
          </a:p>
        </p:txBody>
      </p:sp>
      <p:sp>
        <p:nvSpPr>
          <p:cNvPr id="6" name="AutoShape 6"/>
          <p:cNvSpPr>
            <a:spLocks noGrp="1"/>
          </p:cNvSpPr>
          <p:nvPr>
            <p:ph type="body" sz="quarter" idx="11"/>
          </p:nvPr>
        </p:nvSpPr>
        <p:spPr>
          <a:xfrm>
            <a:off x="3953692" y="4631462"/>
            <a:ext cx="5870568" cy="296271"/>
          </a:xfrm>
        </p:spPr>
        <p:txBody>
          <a:bodyPr vert="horz" lIns="91440" tIns="45720" rIns="91440" bIns="45720" anchor="ctr">
            <a:noAutofit/>
          </a:bodyPr>
          <a:lstStyle/>
          <a:p>
            <a:pPr marL="0" indent="0" algn="r">
              <a:lnSpc>
                <a:spcPct val="90000"/>
              </a:lnSpc>
              <a:spcBef>
                <a:spcPts val="1000"/>
              </a:spcBef>
            </a:pPr>
            <a:r>
              <a:rPr lang="en-US" sz="1500" b="0" i="0" u="none" baseline="0"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ea typeface="Arial"/>
              </a:rPr>
              <a:t>Date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节标题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AutoShape 3"/>
          <p:cNvSpPr>
            <a:spLocks noGrp="1"/>
          </p:cNvSpPr>
          <p:nvPr>
            <p:ph type="title"/>
          </p:nvPr>
        </p:nvSpPr>
        <p:spPr>
          <a:xfrm>
            <a:off x="3840677" y="2343150"/>
            <a:ext cx="5419185" cy="895350"/>
          </a:xfrm>
        </p:spPr>
        <p:txBody>
          <a:bodyPr vert="horz" lIns="91440" tIns="45720" rIns="91440" bIns="45720" anchor="b">
            <a:noAutofit/>
          </a:bodyPr>
          <a:lstStyle/>
          <a:p>
            <a:pPr algn="l">
              <a:lnSpc>
                <a:spcPct val="90000"/>
              </a:lnSpc>
              <a:spcBef>
                <a:spcPct val="0"/>
              </a:spcBef>
            </a:pPr>
            <a:r>
              <a:rPr lang="en-US" sz="2400" b="1" i="0" u="none" baseline="0">
                <a:solidFill>
                  <a:schemeClr val="accent1"/>
                </a:solidFill>
                <a:latin typeface="Arial"/>
                <a:ea typeface="Arial"/>
              </a:rPr>
              <a:t>Click to edit Master title style</a:t>
            </a:r>
          </a:p>
        </p:txBody>
      </p:sp>
      <p:sp>
        <p:nvSpPr>
          <p:cNvPr id="4" name="AutoShape 4"/>
          <p:cNvSpPr>
            <a:spLocks noGrp="1"/>
          </p:cNvSpPr>
          <p:nvPr>
            <p:ph type="body" idx="1"/>
          </p:nvPr>
        </p:nvSpPr>
        <p:spPr>
          <a:xfrm>
            <a:off x="3840676" y="3238500"/>
            <a:ext cx="5419185" cy="1015623"/>
          </a:xfrm>
        </p:spPr>
        <p:txBody>
          <a:bodyPr vert="horz" lIns="91440" tIns="45720" rIns="91440" bIns="45720" anchor="t">
            <a:normAutofit/>
          </a:bodyPr>
          <a:lstStyle/>
          <a:p>
            <a:pPr marL="0" indent="0" algn="l">
              <a:lnSpc>
                <a:spcPct val="100000"/>
              </a:lnSpc>
              <a:spcBef>
                <a:spcPts val="1000"/>
              </a:spcBef>
            </a:pPr>
            <a:r>
              <a:rPr lang="en-US" sz="1100" b="0" i="0" u="none" baseline="0">
                <a:solidFill>
                  <a:srgbClr val="000000">
                    <a:lumMod val="85000"/>
                    <a:lumOff val="15000"/>
                  </a:srgbClr>
                </a:solidFill>
                <a:latin typeface="Arial"/>
                <a:ea typeface="Arial"/>
              </a:rPr>
              <a:t>Edit Master text styles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内容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>
            <a:spLocks noGrp="1"/>
          </p:cNvSpPr>
          <p:nvPr>
            <p:ph type="dt" sz="half" idx="10"/>
          </p:nvPr>
        </p:nvSpPr>
        <p:spPr>
          <a:xfrm>
            <a:off x="5401732" y="6240463"/>
            <a:ext cx="1388536" cy="206381"/>
          </a:xfrm>
        </p:spPr>
        <p:txBody>
          <a:bodyPr vert="horz" lIns="91440" tIns="45720" rIns="91440" bIns="45720" anchor="ctr">
            <a:normAutofit/>
          </a:bodyPr>
          <a:lstStyle/>
          <a:p>
            <a:pPr marL="0" algn="ctr"/>
            <a:r>
              <a:rPr lang="zh-CN" altLang="en-US" sz="1000" b="0" i="0" u="none" baseline="0">
                <a:solidFill>
                  <a:srgbClr val="000000">
                    <a:lumMod val="50000"/>
                    <a:lumOff val="50000"/>
                  </a:srgbClr>
                </a:solidFill>
                <a:latin typeface="Arial"/>
                <a:ea typeface="Arial"/>
              </a:rPr>
              <a:t>2024/8/12</a:t>
            </a:r>
          </a:p>
        </p:txBody>
      </p:sp>
      <p:sp>
        <p:nvSpPr>
          <p:cNvPr id="3" name="AutoShape 3"/>
          <p:cNvSpPr>
            <a:spLocks noGrp="1"/>
          </p:cNvSpPr>
          <p:nvPr>
            <p:ph type="sldNum" sz="quarter" idx="12"/>
          </p:nvPr>
        </p:nvSpPr>
        <p:spPr>
          <a:xfrm>
            <a:off x="8610599" y="6240463"/>
            <a:ext cx="2909888" cy="206381"/>
          </a:xfrm>
        </p:spPr>
        <p:txBody>
          <a:bodyPr vert="horz" lIns="91440" tIns="45720" rIns="91440" bIns="45720" anchor="ctr">
            <a:normAutofit/>
          </a:bodyPr>
          <a:lstStyle/>
          <a:p>
            <a:pPr marL="0" algn="r"/>
            <a:fld id="{3386411A-70EE-422D-B97C-F56BEE3FF077}" type="slidenum">
              <a:rPr lang="zh-CN" altLang="en-US" sz="1000" b="0" i="0" u="none" baseline="0">
                <a:solidFill>
                  <a:srgbClr val="000000">
                    <a:lumMod val="50000"/>
                    <a:lumOff val="50000"/>
                  </a:srgbClr>
                </a:solidFill>
                <a:latin typeface="Arial"/>
                <a:ea typeface="Arial"/>
              </a:rPr>
              <a:t>‹#›</a:t>
            </a:fld>
            <a:endParaRPr lang="zh-CN" altLang="en-US" sz="1000" b="0" i="0" u="none" baseline="0">
              <a:solidFill>
                <a:srgbClr val="000000">
                  <a:lumMod val="50000"/>
                  <a:lumOff val="50000"/>
                </a:srgbClr>
              </a:solidFill>
              <a:latin typeface="Arial"/>
              <a:ea typeface="Arial"/>
            </a:endParaRPr>
          </a:p>
        </p:txBody>
      </p:sp>
      <p:sp>
        <p:nvSpPr>
          <p:cNvPr id="4" name="AutoShape 4"/>
          <p:cNvSpPr>
            <a:spLocks noGrp="1"/>
          </p:cNvSpPr>
          <p:nvPr>
            <p:ph type="title"/>
          </p:nvPr>
        </p:nvSpPr>
        <p:spPr>
          <a:xfrm>
            <a:off x="669924" y="1"/>
            <a:ext cx="10850563" cy="1028699"/>
          </a:xfrm>
        </p:spPr>
        <p:txBody>
          <a:bodyPr vert="horz" lIns="91440" tIns="45720" rIns="91440" bIns="45720" anchor="b">
            <a:normAutofit/>
          </a:bodyPr>
          <a:lstStyle/>
          <a:p>
            <a:pPr algn="l">
              <a:lnSpc>
                <a:spcPct val="90000"/>
              </a:lnSpc>
              <a:spcBef>
                <a:spcPct val="0"/>
              </a:spcBef>
            </a:pPr>
            <a:r>
              <a:rPr lang="en-US" sz="2800" b="1" i="0" u="none" baseline="0">
                <a:solidFill>
                  <a:srgbClr val="000000"/>
                </a:solidFill>
                <a:latin typeface="Arial"/>
                <a:ea typeface="Arial"/>
              </a:rPr>
              <a:t>Click to edit Master title style</a:t>
            </a:r>
          </a:p>
        </p:txBody>
      </p:sp>
      <p:sp>
        <p:nvSpPr>
          <p:cNvPr id="5" name="AutoShape 5"/>
          <p:cNvSpPr>
            <a:spLocks noGrp="1"/>
          </p:cNvSpPr>
          <p:nvPr>
            <p:ph sz="quarter" idx="13"/>
          </p:nvPr>
        </p:nvSpPr>
        <p:spPr>
          <a:xfrm>
            <a:off x="669925" y="1130299"/>
            <a:ext cx="10850563" cy="5006975"/>
          </a:xfrm>
        </p:spPr>
        <p:txBody>
          <a:bodyPr vert="horz" lIns="91440" tIns="45720" rIns="91440" bIns="45720" anchor="t">
            <a:normAutofit/>
          </a:bodyPr>
          <a:lstStyle/>
          <a:p>
            <a:pPr marL="228589" indent="-228589" algn="l">
              <a:lnSpc>
                <a:spcPct val="90000"/>
              </a:lnSpc>
              <a:spcBef>
                <a:spcPts val="1000"/>
              </a:spcBef>
            </a:pPr>
            <a:r>
              <a:rPr lang="en-US" sz="1800" b="0" i="0" u="none" baseline="0">
                <a:solidFill>
                  <a:srgbClr val="000000"/>
                </a:solidFill>
                <a:latin typeface="Arial"/>
                <a:ea typeface="Arial"/>
              </a:rPr>
              <a:t>Edit Master text styles</a:t>
            </a:r>
          </a:p>
          <a:p>
            <a:pPr marL="685766" lvl="1" indent="-228589" algn="l">
              <a:lnSpc>
                <a:spcPct val="90000"/>
              </a:lnSpc>
              <a:spcBef>
                <a:spcPts val="500"/>
              </a:spcBef>
            </a:pPr>
            <a:r>
              <a:rPr lang="en-US" sz="1600" b="0" i="0" u="none" baseline="0">
                <a:solidFill>
                  <a:srgbClr val="000000"/>
                </a:solidFill>
                <a:latin typeface="Arial"/>
                <a:ea typeface="Arial"/>
              </a:rPr>
              <a:t>Second level</a:t>
            </a:r>
          </a:p>
          <a:p>
            <a:pPr marL="1142942" lvl="2" indent="-228589" algn="l">
              <a:lnSpc>
                <a:spcPct val="90000"/>
              </a:lnSpc>
              <a:spcBef>
                <a:spcPts val="500"/>
              </a:spcBef>
            </a:pPr>
            <a:r>
              <a:rPr lang="en-US" sz="1400" b="0" i="0" u="none" baseline="0">
                <a:solidFill>
                  <a:srgbClr val="000000"/>
                </a:solidFill>
                <a:latin typeface="Arial"/>
                <a:ea typeface="Arial"/>
              </a:rPr>
              <a:t>Third level</a:t>
            </a:r>
          </a:p>
          <a:p>
            <a:pPr marL="1600120" lvl="3" indent="-228589" algn="l">
              <a:lnSpc>
                <a:spcPct val="90000"/>
              </a:lnSpc>
              <a:spcBef>
                <a:spcPts val="500"/>
              </a:spcBef>
            </a:pPr>
            <a:r>
              <a:rPr lang="en-US" sz="1200" b="0" i="0" u="none" baseline="0">
                <a:solidFill>
                  <a:srgbClr val="000000"/>
                </a:solidFill>
                <a:latin typeface="Arial"/>
                <a:ea typeface="Arial"/>
              </a:rPr>
              <a:t>Fourth level</a:t>
            </a:r>
          </a:p>
          <a:p>
            <a:pPr marL="2057298" lvl="4" indent="-228589" algn="l">
              <a:lnSpc>
                <a:spcPct val="90000"/>
              </a:lnSpc>
              <a:spcBef>
                <a:spcPts val="500"/>
              </a:spcBef>
            </a:pPr>
            <a:r>
              <a:rPr lang="en-US" sz="1200" b="0" i="0" u="none" baseline="0">
                <a:solidFill>
                  <a:srgbClr val="000000"/>
                </a:solidFill>
                <a:latin typeface="Arial"/>
                <a:ea typeface="Arial"/>
              </a:rPr>
              <a:t>Fifth level</a:t>
            </a: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页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>
            <a:spLocks noGrp="1"/>
          </p:cNvSpPr>
          <p:nvPr>
            <p:ph type="title"/>
          </p:nvPr>
        </p:nvSpPr>
        <p:spPr>
          <a:xfrm>
            <a:off x="669924" y="1"/>
            <a:ext cx="10850563" cy="1028699"/>
          </a:xfrm>
        </p:spPr>
        <p:txBody>
          <a:bodyPr vert="horz" lIns="91440" tIns="45720" rIns="91440" bIns="45720" anchor="b">
            <a:normAutofit/>
          </a:bodyPr>
          <a:lstStyle/>
          <a:p>
            <a:pPr algn="l">
              <a:lnSpc>
                <a:spcPct val="90000"/>
              </a:lnSpc>
              <a:spcBef>
                <a:spcPct val="0"/>
              </a:spcBef>
            </a:pPr>
            <a:r>
              <a:rPr lang="en-US" sz="2800" b="1" i="0" u="none" baseline="0">
                <a:solidFill>
                  <a:srgbClr val="000000"/>
                </a:solidFill>
                <a:latin typeface="Arial"/>
                <a:ea typeface="Arial"/>
              </a:rPr>
              <a:t>Click to edit Master title style</a:t>
            </a:r>
          </a:p>
        </p:txBody>
      </p:sp>
      <p:sp>
        <p:nvSpPr>
          <p:cNvPr id="3" name="AutoShape 3"/>
          <p:cNvSpPr>
            <a:spLocks noGrp="1"/>
          </p:cNvSpPr>
          <p:nvPr>
            <p:ph type="dt" sz="half" idx="10"/>
          </p:nvPr>
        </p:nvSpPr>
        <p:spPr>
          <a:xfrm>
            <a:off x="5401732" y="6240463"/>
            <a:ext cx="1388536" cy="206381"/>
          </a:xfrm>
        </p:spPr>
        <p:txBody>
          <a:bodyPr vert="horz" lIns="91440" tIns="45720" rIns="91440" bIns="45720" anchor="ctr">
            <a:normAutofit/>
          </a:bodyPr>
          <a:lstStyle/>
          <a:p>
            <a:pPr marL="0" algn="ctr"/>
            <a:r>
              <a:rPr lang="zh-CN" altLang="en-US" sz="1000" b="0" i="0" u="none" baseline="0">
                <a:solidFill>
                  <a:srgbClr val="000000">
                    <a:lumMod val="50000"/>
                    <a:lumOff val="50000"/>
                  </a:srgbClr>
                </a:solidFill>
                <a:latin typeface="Arial"/>
                <a:ea typeface="Arial"/>
              </a:rPr>
              <a:t>2024/8/12</a:t>
            </a:r>
          </a:p>
        </p:txBody>
      </p:sp>
      <p:sp>
        <p:nvSpPr>
          <p:cNvPr id="4" name="AutoShape 4"/>
          <p:cNvSpPr>
            <a:spLocks noGrp="1"/>
          </p:cNvSpPr>
          <p:nvPr>
            <p:ph type="sldNum" sz="quarter" idx="12"/>
          </p:nvPr>
        </p:nvSpPr>
        <p:spPr>
          <a:xfrm>
            <a:off x="8610599" y="6240463"/>
            <a:ext cx="2909888" cy="206381"/>
          </a:xfrm>
        </p:spPr>
        <p:txBody>
          <a:bodyPr vert="horz" lIns="91440" tIns="45720" rIns="91440" bIns="45720" anchor="ctr">
            <a:normAutofit/>
          </a:bodyPr>
          <a:lstStyle/>
          <a:p>
            <a:pPr marL="0" algn="r"/>
            <a:fld id="{3386411A-70EE-422D-B97C-F56BEE3FF077}" type="slidenum">
              <a:rPr lang="zh-CN" altLang="en-US" sz="1000" b="0" i="0" u="none" baseline="0">
                <a:solidFill>
                  <a:srgbClr val="000000">
                    <a:lumMod val="50000"/>
                    <a:lumOff val="50000"/>
                  </a:srgbClr>
                </a:solidFill>
                <a:latin typeface="Arial"/>
                <a:ea typeface="Arial"/>
              </a:rPr>
              <a:t>‹#›</a:t>
            </a:fld>
            <a:endParaRPr lang="zh-CN" altLang="en-US" sz="1000" b="0" i="0" u="none" baseline="0">
              <a:solidFill>
                <a:srgbClr val="000000">
                  <a:lumMod val="50000"/>
                  <a:lumOff val="50000"/>
                </a:srgbClr>
              </a:solidFill>
              <a:latin typeface="Arial"/>
              <a:ea typeface="Arial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末尾幻灯片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 flipH="1">
            <a:off x="0" y="0"/>
            <a:ext cx="12192000" cy="6858000"/>
          </a:xfrm>
          <a:prstGeom prst="rect">
            <a:avLst/>
          </a:prstGeom>
          <a:blipFill>
            <a:blip r:embed="rId2"/>
            <a:stretch>
              <a:fillRect/>
            </a:stretch>
          </a:blipFill>
          <a:ln cap="flat" cmpd="sng">
            <a:prstDash val="solid"/>
          </a:ln>
        </p:spPr>
        <p:txBody>
          <a:bodyPr vert="horz" lIns="91440" tIns="45720" rIns="91440" bIns="45720" anchor="ctr">
            <a:normAutofit/>
          </a:bodyPr>
          <a:lstStyle/>
          <a:p>
            <a:pPr marL="0" algn="ctr"/>
            <a:endParaRPr/>
          </a:p>
        </p:txBody>
      </p:sp>
      <p:sp>
        <p:nvSpPr>
          <p:cNvPr id="3" name="AutoShape 3"/>
          <p:cNvSpPr>
            <a:spLocks noGrp="1"/>
          </p:cNvSpPr>
          <p:nvPr>
            <p:ph type="ctrTitle"/>
          </p:nvPr>
        </p:nvSpPr>
        <p:spPr>
          <a:xfrm>
            <a:off x="3382962" y="1618376"/>
            <a:ext cx="5426076" cy="1621509"/>
          </a:xfrm>
        </p:spPr>
        <p:txBody>
          <a:bodyPr vert="horz" lIns="91440" tIns="45720" rIns="91440" bIns="45720" anchor="b">
            <a:normAutofit/>
          </a:bodyPr>
          <a:lstStyle/>
          <a:p>
            <a:pPr marL="0" indent="0" algn="ctr">
              <a:lnSpc>
                <a:spcPct val="90000"/>
              </a:lnSpc>
              <a:spcBef>
                <a:spcPct val="0"/>
              </a:spcBef>
            </a:pPr>
            <a:r>
              <a:rPr lang="en-US" sz="3200" b="1" i="0" u="none" baseline="0">
                <a:solidFill>
                  <a:schemeClr val="accent1"/>
                </a:solidFill>
                <a:latin typeface="Arial"/>
                <a:ea typeface="Arial"/>
              </a:rPr>
              <a:t>Conclusion</a:t>
            </a:r>
          </a:p>
        </p:txBody>
      </p:sp>
      <p:sp>
        <p:nvSpPr>
          <p:cNvPr id="4" name="AutoShape 4"/>
          <p:cNvSpPr>
            <a:spLocks noGrp="1"/>
          </p:cNvSpPr>
          <p:nvPr>
            <p:ph type="body" sz="quarter" idx="18"/>
          </p:nvPr>
        </p:nvSpPr>
        <p:spPr>
          <a:xfrm>
            <a:off x="3379565" y="3847027"/>
            <a:ext cx="5426076" cy="310871"/>
          </a:xfrm>
        </p:spPr>
        <p:txBody>
          <a:bodyPr vert="horz" lIns="91440" tIns="45720" rIns="91440" bIns="45720" anchor="t">
            <a:normAutofit/>
          </a:bodyPr>
          <a:lstStyle/>
          <a:p>
            <a:pPr marL="228589" marR="0" indent="-228589" algn="ctr" fontAlgn="auto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</a:pPr>
            <a:r>
              <a:rPr lang="en-US" sz="1500" b="0" i="0" u="none" baseline="0">
                <a:solidFill>
                  <a:srgbClr val="000000"/>
                </a:solidFill>
                <a:latin typeface="Arial"/>
                <a:ea typeface="Arial"/>
              </a:rPr>
              <a:t>Data</a:t>
            </a:r>
          </a:p>
        </p:txBody>
      </p:sp>
      <p:sp>
        <p:nvSpPr>
          <p:cNvPr id="5" name="AutoShape 5"/>
          <p:cNvSpPr>
            <a:spLocks noGrp="1"/>
          </p:cNvSpPr>
          <p:nvPr>
            <p:ph type="body" sz="quarter" idx="10"/>
          </p:nvPr>
        </p:nvSpPr>
        <p:spPr>
          <a:xfrm>
            <a:off x="3379566" y="3550756"/>
            <a:ext cx="5426076" cy="296271"/>
          </a:xfrm>
        </p:spPr>
        <p:txBody>
          <a:bodyPr vert="horz" lIns="91440" tIns="45720" rIns="91440" bIns="45720" anchor="ctr">
            <a:noAutofit/>
          </a:bodyPr>
          <a:lstStyle/>
          <a:p>
            <a:pPr marL="0" indent="0" algn="ctr">
              <a:lnSpc>
                <a:spcPct val="90000"/>
              </a:lnSpc>
              <a:spcBef>
                <a:spcPts val="1000"/>
              </a:spcBef>
            </a:pPr>
            <a:r>
              <a:rPr lang="en-US" sz="1500" b="0" i="0" u="none" baseline="0">
                <a:solidFill>
                  <a:srgbClr val="000000"/>
                </a:solidFill>
                <a:latin typeface="Arial"/>
                <a:ea typeface="Arial"/>
              </a:rPr>
              <a:t>Signature</a:t>
            </a: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>
            <a:spLocks noGrp="1"/>
          </p:cNvSpPr>
          <p:nvPr>
            <p:ph type="title"/>
          </p:nvPr>
        </p:nvSpPr>
        <p:spPr>
          <a:xfrm>
            <a:off x="669924" y="1"/>
            <a:ext cx="10850563" cy="1028699"/>
          </a:xfrm>
          <a:prstGeom prst="rect">
            <a:avLst/>
          </a:prstGeom>
        </p:spPr>
        <p:txBody>
          <a:bodyPr vert="horz" lIns="91440" tIns="45720" rIns="91440" bIns="45720" anchor="b">
            <a:normAutofit/>
          </a:bodyPr>
          <a:lstStyle/>
          <a:p>
            <a:pPr algn="l">
              <a:lnSpc>
                <a:spcPct val="90000"/>
              </a:lnSpc>
              <a:spcBef>
                <a:spcPct val="0"/>
              </a:spcBef>
            </a:pPr>
            <a:r>
              <a:rPr lang="en-US" sz="2800" b="1" i="0" u="none" baseline="0">
                <a:solidFill>
                  <a:srgbClr val="000000"/>
                </a:solidFill>
                <a:latin typeface="Arial"/>
                <a:ea typeface="Arial"/>
              </a:rPr>
              <a:t>Click to edit Master title style</a:t>
            </a:r>
          </a:p>
        </p:txBody>
      </p:sp>
      <p:sp>
        <p:nvSpPr>
          <p:cNvPr id="3" name="AutoShape 3"/>
          <p:cNvSpPr>
            <a:spLocks noGrp="1"/>
          </p:cNvSpPr>
          <p:nvPr>
            <p:ph type="body" idx="1"/>
          </p:nvPr>
        </p:nvSpPr>
        <p:spPr>
          <a:xfrm>
            <a:off x="669924" y="1123950"/>
            <a:ext cx="10850563" cy="5019675"/>
          </a:xfrm>
          <a:prstGeom prst="rect">
            <a:avLst/>
          </a:prstGeom>
        </p:spPr>
        <p:txBody>
          <a:bodyPr vert="horz" lIns="91440" tIns="45720" rIns="91440" bIns="45720" anchor="t">
            <a:normAutofit/>
          </a:bodyPr>
          <a:lstStyle/>
          <a:p>
            <a:pPr marL="228589" indent="-228589" algn="l">
              <a:lnSpc>
                <a:spcPct val="90000"/>
              </a:lnSpc>
              <a:spcBef>
                <a:spcPts val="1000"/>
              </a:spcBef>
            </a:pPr>
            <a:r>
              <a:rPr lang="en-US" sz="1800" b="0" i="0" u="none" baseline="0">
                <a:solidFill>
                  <a:srgbClr val="000000"/>
                </a:solidFill>
                <a:latin typeface="Arial"/>
                <a:ea typeface="Arial"/>
              </a:rPr>
              <a:t>Edit Master text styles</a:t>
            </a:r>
          </a:p>
          <a:p>
            <a:pPr marL="685766" lvl="1" indent="-228589" algn="l">
              <a:lnSpc>
                <a:spcPct val="90000"/>
              </a:lnSpc>
              <a:spcBef>
                <a:spcPts val="500"/>
              </a:spcBef>
            </a:pPr>
            <a:r>
              <a:rPr lang="en-US" sz="1600" b="0" i="0" u="none" baseline="0">
                <a:solidFill>
                  <a:srgbClr val="000000"/>
                </a:solidFill>
                <a:latin typeface="Arial"/>
                <a:ea typeface="Arial"/>
              </a:rPr>
              <a:t>Second level</a:t>
            </a:r>
          </a:p>
          <a:p>
            <a:pPr marL="1142942" lvl="2" indent="-228589" algn="l">
              <a:lnSpc>
                <a:spcPct val="90000"/>
              </a:lnSpc>
              <a:spcBef>
                <a:spcPts val="500"/>
              </a:spcBef>
            </a:pPr>
            <a:r>
              <a:rPr lang="en-US" sz="1400" b="0" i="0" u="none" baseline="0">
                <a:solidFill>
                  <a:srgbClr val="000000"/>
                </a:solidFill>
                <a:latin typeface="Arial"/>
                <a:ea typeface="Arial"/>
              </a:rPr>
              <a:t>Third level</a:t>
            </a:r>
          </a:p>
          <a:p>
            <a:pPr marL="1600120" lvl="3" indent="-228589" algn="l">
              <a:lnSpc>
                <a:spcPct val="90000"/>
              </a:lnSpc>
              <a:spcBef>
                <a:spcPts val="500"/>
              </a:spcBef>
            </a:pPr>
            <a:r>
              <a:rPr lang="en-US" sz="1200" b="0" i="0" u="none" baseline="0">
                <a:solidFill>
                  <a:srgbClr val="000000"/>
                </a:solidFill>
                <a:latin typeface="Arial"/>
                <a:ea typeface="Arial"/>
              </a:rPr>
              <a:t>Fourth level</a:t>
            </a:r>
          </a:p>
          <a:p>
            <a:pPr marL="2057298" lvl="4" indent="-228589" algn="l">
              <a:lnSpc>
                <a:spcPct val="90000"/>
              </a:lnSpc>
              <a:spcBef>
                <a:spcPts val="500"/>
              </a:spcBef>
            </a:pPr>
            <a:r>
              <a:rPr lang="en-US" sz="1200" b="0" i="0" u="none" baseline="0">
                <a:solidFill>
                  <a:srgbClr val="000000"/>
                </a:solidFill>
                <a:latin typeface="Arial"/>
                <a:ea typeface="Arial"/>
              </a:rPr>
              <a:t>Fifth level</a:t>
            </a:r>
          </a:p>
        </p:txBody>
      </p:sp>
      <p:cxnSp>
        <p:nvCxnSpPr>
          <p:cNvPr id="4" name="Connector 4"/>
          <p:cNvCxnSpPr/>
          <p:nvPr/>
        </p:nvCxnSpPr>
        <p:spPr>
          <a:xfrm>
            <a:off x="669924" y="1028700"/>
            <a:ext cx="10850563" cy="0"/>
          </a:xfrm>
          <a:prstGeom prst="line">
            <a:avLst/>
          </a:prstGeom>
          <a:ln w="3175" cap="flat" cmpd="sng">
            <a:solidFill>
              <a:srgbClr val="000000">
                <a:lumMod val="50000"/>
                <a:lumOff val="50000"/>
              </a:srgbClr>
            </a:solidFill>
            <a:prstDash val="solid"/>
          </a:ln>
        </p:spPr>
      </p:cxnSp>
      <p:sp>
        <p:nvSpPr>
          <p:cNvPr id="5" name="AutoShape 5"/>
          <p:cNvSpPr>
            <a:spLocks noGrp="1"/>
          </p:cNvSpPr>
          <p:nvPr>
            <p:ph type="dt" sz="half" idx="2"/>
          </p:nvPr>
        </p:nvSpPr>
        <p:spPr>
          <a:xfrm>
            <a:off x="5401732" y="6240463"/>
            <a:ext cx="1388536" cy="206381"/>
          </a:xfrm>
          <a:prstGeom prst="rect">
            <a:avLst/>
          </a:prstGeom>
        </p:spPr>
        <p:txBody>
          <a:bodyPr vert="horz" lIns="91440" tIns="45720" rIns="91440" bIns="45720" anchor="ctr">
            <a:normAutofit/>
          </a:bodyPr>
          <a:lstStyle/>
          <a:p>
            <a:pPr marL="0" algn="l"/>
            <a:r>
              <a:rPr lang="zh-CN" altLang="en-US" sz="1800" b="0" i="0" u="none" baseline="0">
                <a:solidFill>
                  <a:srgbClr val="000000"/>
                </a:solidFill>
                <a:latin typeface="Arial"/>
                <a:ea typeface="Arial"/>
              </a:rPr>
              <a:t>2024/8/12</a:t>
            </a:r>
          </a:p>
        </p:txBody>
      </p:sp>
      <p:sp>
        <p:nvSpPr>
          <p:cNvPr id="6" name="AutoShape 6"/>
          <p:cNvSpPr>
            <a:spLocks noGrp="1"/>
          </p:cNvSpPr>
          <p:nvPr>
            <p:ph type="sldNum" sz="quarter" idx="4"/>
          </p:nvPr>
        </p:nvSpPr>
        <p:spPr>
          <a:xfrm>
            <a:off x="8610599" y="6240463"/>
            <a:ext cx="2909888" cy="206381"/>
          </a:xfrm>
          <a:prstGeom prst="rect">
            <a:avLst/>
          </a:prstGeom>
        </p:spPr>
        <p:txBody>
          <a:bodyPr vert="horz" lIns="91440" tIns="45720" rIns="91440" bIns="45720" anchor="ctr">
            <a:normAutofit/>
          </a:bodyPr>
          <a:lstStyle/>
          <a:p>
            <a:pPr marL="0" algn="l"/>
            <a:fld id="{3386411A-70EE-422D-B97C-F56BEE3FF077}" type="slidenum">
              <a:rPr lang="zh-CN" altLang="en-US" sz="1800" b="0" i="0" u="none" baseline="0">
                <a:solidFill>
                  <a:srgbClr val="000000"/>
                </a:solidFill>
                <a:latin typeface="Arial"/>
                <a:ea typeface="Arial"/>
              </a:rPr>
              <a:t>‹#›</a:t>
            </a:fld>
            <a:endParaRPr lang="zh-CN" altLang="en-US" sz="1800" b="0" i="0" u="none" baseline="0">
              <a:solidFill>
                <a:srgbClr val="000000"/>
              </a:solidFill>
              <a:latin typeface="Arial"/>
              <a:ea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5" r:id="rId1"/>
    <p:sldLayoutId id="2147483656" r:id="rId2"/>
    <p:sldLayoutId id="2147483657" r:id="rId3"/>
    <p:sldLayoutId id="2147483658" r:id="rId4"/>
    <p:sldLayoutId id="2147483659" r:id="rId5"/>
    <p:sldLayoutId id="2147483660" r:id="rId6"/>
  </p:sldLayoutIdLst>
  <p:hf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5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5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5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5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5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3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3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5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5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3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3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5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>
            <a:spLocks noGrp="1"/>
          </p:cNvSpPr>
          <p:nvPr>
            <p:ph type="ctrTitle"/>
          </p:nvPr>
        </p:nvSpPr>
        <p:spPr>
          <a:xfrm>
            <a:off x="1676400" y="799187"/>
            <a:ext cx="8101257" cy="1516692"/>
          </a:xfrm>
        </p:spPr>
        <p:txBody>
          <a:bodyPr vert="horz" lIns="91440" tIns="45720" rIns="91440" bIns="45720" anchor="ctr">
            <a:normAutofit/>
          </a:bodyPr>
          <a:lstStyle/>
          <a:p>
            <a:pPr algn="r">
              <a:lnSpc>
                <a:spcPct val="90000"/>
              </a:lnSpc>
              <a:spcBef>
                <a:spcPct val="0"/>
              </a:spcBef>
            </a:pPr>
            <a:r>
              <a:rPr lang="zh-CN" altLang="en-US" sz="4000" b="1" i="0" u="none" baseline="0" dirty="0">
                <a:solidFill>
                  <a:schemeClr val="accent1"/>
                </a:solidFill>
                <a:latin typeface="Magneto" panose="04030805050802020D02" pitchFamily="82" charset="0"/>
                <a:ea typeface="微软雅黑"/>
              </a:rPr>
              <a:t>PhonePe Data Visualization Dashboard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18701" y="235917"/>
            <a:ext cx="1752598" cy="532790"/>
          </a:xfrm>
          <a:prstGeom prst="rect">
            <a:avLst/>
          </a:prstGeom>
        </p:spPr>
      </p:pic>
      <p:sp>
        <p:nvSpPr>
          <p:cNvPr id="17" name="TextBox 6"/>
          <p:cNvSpPr txBox="1"/>
          <p:nvPr/>
        </p:nvSpPr>
        <p:spPr>
          <a:xfrm>
            <a:off x="4190999" y="3810000"/>
            <a:ext cx="5916365" cy="628650"/>
          </a:xfrm>
          <a:prstGeom prst="rect">
            <a:avLst/>
          </a:prstGeom>
          <a:noFill/>
        </p:spPr>
        <p:txBody>
          <a:bodyPr vert="horz" wrap="square" lIns="91440" tIns="45720" rIns="91440" bIns="45720" rtlCol="0" anchor="ctr">
            <a:noAutofit/>
          </a:bodyPr>
          <a:lstStyle/>
          <a:p>
            <a:pPr marL="0" indent="0" algn="l" fontAlgn="auto">
              <a:defRPr/>
            </a:pPr>
            <a:r>
              <a:rPr lang="en-US" sz="2400" dirty="0">
                <a:solidFill>
                  <a:schemeClr val="bg2">
                    <a:lumMod val="50000"/>
                  </a:schemeClr>
                </a:solidFill>
                <a:latin typeface="Magneto" panose="04030805050802020D02" pitchFamily="82" charset="0"/>
              </a:rPr>
              <a:t>Prepared By: AYUSH DASH</a:t>
            </a:r>
            <a:r>
              <a:rPr lang="en-US" sz="2400" dirty="0">
                <a:solidFill>
                  <a:schemeClr val="bg1"/>
                </a:solidFill>
                <a:latin typeface="思源黑体 Normal"/>
              </a:rPr>
              <a:t> </a:t>
            </a:r>
            <a:endParaRPr lang="en-US" sz="1100" dirty="0"/>
          </a:p>
        </p:txBody>
      </p:sp>
      <p:sp>
        <p:nvSpPr>
          <p:cNvPr id="19" name="TextBox 6"/>
          <p:cNvSpPr txBox="1"/>
          <p:nvPr/>
        </p:nvSpPr>
        <p:spPr>
          <a:xfrm>
            <a:off x="5195412" y="4615434"/>
            <a:ext cx="3907537" cy="628650"/>
          </a:xfrm>
          <a:prstGeom prst="rect">
            <a:avLst/>
          </a:prstGeom>
          <a:noFill/>
        </p:spPr>
        <p:txBody>
          <a:bodyPr vert="horz" wrap="square" lIns="91440" tIns="45720" rIns="91440" bIns="45720" rtlCol="0" anchor="ctr">
            <a:noAutofit/>
          </a:bodyPr>
          <a:lstStyle/>
          <a:p>
            <a:pPr marL="0" indent="0" algn="l" fontAlgn="auto">
              <a:defRPr/>
            </a:pPr>
            <a:r>
              <a:rPr lang="en-US" sz="2400" dirty="0" smtClean="0">
                <a:solidFill>
                  <a:schemeClr val="bg2">
                    <a:lumMod val="50000"/>
                  </a:schemeClr>
                </a:solidFill>
                <a:latin typeface="Magneto" panose="04030805050802020D02" pitchFamily="82" charset="0"/>
              </a:rPr>
              <a:t>Date: 24</a:t>
            </a:r>
            <a:r>
              <a:rPr lang="en-US" sz="2400" baseline="30000" dirty="0" smtClean="0">
                <a:solidFill>
                  <a:schemeClr val="bg2">
                    <a:lumMod val="50000"/>
                  </a:schemeClr>
                </a:solidFill>
                <a:latin typeface="Magneto" panose="04030805050802020D02" pitchFamily="82" charset="0"/>
              </a:rPr>
              <a:t>th</a:t>
            </a:r>
            <a:r>
              <a:rPr lang="en-US" sz="2400" dirty="0" smtClean="0">
                <a:solidFill>
                  <a:schemeClr val="bg2">
                    <a:lumMod val="50000"/>
                  </a:schemeClr>
                </a:solidFill>
                <a:latin typeface="Magneto" panose="04030805050802020D02" pitchFamily="82" charset="0"/>
              </a:rPr>
              <a:t> June, 2026</a:t>
            </a:r>
            <a:r>
              <a:rPr lang="en-US" sz="2400" dirty="0" smtClean="0">
                <a:solidFill>
                  <a:schemeClr val="bg1"/>
                </a:solidFill>
                <a:latin typeface="思源黑体 Normal"/>
              </a:rPr>
              <a:t> </a:t>
            </a:r>
            <a:endParaRPr lang="en-US" sz="1100" dirty="0"/>
          </a:p>
        </p:txBody>
      </p:sp>
      <p:sp>
        <p:nvSpPr>
          <p:cNvPr id="20" name="AutoShape 2"/>
          <p:cNvSpPr txBox="1">
            <a:spLocks/>
          </p:cNvSpPr>
          <p:nvPr/>
        </p:nvSpPr>
        <p:spPr>
          <a:xfrm>
            <a:off x="1219200" y="2514600"/>
            <a:ext cx="8710857" cy="860771"/>
          </a:xfrm>
          <a:prstGeom prst="rect">
            <a:avLst/>
          </a:prstGeom>
        </p:spPr>
        <p:txBody>
          <a:bodyPr vert="horz" lIns="91440" tIns="45720" rIns="91440" bIns="45720" anchor="ctr">
            <a:normAutofit fontScale="85000" lnSpcReduction="20000"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r">
              <a:lnSpc>
                <a:spcPct val="90000"/>
              </a:lnSpc>
            </a:pPr>
            <a:r>
              <a:rPr lang="en-US" sz="4000" dirty="0">
                <a:latin typeface="Bahnschrift Condensed" panose="020B0502040204020203" pitchFamily="34" charset="0"/>
              </a:rPr>
              <a:t>Business Intelligence &amp; Digital Payment Analytics Using Power BI</a:t>
            </a:r>
            <a:endParaRPr lang="zh-CN" altLang="en-US" sz="4000" b="1" dirty="0">
              <a:solidFill>
                <a:schemeClr val="accent1"/>
              </a:solidFill>
              <a:latin typeface="Bahnschrift Condensed" panose="020B0502040204020203" pitchFamily="34" charset="0"/>
              <a:ea typeface="微软雅黑"/>
            </a:endParaRPr>
          </a:p>
        </p:txBody>
      </p:sp>
      <p:cxnSp>
        <p:nvCxnSpPr>
          <p:cNvPr id="21" name="Straight Connector 20">
            <a:extLst>
              <a:ext uri="{FF2B5EF4-FFF2-40B4-BE49-F238E27FC236}">
                <a16:creationId xmlns="" xmlns:a16="http://schemas.microsoft.com/office/drawing/2014/main" id="{A0843D0B-922E-C7B8-B5D9-A68D941B2080}"/>
              </a:ext>
            </a:extLst>
          </p:cNvPr>
          <p:cNvCxnSpPr>
            <a:cxnSpLocks/>
          </p:cNvCxnSpPr>
          <p:nvPr/>
        </p:nvCxnSpPr>
        <p:spPr>
          <a:xfrm>
            <a:off x="1219200" y="2286000"/>
            <a:ext cx="8496300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8436260" y="0"/>
            <a:ext cx="1800200" cy="3053928"/>
            <a:chOff x="8436260" y="0"/>
            <a:chExt cx="1800200" cy="3053928"/>
          </a:xfrm>
        </p:grpSpPr>
        <p:sp>
          <p:nvSpPr>
            <p:cNvPr id="3" name="AutoShape 3"/>
            <p:cNvSpPr/>
            <p:nvPr/>
          </p:nvSpPr>
          <p:spPr>
            <a:xfrm>
              <a:off x="9300356" y="0"/>
              <a:ext cx="72008" cy="3053928"/>
            </a:xfrm>
            <a:prstGeom prst="rect">
              <a:avLst/>
            </a:prstGeom>
            <a:solidFill>
              <a:srgbClr val="FFFFFF">
                <a:lumMod val="85000"/>
              </a:srgbClr>
            </a:solidFill>
          </p:spPr>
          <p:txBody>
            <a:bodyPr vert="horz" wrap="square" lIns="91440" tIns="45720" rIns="91440" bIns="45720" anchor="ctr">
              <a:normAutofit/>
            </a:bodyPr>
            <a:lstStyle/>
            <a:p>
              <a:pPr marL="0" algn="ctr"/>
              <a:endParaRPr/>
            </a:p>
          </p:txBody>
        </p:sp>
        <p:sp>
          <p:nvSpPr>
            <p:cNvPr id="4" name="Freeform 4"/>
            <p:cNvSpPr/>
            <p:nvPr/>
          </p:nvSpPr>
          <p:spPr>
            <a:xfrm>
              <a:off x="8436260" y="1937804"/>
              <a:ext cx="1800200" cy="1116124"/>
            </a:xfrm>
            <a:custGeom>
              <a:avLst/>
              <a:gdLst/>
              <a:ahLst/>
              <a:cxnLst/>
              <a:rect l="l" t="t" r="r" b="b"/>
              <a:pathLst>
                <a:path w="1800200" h="1116124">
                  <a:moveTo>
                    <a:pt x="900100" y="0"/>
                  </a:moveTo>
                  <a:cubicBezTo>
                    <a:pt x="1397212" y="0"/>
                    <a:pt x="1800200" y="402988"/>
                    <a:pt x="1800200" y="900100"/>
                  </a:cubicBezTo>
                  <a:cubicBezTo>
                    <a:pt x="1800200" y="962239"/>
                    <a:pt x="1793903" y="1022907"/>
                    <a:pt x="1781913" y="1081502"/>
                  </a:cubicBezTo>
                  <a:lnTo>
                    <a:pt x="1773011" y="1116124"/>
                  </a:lnTo>
                  <a:lnTo>
                    <a:pt x="27190" y="1116124"/>
                  </a:lnTo>
                  <a:lnTo>
                    <a:pt x="18287" y="1081502"/>
                  </a:lnTo>
                  <a:cubicBezTo>
                    <a:pt x="6297" y="1022907"/>
                    <a:pt x="0" y="962239"/>
                    <a:pt x="0" y="900100"/>
                  </a:cubicBezTo>
                  <a:cubicBezTo>
                    <a:pt x="0" y="402988"/>
                    <a:pt x="402988" y="0"/>
                    <a:pt x="900100" y="0"/>
                  </a:cubicBezTo>
                  <a:close/>
                </a:path>
              </a:pathLst>
            </a:custGeom>
            <a:solidFill>
              <a:srgbClr val="FFFFFF">
                <a:lumMod val="95000"/>
              </a:srgbClr>
            </a:solidFill>
          </p:spPr>
          <p:txBody>
            <a:bodyPr vert="horz" wrap="square" lIns="91440" tIns="45720" rIns="91440" bIns="45720" anchor="ctr">
              <a:normAutofit/>
            </a:bodyPr>
            <a:lstStyle/>
            <a:p>
              <a:pPr marL="0" algn="ctr"/>
              <a:endParaRPr/>
            </a:p>
          </p:txBody>
        </p:sp>
      </p:grpSp>
      <p:sp>
        <p:nvSpPr>
          <p:cNvPr id="5" name="AutoShape 5"/>
          <p:cNvSpPr/>
          <p:nvPr/>
        </p:nvSpPr>
        <p:spPr>
          <a:xfrm>
            <a:off x="9372364" y="3176364"/>
            <a:ext cx="553998" cy="1972656"/>
          </a:xfrm>
          <a:prstGeom prst="rect">
            <a:avLst/>
          </a:prstGeom>
        </p:spPr>
        <p:txBody>
          <a:bodyPr vert="eaVert" wrap="square" lIns="91440" tIns="45720" rIns="91440" bIns="45720" anchor="t">
            <a:normAutofit/>
          </a:bodyPr>
          <a:lstStyle/>
          <a:p>
            <a:pPr marL="0" algn="l"/>
            <a:r>
              <a:rPr lang="en-US" sz="2400" b="1" i="0" u="none" spc="300" baseline="0">
                <a:solidFill>
                  <a:srgbClr val="000000"/>
                </a:solidFill>
                <a:latin typeface="Arial"/>
                <a:ea typeface="Arial"/>
              </a:rPr>
              <a:t>CONTENT</a:t>
            </a:r>
            <a:r>
              <a:rPr lang="zh-CN" altLang="en-US" sz="2400" b="1" i="0" u="none" spc="300" baseline="0">
                <a:solidFill>
                  <a:srgbClr val="000000"/>
                </a:solidFill>
                <a:latin typeface="Arial"/>
                <a:ea typeface="Arial"/>
              </a:rPr>
              <a:t> </a:t>
            </a:r>
          </a:p>
        </p:txBody>
      </p:sp>
      <p:sp>
        <p:nvSpPr>
          <p:cNvPr id="6" name="AutoShape 6"/>
          <p:cNvSpPr/>
          <p:nvPr/>
        </p:nvSpPr>
        <p:spPr>
          <a:xfrm>
            <a:off x="1955540" y="1401634"/>
            <a:ext cx="624349" cy="624349"/>
          </a:xfrm>
          <a:prstGeom prst="ellipse">
            <a:avLst/>
          </a:prstGeom>
          <a:solidFill>
            <a:srgbClr val="FFFFFF">
              <a:lumMod val="95000"/>
            </a:srgbClr>
          </a:solidFill>
          <a:ln cap="flat" cmpd="sng">
            <a:prstDash val="solid"/>
          </a:ln>
        </p:spPr>
        <p:txBody>
          <a:bodyPr vert="horz" wrap="square" lIns="91440" tIns="45720" rIns="91440" bIns="45720" anchor="ctr">
            <a:normAutofit/>
          </a:bodyPr>
          <a:lstStyle/>
          <a:p>
            <a:pPr marL="0" algn="ctr"/>
            <a:r>
              <a:rPr lang="en-US" sz="1800" b="0" i="0" u="none" baseline="0">
                <a:solidFill>
                  <a:srgbClr val="000000"/>
                </a:solidFill>
                <a:latin typeface="Impact"/>
                <a:ea typeface="Impact"/>
              </a:rPr>
              <a:t>01</a:t>
            </a:r>
          </a:p>
        </p:txBody>
      </p:sp>
      <p:sp>
        <p:nvSpPr>
          <p:cNvPr id="7" name="AutoShape 7"/>
          <p:cNvSpPr/>
          <p:nvPr/>
        </p:nvSpPr>
        <p:spPr>
          <a:xfrm>
            <a:off x="2684665" y="1541586"/>
            <a:ext cx="4066274" cy="344444"/>
          </a:xfrm>
          <a:prstGeom prst="rect">
            <a:avLst/>
          </a:prstGeom>
          <a:noFill/>
        </p:spPr>
        <p:txBody>
          <a:bodyPr vert="horz" wrap="square" lIns="91440" tIns="45720" rIns="91440" bIns="45720" anchor="t">
            <a:normAutofit/>
          </a:bodyPr>
          <a:lstStyle/>
          <a:p>
            <a:pPr marL="0" algn="l">
              <a:lnSpc>
                <a:spcPct val="120000"/>
              </a:lnSpc>
            </a:pPr>
            <a:r>
              <a:rPr lang="en-US" sz="1100" b="0" i="0" u="none" baseline="0">
                <a:solidFill>
                  <a:srgbClr val="000000"/>
                </a:solidFill>
                <a:latin typeface="Arial"/>
                <a:ea typeface="Arial"/>
              </a:rPr>
              <a:t>Project Overview</a:t>
            </a:r>
          </a:p>
        </p:txBody>
      </p:sp>
      <p:sp>
        <p:nvSpPr>
          <p:cNvPr id="8" name="AutoShape 8"/>
          <p:cNvSpPr/>
          <p:nvPr/>
        </p:nvSpPr>
        <p:spPr>
          <a:xfrm>
            <a:off x="1955540" y="2194099"/>
            <a:ext cx="624349" cy="624349"/>
          </a:xfrm>
          <a:prstGeom prst="ellipse">
            <a:avLst/>
          </a:prstGeom>
          <a:solidFill>
            <a:srgbClr val="FFFFFF">
              <a:lumMod val="95000"/>
            </a:srgbClr>
          </a:solidFill>
          <a:ln cap="flat" cmpd="sng">
            <a:prstDash val="solid"/>
          </a:ln>
        </p:spPr>
        <p:txBody>
          <a:bodyPr vert="horz" wrap="square" lIns="91440" tIns="45720" rIns="91440" bIns="45720" anchor="ctr">
            <a:normAutofit/>
          </a:bodyPr>
          <a:lstStyle/>
          <a:p>
            <a:pPr marL="0" algn="ctr"/>
            <a:r>
              <a:rPr lang="en-US" sz="1800" b="0" i="0" u="none" baseline="0">
                <a:solidFill>
                  <a:srgbClr val="000000"/>
                </a:solidFill>
                <a:latin typeface="Impact"/>
                <a:ea typeface="Impact"/>
              </a:rPr>
              <a:t>02</a:t>
            </a:r>
          </a:p>
        </p:txBody>
      </p:sp>
      <p:sp>
        <p:nvSpPr>
          <p:cNvPr id="9" name="AutoShape 9"/>
          <p:cNvSpPr/>
          <p:nvPr/>
        </p:nvSpPr>
        <p:spPr>
          <a:xfrm>
            <a:off x="2684665" y="2334051"/>
            <a:ext cx="4066274" cy="344444"/>
          </a:xfrm>
          <a:prstGeom prst="rect">
            <a:avLst/>
          </a:prstGeom>
          <a:noFill/>
        </p:spPr>
        <p:txBody>
          <a:bodyPr vert="horz" wrap="square" lIns="91440" tIns="45720" rIns="91440" bIns="45720" anchor="t">
            <a:normAutofit/>
          </a:bodyPr>
          <a:lstStyle/>
          <a:p>
            <a:pPr marL="0" algn="l">
              <a:lnSpc>
                <a:spcPct val="120000"/>
              </a:lnSpc>
            </a:pPr>
            <a:r>
              <a:rPr lang="en-US" sz="1100" b="0" i="0" u="none" baseline="0">
                <a:solidFill>
                  <a:srgbClr val="000000"/>
                </a:solidFill>
                <a:latin typeface="Arial"/>
                <a:ea typeface="Arial"/>
              </a:rPr>
              <a:t>Data Architecture &amp; Preparation</a:t>
            </a:r>
          </a:p>
        </p:txBody>
      </p:sp>
      <p:sp>
        <p:nvSpPr>
          <p:cNvPr id="10" name="AutoShape 10"/>
          <p:cNvSpPr/>
          <p:nvPr/>
        </p:nvSpPr>
        <p:spPr>
          <a:xfrm>
            <a:off x="1955540" y="2986564"/>
            <a:ext cx="624349" cy="624349"/>
          </a:xfrm>
          <a:prstGeom prst="ellipse">
            <a:avLst/>
          </a:prstGeom>
          <a:solidFill>
            <a:schemeClr val="accent1"/>
          </a:solidFill>
          <a:ln cap="flat" cmpd="sng">
            <a:prstDash val="solid"/>
          </a:ln>
        </p:spPr>
        <p:txBody>
          <a:bodyPr vert="horz" wrap="square" lIns="91440" tIns="45720" rIns="91440" bIns="45720" anchor="ctr">
            <a:normAutofit/>
          </a:bodyPr>
          <a:lstStyle/>
          <a:p>
            <a:pPr marL="0" algn="ctr"/>
            <a:r>
              <a:rPr lang="en-US" sz="1800" b="0" i="0" u="none" baseline="0">
                <a:solidFill>
                  <a:srgbClr val="FFFFFF"/>
                </a:solidFill>
                <a:latin typeface="Impact"/>
                <a:ea typeface="Impact"/>
              </a:rPr>
              <a:t>03</a:t>
            </a:r>
          </a:p>
        </p:txBody>
      </p:sp>
      <p:sp>
        <p:nvSpPr>
          <p:cNvPr id="11" name="AutoShape 11"/>
          <p:cNvSpPr/>
          <p:nvPr/>
        </p:nvSpPr>
        <p:spPr>
          <a:xfrm>
            <a:off x="2684665" y="3126516"/>
            <a:ext cx="4066274" cy="344444"/>
          </a:xfrm>
          <a:prstGeom prst="rect">
            <a:avLst/>
          </a:prstGeom>
          <a:noFill/>
        </p:spPr>
        <p:txBody>
          <a:bodyPr vert="horz" wrap="square" lIns="91440" tIns="45720" rIns="91440" bIns="45720" anchor="t">
            <a:normAutofit/>
          </a:bodyPr>
          <a:lstStyle/>
          <a:p>
            <a:pPr marL="0" algn="l">
              <a:lnSpc>
                <a:spcPct val="120000"/>
              </a:lnSpc>
            </a:pPr>
            <a:r>
              <a:rPr lang="en-US" sz="1100" b="0" i="0" u="none" baseline="0">
                <a:solidFill>
                  <a:srgbClr val="000000"/>
                </a:solidFill>
                <a:latin typeface="Arial"/>
                <a:ea typeface="Arial"/>
              </a:rPr>
              <a:t>DAX Measures &amp; Analysis</a:t>
            </a:r>
          </a:p>
        </p:txBody>
      </p:sp>
      <p:sp>
        <p:nvSpPr>
          <p:cNvPr id="12" name="AutoShape 12"/>
          <p:cNvSpPr/>
          <p:nvPr/>
        </p:nvSpPr>
        <p:spPr>
          <a:xfrm>
            <a:off x="1955540" y="3779029"/>
            <a:ext cx="624349" cy="624349"/>
          </a:xfrm>
          <a:prstGeom prst="ellipse">
            <a:avLst/>
          </a:prstGeom>
          <a:solidFill>
            <a:srgbClr val="FFFFFF">
              <a:lumMod val="95000"/>
            </a:srgbClr>
          </a:solidFill>
          <a:ln cap="flat" cmpd="sng">
            <a:prstDash val="solid"/>
          </a:ln>
        </p:spPr>
        <p:txBody>
          <a:bodyPr vert="horz" wrap="square" lIns="91440" tIns="45720" rIns="91440" bIns="45720" anchor="ctr">
            <a:normAutofit/>
          </a:bodyPr>
          <a:lstStyle/>
          <a:p>
            <a:pPr marL="0" algn="ctr"/>
            <a:r>
              <a:rPr lang="en-US" sz="1800" b="0" i="0" u="none" baseline="0">
                <a:solidFill>
                  <a:srgbClr val="000000"/>
                </a:solidFill>
                <a:latin typeface="Impact"/>
                <a:ea typeface="Impact"/>
              </a:rPr>
              <a:t>04</a:t>
            </a:r>
          </a:p>
        </p:txBody>
      </p:sp>
      <p:sp>
        <p:nvSpPr>
          <p:cNvPr id="13" name="AutoShape 13"/>
          <p:cNvSpPr/>
          <p:nvPr/>
        </p:nvSpPr>
        <p:spPr>
          <a:xfrm>
            <a:off x="2684665" y="3918981"/>
            <a:ext cx="4066274" cy="344444"/>
          </a:xfrm>
          <a:prstGeom prst="rect">
            <a:avLst/>
          </a:prstGeom>
          <a:noFill/>
        </p:spPr>
        <p:txBody>
          <a:bodyPr vert="horz" wrap="square" lIns="91440" tIns="45720" rIns="91440" bIns="45720" anchor="t">
            <a:normAutofit/>
          </a:bodyPr>
          <a:lstStyle/>
          <a:p>
            <a:pPr marL="0" algn="l">
              <a:lnSpc>
                <a:spcPct val="120000"/>
              </a:lnSpc>
            </a:pPr>
            <a:r>
              <a:rPr lang="en-US" sz="1100" b="0" i="0" u="none" baseline="0">
                <a:solidFill>
                  <a:srgbClr val="000000"/>
                </a:solidFill>
                <a:latin typeface="Arial"/>
                <a:ea typeface="Arial"/>
              </a:rPr>
              <a:t>Interactive Dashboards</a:t>
            </a:r>
          </a:p>
        </p:txBody>
      </p:sp>
      <p:sp>
        <p:nvSpPr>
          <p:cNvPr id="14" name="AutoShape 14"/>
          <p:cNvSpPr/>
          <p:nvPr/>
        </p:nvSpPr>
        <p:spPr>
          <a:xfrm>
            <a:off x="1955540" y="4571495"/>
            <a:ext cx="624349" cy="624349"/>
          </a:xfrm>
          <a:prstGeom prst="ellipse">
            <a:avLst/>
          </a:prstGeom>
          <a:solidFill>
            <a:srgbClr val="FFFFFF">
              <a:lumMod val="95000"/>
            </a:srgbClr>
          </a:solidFill>
          <a:ln cap="flat" cmpd="sng">
            <a:prstDash val="solid"/>
          </a:ln>
        </p:spPr>
        <p:txBody>
          <a:bodyPr vert="horz" wrap="square" lIns="91440" tIns="45720" rIns="91440" bIns="45720" anchor="ctr">
            <a:normAutofit/>
          </a:bodyPr>
          <a:lstStyle/>
          <a:p>
            <a:pPr marL="0" algn="ctr"/>
            <a:r>
              <a:rPr lang="en-US" sz="1800" b="0" i="0" u="none" baseline="0">
                <a:solidFill>
                  <a:srgbClr val="000000"/>
                </a:solidFill>
                <a:latin typeface="Impact"/>
                <a:ea typeface="Impact"/>
              </a:rPr>
              <a:t>05</a:t>
            </a:r>
          </a:p>
        </p:txBody>
      </p:sp>
      <p:sp>
        <p:nvSpPr>
          <p:cNvPr id="15" name="AutoShape 15"/>
          <p:cNvSpPr/>
          <p:nvPr/>
        </p:nvSpPr>
        <p:spPr>
          <a:xfrm>
            <a:off x="2684665" y="4711447"/>
            <a:ext cx="4066274" cy="344444"/>
          </a:xfrm>
          <a:prstGeom prst="rect">
            <a:avLst/>
          </a:prstGeom>
          <a:noFill/>
        </p:spPr>
        <p:txBody>
          <a:bodyPr vert="horz" wrap="square" lIns="91440" tIns="45720" rIns="91440" bIns="45720" anchor="t">
            <a:normAutofit/>
          </a:bodyPr>
          <a:lstStyle/>
          <a:p>
            <a:pPr marL="0" algn="l">
              <a:lnSpc>
                <a:spcPct val="120000"/>
              </a:lnSpc>
            </a:pPr>
            <a:r>
              <a:rPr lang="en-US" sz="1100" b="0" i="0" u="none" baseline="0">
                <a:solidFill>
                  <a:srgbClr val="000000"/>
                </a:solidFill>
                <a:latin typeface="Arial"/>
                <a:ea typeface="Arial"/>
              </a:rPr>
              <a:t>Business Insights &amp; Recommendations</a:t>
            </a:r>
          </a:p>
        </p:txBody>
      </p:sp>
      <p:cxnSp>
        <p:nvCxnSpPr>
          <p:cNvPr id="16" name="Connector 16"/>
          <p:cNvCxnSpPr/>
          <p:nvPr/>
        </p:nvCxnSpPr>
        <p:spPr>
          <a:xfrm>
            <a:off x="2788539" y="2110041"/>
            <a:ext cx="3600450" cy="0"/>
          </a:xfrm>
          <a:prstGeom prst="line">
            <a:avLst/>
          </a:prstGeom>
          <a:ln w="3175" cap="flat" cmpd="sng">
            <a:solidFill>
              <a:srgbClr val="FFFFFF">
                <a:lumMod val="75000"/>
              </a:srgbClr>
            </a:solidFill>
            <a:prstDash val="solid"/>
          </a:ln>
        </p:spPr>
      </p:cxnSp>
      <p:cxnSp>
        <p:nvCxnSpPr>
          <p:cNvPr id="17" name="Connector 17"/>
          <p:cNvCxnSpPr/>
          <p:nvPr/>
        </p:nvCxnSpPr>
        <p:spPr>
          <a:xfrm>
            <a:off x="2788539" y="2902506"/>
            <a:ext cx="3600450" cy="0"/>
          </a:xfrm>
          <a:prstGeom prst="line">
            <a:avLst/>
          </a:prstGeom>
          <a:ln w="3175" cap="flat" cmpd="sng">
            <a:solidFill>
              <a:srgbClr val="FFFFFF">
                <a:lumMod val="75000"/>
              </a:srgbClr>
            </a:solidFill>
            <a:prstDash val="solid"/>
          </a:ln>
        </p:spPr>
      </p:cxnSp>
      <p:cxnSp>
        <p:nvCxnSpPr>
          <p:cNvPr id="18" name="Connector 18"/>
          <p:cNvCxnSpPr/>
          <p:nvPr/>
        </p:nvCxnSpPr>
        <p:spPr>
          <a:xfrm>
            <a:off x="2788539" y="3694971"/>
            <a:ext cx="3600450" cy="0"/>
          </a:xfrm>
          <a:prstGeom prst="line">
            <a:avLst/>
          </a:prstGeom>
          <a:ln w="3175" cap="flat" cmpd="sng">
            <a:solidFill>
              <a:srgbClr val="FFFFFF">
                <a:lumMod val="75000"/>
              </a:srgbClr>
            </a:solidFill>
            <a:prstDash val="solid"/>
          </a:ln>
        </p:spPr>
      </p:cxnSp>
      <p:cxnSp>
        <p:nvCxnSpPr>
          <p:cNvPr id="19" name="Connector 19"/>
          <p:cNvCxnSpPr/>
          <p:nvPr/>
        </p:nvCxnSpPr>
        <p:spPr>
          <a:xfrm>
            <a:off x="2788539" y="4487436"/>
            <a:ext cx="3600450" cy="0"/>
          </a:xfrm>
          <a:prstGeom prst="line">
            <a:avLst/>
          </a:prstGeom>
          <a:ln w="3175" cap="flat" cmpd="sng">
            <a:solidFill>
              <a:srgbClr val="FFFFFF">
                <a:lumMod val="75000"/>
              </a:srgbClr>
            </a:solidFill>
            <a:prstDash val="solid"/>
          </a:ln>
        </p:spPr>
      </p:cxnSp>
      <p:sp>
        <p:nvSpPr>
          <p:cNvPr id="20" name="AutoShape 20"/>
          <p:cNvSpPr/>
          <p:nvPr/>
        </p:nvSpPr>
        <p:spPr>
          <a:xfrm>
            <a:off x="1955540" y="5403009"/>
            <a:ext cx="624349" cy="624349"/>
          </a:xfrm>
          <a:prstGeom prst="ellipse">
            <a:avLst/>
          </a:prstGeom>
          <a:solidFill>
            <a:srgbClr val="FFFFFF">
              <a:lumMod val="95000"/>
            </a:srgbClr>
          </a:solidFill>
          <a:ln cap="flat" cmpd="sng">
            <a:prstDash val="solid"/>
          </a:ln>
        </p:spPr>
        <p:txBody>
          <a:bodyPr vert="horz" wrap="square" lIns="91440" tIns="45720" rIns="91440" bIns="45720" anchor="ctr">
            <a:normAutofit/>
          </a:bodyPr>
          <a:lstStyle/>
          <a:p>
            <a:pPr marL="0" algn="ctr"/>
            <a:r>
              <a:rPr lang="en-US" sz="1800" b="0" i="0" u="none" baseline="0">
                <a:solidFill>
                  <a:srgbClr val="000000"/>
                </a:solidFill>
                <a:latin typeface="Impact"/>
                <a:ea typeface="Impact"/>
              </a:rPr>
              <a:t>06</a:t>
            </a:r>
          </a:p>
        </p:txBody>
      </p:sp>
      <p:sp>
        <p:nvSpPr>
          <p:cNvPr id="21" name="AutoShape 21"/>
          <p:cNvSpPr/>
          <p:nvPr/>
        </p:nvSpPr>
        <p:spPr>
          <a:xfrm>
            <a:off x="2684665" y="5542961"/>
            <a:ext cx="4066274" cy="344444"/>
          </a:xfrm>
          <a:prstGeom prst="rect">
            <a:avLst/>
          </a:prstGeom>
          <a:noFill/>
        </p:spPr>
        <p:txBody>
          <a:bodyPr vert="horz" wrap="square" lIns="91440" tIns="45720" rIns="91440" bIns="45720" anchor="t">
            <a:normAutofit/>
          </a:bodyPr>
          <a:lstStyle/>
          <a:p>
            <a:pPr marL="0" algn="l">
              <a:lnSpc>
                <a:spcPct val="120000"/>
              </a:lnSpc>
            </a:pPr>
            <a:r>
              <a:rPr lang="en-US" sz="1100" b="0" i="0" u="none" baseline="0">
                <a:solidFill>
                  <a:srgbClr val="000000"/>
                </a:solidFill>
                <a:latin typeface="Arial"/>
                <a:ea typeface="Arial"/>
              </a:rPr>
              <a:t>Project Impact &amp; Future Scope</a:t>
            </a:r>
          </a:p>
        </p:txBody>
      </p:sp>
      <p:cxnSp>
        <p:nvCxnSpPr>
          <p:cNvPr id="22" name="Connector 22"/>
          <p:cNvCxnSpPr/>
          <p:nvPr/>
        </p:nvCxnSpPr>
        <p:spPr>
          <a:xfrm>
            <a:off x="2788539" y="5318950"/>
            <a:ext cx="3600450" cy="0"/>
          </a:xfrm>
          <a:prstGeom prst="line">
            <a:avLst/>
          </a:prstGeom>
          <a:ln w="3175" cap="flat" cmpd="sng">
            <a:solidFill>
              <a:srgbClr val="FFFFFF">
                <a:lumMod val="75000"/>
              </a:srgbClr>
            </a:solidFill>
            <a:prstDash val="solid"/>
          </a:ln>
        </p:spPr>
      </p:cxnSp>
      <p:pic>
        <p:nvPicPr>
          <p:cNvPr id="24" name="Picture 2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18701" y="235917"/>
            <a:ext cx="1752598" cy="53279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>
            <a:spLocks noGrp="1"/>
          </p:cNvSpPr>
          <p:nvPr>
            <p:ph type="title"/>
          </p:nvPr>
        </p:nvSpPr>
        <p:spPr>
          <a:xfrm>
            <a:off x="3794704" y="2914650"/>
            <a:ext cx="7119766" cy="895350"/>
          </a:xfrm>
        </p:spPr>
        <p:txBody>
          <a:bodyPr vert="horz" lIns="91440" tIns="45720" rIns="91440" bIns="45720" anchor="t">
            <a:normAutofit/>
          </a:bodyPr>
          <a:lstStyle/>
          <a:p>
            <a:pPr algn="l">
              <a:lnSpc>
                <a:spcPct val="90000"/>
              </a:lnSpc>
              <a:spcBef>
                <a:spcPct val="0"/>
              </a:spcBef>
            </a:pPr>
            <a:r>
              <a:rPr lang="en-US" sz="2400" b="1" i="0" u="none" baseline="0">
                <a:solidFill>
                  <a:schemeClr val="accent1"/>
                </a:solidFill>
                <a:latin typeface="Arial"/>
                <a:ea typeface="Arial"/>
              </a:rPr>
              <a:t>Project Overview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2499727" y="2794377"/>
            <a:ext cx="156976" cy="1015623"/>
          </a:xfrm>
          <a:prstGeom prst="rect">
            <a:avLst/>
          </a:prstGeom>
          <a:noFill/>
        </p:spPr>
        <p:txBody>
          <a:bodyPr vert="horz" wrap="none" lIns="91440" tIns="45720" rIns="91440" bIns="45720" rtlCol="0" anchor="t">
            <a:prstTxWarp prst="textPlain">
              <a:avLst/>
            </a:prstTxWarp>
            <a:spAutoFit/>
          </a:bodyPr>
          <a:lstStyle/>
          <a:p>
            <a:pPr marL="0" algn="l">
              <a:defRPr/>
            </a:pPr>
            <a:r>
              <a:rPr lang="en-US" b="0" i="0" u="none" spc="100" baseline="0">
                <a:solidFill>
                  <a:schemeClr val="accent1"/>
                </a:solidFill>
                <a:latin typeface="Impact"/>
                <a:ea typeface="Impact"/>
              </a:rPr>
              <a:t>/</a:t>
            </a:r>
            <a:endParaRPr lang="en-US" sz="1100"/>
          </a:p>
        </p:txBody>
      </p:sp>
      <p:sp>
        <p:nvSpPr>
          <p:cNvPr id="4" name="TextBox 4"/>
          <p:cNvSpPr txBox="1"/>
          <p:nvPr/>
        </p:nvSpPr>
        <p:spPr>
          <a:xfrm>
            <a:off x="2721210" y="2840523"/>
            <a:ext cx="1073494" cy="923330"/>
          </a:xfrm>
          <a:prstGeom prst="rect">
            <a:avLst/>
          </a:prstGeom>
          <a:noFill/>
        </p:spPr>
        <p:txBody>
          <a:bodyPr vert="horz" wrap="square" lIns="91440" tIns="45720" rIns="91440" bIns="45720" rtlCol="0" anchor="t">
            <a:spAutoFit/>
          </a:bodyPr>
          <a:lstStyle/>
          <a:p>
            <a:pPr marL="0" algn="l">
              <a:defRPr/>
            </a:pPr>
            <a:r>
              <a:rPr lang="en-US" sz="5400" b="0" i="0" u="none" spc="100" baseline="0">
                <a:solidFill>
                  <a:schemeClr val="accent1"/>
                </a:solidFill>
                <a:latin typeface="Impact"/>
                <a:ea typeface="Impact"/>
              </a:rPr>
              <a:t>01</a:t>
            </a:r>
            <a:endParaRPr lang="en-US" sz="1100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18701" y="235917"/>
            <a:ext cx="1752598" cy="53279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>
            <a:spLocks noGrp="1"/>
          </p:cNvSpPr>
          <p:nvPr>
            <p:ph type="title"/>
          </p:nvPr>
        </p:nvSpPr>
        <p:spPr>
          <a:xfrm>
            <a:off x="669924" y="1"/>
            <a:ext cx="10850563" cy="1028699"/>
          </a:xfrm>
        </p:spPr>
        <p:txBody>
          <a:bodyPr vert="horz" lIns="91440" tIns="45720" rIns="91440" bIns="45720" anchor="b">
            <a:normAutofit/>
          </a:bodyPr>
          <a:lstStyle/>
          <a:p>
            <a:pPr algn="l">
              <a:lnSpc>
                <a:spcPct val="90000"/>
              </a:lnSpc>
              <a:spcBef>
                <a:spcPct val="0"/>
              </a:spcBef>
            </a:pPr>
            <a:r>
              <a:rPr lang="zh-CN" altLang="en-US" sz="2800" b="1" i="0" u="none" baseline="0">
                <a:solidFill>
                  <a:srgbClr val="000000"/>
                </a:solidFill>
                <a:latin typeface="微软雅黑"/>
                <a:ea typeface="微软雅黑"/>
              </a:rPr>
              <a:t>Executive Summary</a:t>
            </a:r>
          </a:p>
        </p:txBody>
      </p:sp>
      <p:sp>
        <p:nvSpPr>
          <p:cNvPr id="3" name="Freeform 3"/>
          <p:cNvSpPr/>
          <p:nvPr/>
        </p:nvSpPr>
        <p:spPr>
          <a:xfrm>
            <a:off x="5800090" y="1739900"/>
            <a:ext cx="3119522" cy="3378200"/>
          </a:xfrm>
          <a:custGeom>
            <a:avLst/>
            <a:gdLst/>
            <a:ahLst/>
            <a:cxnLst/>
            <a:rect l="l" t="t" r="r" b="b"/>
            <a:pathLst>
              <a:path w="3119522" h="3378200">
                <a:moveTo>
                  <a:pt x="1689100" y="0"/>
                </a:moveTo>
                <a:cubicBezTo>
                  <a:pt x="2272140" y="0"/>
                  <a:pt x="2786185" y="295405"/>
                  <a:pt x="3089728" y="744708"/>
                </a:cubicBezTo>
                <a:lnTo>
                  <a:pt x="3119522" y="793750"/>
                </a:lnTo>
                <a:lnTo>
                  <a:pt x="2303088" y="793750"/>
                </a:lnTo>
                <a:lnTo>
                  <a:pt x="2296249" y="788636"/>
                </a:lnTo>
                <a:cubicBezTo>
                  <a:pt x="2122935" y="671548"/>
                  <a:pt x="1914002" y="603178"/>
                  <a:pt x="1689100" y="603178"/>
                </a:cubicBezTo>
                <a:cubicBezTo>
                  <a:pt x="1089362" y="603178"/>
                  <a:pt x="603178" y="1089362"/>
                  <a:pt x="603178" y="1689100"/>
                </a:cubicBezTo>
                <a:cubicBezTo>
                  <a:pt x="603178" y="2288838"/>
                  <a:pt x="1089362" y="2775022"/>
                  <a:pt x="1689100" y="2775022"/>
                </a:cubicBezTo>
                <a:cubicBezTo>
                  <a:pt x="1914002" y="2775022"/>
                  <a:pt x="2122935" y="2706653"/>
                  <a:pt x="2296249" y="2589564"/>
                </a:cubicBezTo>
                <a:lnTo>
                  <a:pt x="2303088" y="2584450"/>
                </a:lnTo>
                <a:lnTo>
                  <a:pt x="3119522" y="2584450"/>
                </a:lnTo>
                <a:lnTo>
                  <a:pt x="3089728" y="2633492"/>
                </a:lnTo>
                <a:cubicBezTo>
                  <a:pt x="2786185" y="3082796"/>
                  <a:pt x="2272140" y="3378200"/>
                  <a:pt x="1689100" y="3378200"/>
                </a:cubicBezTo>
                <a:cubicBezTo>
                  <a:pt x="756236" y="3378200"/>
                  <a:pt x="0" y="2621964"/>
                  <a:pt x="0" y="1689100"/>
                </a:cubicBezTo>
                <a:cubicBezTo>
                  <a:pt x="0" y="756236"/>
                  <a:pt x="756236" y="0"/>
                  <a:pt x="1689100" y="0"/>
                </a:cubicBezTo>
                <a:close/>
              </a:path>
            </a:pathLst>
          </a:custGeom>
          <a:solidFill>
            <a:srgbClr val="FFFFFF">
              <a:lumMod val="95000"/>
            </a:srgbClr>
          </a:solidFill>
          <a:ln cap="flat" cmpd="sng">
            <a:prstDash val="solid"/>
          </a:ln>
        </p:spPr>
        <p:txBody>
          <a:bodyPr vert="horz" wrap="square" lIns="91440" tIns="45720" rIns="91440" bIns="45720" anchor="ctr">
            <a:normAutofit/>
          </a:bodyPr>
          <a:lstStyle/>
          <a:p>
            <a:pPr marL="0" algn="ctr"/>
            <a:endParaRPr/>
          </a:p>
        </p:txBody>
      </p:sp>
      <p:sp>
        <p:nvSpPr>
          <p:cNvPr id="4" name="Freeform 4"/>
          <p:cNvSpPr/>
          <p:nvPr/>
        </p:nvSpPr>
        <p:spPr>
          <a:xfrm>
            <a:off x="3285088" y="1739900"/>
            <a:ext cx="3119522" cy="3378200"/>
          </a:xfrm>
          <a:custGeom>
            <a:avLst/>
            <a:gdLst/>
            <a:ahLst/>
            <a:cxnLst/>
            <a:rect l="l" t="t" r="r" b="b"/>
            <a:pathLst>
              <a:path w="3119522" h="3378200">
                <a:moveTo>
                  <a:pt x="1430422" y="0"/>
                </a:moveTo>
                <a:cubicBezTo>
                  <a:pt x="2363286" y="0"/>
                  <a:pt x="3119522" y="756236"/>
                  <a:pt x="3119522" y="1689100"/>
                </a:cubicBezTo>
                <a:cubicBezTo>
                  <a:pt x="3119522" y="2621964"/>
                  <a:pt x="2363286" y="3378200"/>
                  <a:pt x="1430422" y="3378200"/>
                </a:cubicBezTo>
                <a:cubicBezTo>
                  <a:pt x="847382" y="3378200"/>
                  <a:pt x="333337" y="3082796"/>
                  <a:pt x="29794" y="2633492"/>
                </a:cubicBezTo>
                <a:lnTo>
                  <a:pt x="0" y="2584450"/>
                </a:lnTo>
                <a:lnTo>
                  <a:pt x="816434" y="2584450"/>
                </a:lnTo>
                <a:lnTo>
                  <a:pt x="823273" y="2589564"/>
                </a:lnTo>
                <a:cubicBezTo>
                  <a:pt x="996587" y="2706653"/>
                  <a:pt x="1205520" y="2775022"/>
                  <a:pt x="1430422" y="2775022"/>
                </a:cubicBezTo>
                <a:cubicBezTo>
                  <a:pt x="2030160" y="2775022"/>
                  <a:pt x="2516344" y="2288838"/>
                  <a:pt x="2516344" y="1689100"/>
                </a:cubicBezTo>
                <a:cubicBezTo>
                  <a:pt x="2516344" y="1089362"/>
                  <a:pt x="2030160" y="603178"/>
                  <a:pt x="1430422" y="603178"/>
                </a:cubicBezTo>
                <a:cubicBezTo>
                  <a:pt x="1205520" y="603178"/>
                  <a:pt x="996587" y="671547"/>
                  <a:pt x="823273" y="788636"/>
                </a:cubicBezTo>
                <a:lnTo>
                  <a:pt x="816434" y="793750"/>
                </a:lnTo>
                <a:lnTo>
                  <a:pt x="0" y="793750"/>
                </a:lnTo>
                <a:lnTo>
                  <a:pt x="29794" y="744708"/>
                </a:lnTo>
                <a:cubicBezTo>
                  <a:pt x="333337" y="295405"/>
                  <a:pt x="847382" y="0"/>
                  <a:pt x="1430422" y="0"/>
                </a:cubicBezTo>
                <a:close/>
              </a:path>
            </a:pathLst>
          </a:custGeom>
          <a:solidFill>
            <a:srgbClr val="FFFFFF">
              <a:lumMod val="95000"/>
            </a:srgbClr>
          </a:solidFill>
          <a:ln cap="flat" cmpd="sng">
            <a:prstDash val="solid"/>
          </a:ln>
        </p:spPr>
        <p:txBody>
          <a:bodyPr vert="horz" wrap="square" lIns="91440" tIns="45720" rIns="91440" bIns="45720" anchor="ctr">
            <a:normAutofit/>
          </a:bodyPr>
          <a:lstStyle/>
          <a:p>
            <a:pPr marL="0" algn="ctr"/>
            <a:endParaRPr/>
          </a:p>
        </p:txBody>
      </p:sp>
      <p:sp>
        <p:nvSpPr>
          <p:cNvPr id="5" name="Freeform 5"/>
          <p:cNvSpPr/>
          <p:nvPr/>
        </p:nvSpPr>
        <p:spPr>
          <a:xfrm>
            <a:off x="4180609" y="2931559"/>
            <a:ext cx="1072470" cy="901454"/>
          </a:xfrm>
          <a:custGeom>
            <a:avLst/>
            <a:gdLst/>
            <a:ahLst/>
            <a:cxnLst/>
            <a:rect l="l" t="t" r="r" b="b"/>
            <a:pathLst>
              <a:path w="607227" h="510399">
                <a:moveTo>
                  <a:pt x="536415" y="12631"/>
                </a:moveTo>
                <a:cubicBezTo>
                  <a:pt x="543882" y="12631"/>
                  <a:pt x="551430" y="15467"/>
                  <a:pt x="557192" y="21221"/>
                </a:cubicBezTo>
                <a:lnTo>
                  <a:pt x="598584" y="62633"/>
                </a:lnTo>
                <a:cubicBezTo>
                  <a:pt x="610108" y="74059"/>
                  <a:pt x="610108" y="92618"/>
                  <a:pt x="598584" y="104044"/>
                </a:cubicBezTo>
                <a:lnTo>
                  <a:pt x="511175" y="191324"/>
                </a:lnTo>
                <a:lnTo>
                  <a:pt x="444948" y="257453"/>
                </a:lnTo>
                <a:lnTo>
                  <a:pt x="339441" y="362805"/>
                </a:lnTo>
                <a:lnTo>
                  <a:pt x="297968" y="404217"/>
                </a:lnTo>
                <a:cubicBezTo>
                  <a:pt x="292206" y="409971"/>
                  <a:pt x="284739" y="412807"/>
                  <a:pt x="277191" y="412807"/>
                </a:cubicBezTo>
                <a:cubicBezTo>
                  <a:pt x="269724" y="412807"/>
                  <a:pt x="262177" y="409971"/>
                  <a:pt x="256495" y="404217"/>
                </a:cubicBezTo>
                <a:lnTo>
                  <a:pt x="215023" y="362805"/>
                </a:lnTo>
                <a:lnTo>
                  <a:pt x="138814" y="286790"/>
                </a:lnTo>
                <a:cubicBezTo>
                  <a:pt x="127370" y="275363"/>
                  <a:pt x="127370" y="256805"/>
                  <a:pt x="138814" y="245378"/>
                </a:cubicBezTo>
                <a:lnTo>
                  <a:pt x="180286" y="203967"/>
                </a:lnTo>
                <a:cubicBezTo>
                  <a:pt x="186049" y="198213"/>
                  <a:pt x="193515" y="195376"/>
                  <a:pt x="201063" y="195376"/>
                </a:cubicBezTo>
                <a:cubicBezTo>
                  <a:pt x="208530" y="195376"/>
                  <a:pt x="215997" y="198213"/>
                  <a:pt x="221759" y="203967"/>
                </a:cubicBezTo>
                <a:lnTo>
                  <a:pt x="277191" y="259317"/>
                </a:lnTo>
                <a:lnTo>
                  <a:pt x="444948" y="91807"/>
                </a:lnTo>
                <a:lnTo>
                  <a:pt x="503951" y="32891"/>
                </a:lnTo>
                <a:lnTo>
                  <a:pt x="515719" y="21221"/>
                </a:lnTo>
                <a:cubicBezTo>
                  <a:pt x="521401" y="15467"/>
                  <a:pt x="528949" y="12631"/>
                  <a:pt x="536415" y="12631"/>
                </a:cubicBezTo>
                <a:close/>
                <a:moveTo>
                  <a:pt x="61847" y="0"/>
                </a:moveTo>
                <a:lnTo>
                  <a:pt x="449328" y="0"/>
                </a:lnTo>
                <a:cubicBezTo>
                  <a:pt x="465804" y="0"/>
                  <a:pt x="480738" y="6483"/>
                  <a:pt x="491858" y="17019"/>
                </a:cubicBezTo>
                <a:lnTo>
                  <a:pt x="442591" y="66130"/>
                </a:lnTo>
                <a:lnTo>
                  <a:pt x="66230" y="66130"/>
                </a:lnTo>
                <a:lnTo>
                  <a:pt x="66230" y="444269"/>
                </a:lnTo>
                <a:lnTo>
                  <a:pt x="444945" y="444269"/>
                </a:lnTo>
                <a:lnTo>
                  <a:pt x="444945" y="285590"/>
                </a:lnTo>
                <a:lnTo>
                  <a:pt x="511175" y="219460"/>
                </a:lnTo>
                <a:lnTo>
                  <a:pt x="511175" y="448645"/>
                </a:lnTo>
                <a:cubicBezTo>
                  <a:pt x="511175" y="482683"/>
                  <a:pt x="483417" y="510399"/>
                  <a:pt x="449328" y="510399"/>
                </a:cubicBezTo>
                <a:lnTo>
                  <a:pt x="61847" y="510399"/>
                </a:lnTo>
                <a:cubicBezTo>
                  <a:pt x="27758" y="510399"/>
                  <a:pt x="0" y="482683"/>
                  <a:pt x="0" y="448645"/>
                </a:cubicBezTo>
                <a:lnTo>
                  <a:pt x="0" y="61673"/>
                </a:lnTo>
                <a:cubicBezTo>
                  <a:pt x="0" y="27635"/>
                  <a:pt x="27758" y="0"/>
                  <a:pt x="61847" y="0"/>
                </a:cubicBezTo>
                <a:close/>
              </a:path>
            </a:pathLst>
          </a:custGeom>
          <a:solidFill>
            <a:schemeClr val="accent1"/>
          </a:solidFill>
        </p:spPr>
        <p:txBody>
          <a:bodyPr vert="horz" wrap="square" lIns="91440" tIns="45720" rIns="91440" bIns="45720" anchor="ctr">
            <a:normAutofit/>
          </a:bodyPr>
          <a:lstStyle/>
          <a:p>
            <a:pPr marL="0" algn="ctr"/>
            <a:endParaRPr/>
          </a:p>
        </p:txBody>
      </p:sp>
      <p:sp>
        <p:nvSpPr>
          <p:cNvPr id="6" name="Freeform 6"/>
          <p:cNvSpPr/>
          <p:nvPr/>
        </p:nvSpPr>
        <p:spPr>
          <a:xfrm>
            <a:off x="6925515" y="2805198"/>
            <a:ext cx="1221690" cy="1194162"/>
          </a:xfrm>
          <a:custGeom>
            <a:avLst/>
            <a:gdLst/>
            <a:ahLst/>
            <a:cxnLst/>
            <a:rect l="l" t="t" r="r" b="b"/>
            <a:pathLst>
              <a:path w="607933" h="594235">
                <a:moveTo>
                  <a:pt x="163904" y="368072"/>
                </a:moveTo>
                <a:cubicBezTo>
                  <a:pt x="173837" y="383943"/>
                  <a:pt x="183771" y="399814"/>
                  <a:pt x="194698" y="416677"/>
                </a:cubicBezTo>
                <a:cubicBezTo>
                  <a:pt x="100329" y="430564"/>
                  <a:pt x="52648" y="460323"/>
                  <a:pt x="52648" y="475202"/>
                </a:cubicBezTo>
                <a:cubicBezTo>
                  <a:pt x="52648" y="495041"/>
                  <a:pt x="138076" y="542654"/>
                  <a:pt x="303966" y="542654"/>
                </a:cubicBezTo>
                <a:cubicBezTo>
                  <a:pt x="469857" y="542654"/>
                  <a:pt x="555285" y="495041"/>
                  <a:pt x="555285" y="475202"/>
                </a:cubicBezTo>
                <a:cubicBezTo>
                  <a:pt x="555285" y="460323"/>
                  <a:pt x="506611" y="430564"/>
                  <a:pt x="412242" y="416677"/>
                </a:cubicBezTo>
                <a:cubicBezTo>
                  <a:pt x="424162" y="399814"/>
                  <a:pt x="434096" y="383943"/>
                  <a:pt x="444030" y="368072"/>
                </a:cubicBezTo>
                <a:cubicBezTo>
                  <a:pt x="536412" y="385927"/>
                  <a:pt x="607933" y="421637"/>
                  <a:pt x="607933" y="475202"/>
                </a:cubicBezTo>
                <a:cubicBezTo>
                  <a:pt x="607933" y="553565"/>
                  <a:pt x="454956" y="594235"/>
                  <a:pt x="303966" y="594235"/>
                </a:cubicBezTo>
                <a:cubicBezTo>
                  <a:pt x="152977" y="594235"/>
                  <a:pt x="0" y="553565"/>
                  <a:pt x="0" y="475202"/>
                </a:cubicBezTo>
                <a:cubicBezTo>
                  <a:pt x="0" y="421637"/>
                  <a:pt x="70528" y="385927"/>
                  <a:pt x="163904" y="368072"/>
                </a:cubicBezTo>
                <a:close/>
                <a:moveTo>
                  <a:pt x="304444" y="119134"/>
                </a:moveTo>
                <a:cubicBezTo>
                  <a:pt x="339849" y="119134"/>
                  <a:pt x="368550" y="147978"/>
                  <a:pt x="368550" y="183559"/>
                </a:cubicBezTo>
                <a:cubicBezTo>
                  <a:pt x="368550" y="219140"/>
                  <a:pt x="339849" y="247984"/>
                  <a:pt x="304444" y="247984"/>
                </a:cubicBezTo>
                <a:cubicBezTo>
                  <a:pt x="269039" y="247984"/>
                  <a:pt x="240338" y="219140"/>
                  <a:pt x="240338" y="183559"/>
                </a:cubicBezTo>
                <a:cubicBezTo>
                  <a:pt x="240338" y="147978"/>
                  <a:pt x="269039" y="119134"/>
                  <a:pt x="304444" y="119134"/>
                </a:cubicBezTo>
                <a:close/>
                <a:moveTo>
                  <a:pt x="304941" y="78375"/>
                </a:moveTo>
                <a:cubicBezTo>
                  <a:pt x="246335" y="78375"/>
                  <a:pt x="198655" y="125003"/>
                  <a:pt x="198655" y="183536"/>
                </a:cubicBezTo>
                <a:cubicBezTo>
                  <a:pt x="198655" y="242070"/>
                  <a:pt x="246335" y="288698"/>
                  <a:pt x="304941" y="288698"/>
                </a:cubicBezTo>
                <a:cubicBezTo>
                  <a:pt x="362554" y="288698"/>
                  <a:pt x="410234" y="242070"/>
                  <a:pt x="410234" y="183536"/>
                </a:cubicBezTo>
                <a:cubicBezTo>
                  <a:pt x="410234" y="125003"/>
                  <a:pt x="362554" y="78375"/>
                  <a:pt x="304941" y="78375"/>
                </a:cubicBezTo>
                <a:close/>
                <a:moveTo>
                  <a:pt x="304941" y="0"/>
                </a:moveTo>
                <a:cubicBezTo>
                  <a:pt x="403281" y="0"/>
                  <a:pt x="482747" y="80359"/>
                  <a:pt x="482747" y="178576"/>
                </a:cubicBezTo>
                <a:cubicBezTo>
                  <a:pt x="482747" y="249014"/>
                  <a:pt x="391361" y="383938"/>
                  <a:pt x="338714" y="454376"/>
                </a:cubicBezTo>
                <a:cubicBezTo>
                  <a:pt x="330768" y="465289"/>
                  <a:pt x="317854" y="472234"/>
                  <a:pt x="304941" y="472234"/>
                </a:cubicBezTo>
                <a:cubicBezTo>
                  <a:pt x="291035" y="472234"/>
                  <a:pt x="278121" y="465289"/>
                  <a:pt x="270175" y="454376"/>
                </a:cubicBezTo>
                <a:cubicBezTo>
                  <a:pt x="217528" y="383938"/>
                  <a:pt x="126142" y="249014"/>
                  <a:pt x="126142" y="178576"/>
                </a:cubicBezTo>
                <a:cubicBezTo>
                  <a:pt x="126142" y="80359"/>
                  <a:pt x="205608" y="0"/>
                  <a:pt x="304941" y="0"/>
                </a:cubicBezTo>
                <a:close/>
              </a:path>
            </a:pathLst>
          </a:custGeom>
          <a:solidFill>
            <a:srgbClr val="FFFFFF">
              <a:lumMod val="50000"/>
            </a:srgbClr>
          </a:solidFill>
        </p:spPr>
        <p:txBody>
          <a:bodyPr vert="horz" wrap="square" lIns="91440" tIns="45720" rIns="91440" bIns="45720" anchor="ctr">
            <a:normAutofit/>
          </a:bodyPr>
          <a:lstStyle/>
          <a:p>
            <a:pPr marL="0" algn="ctr"/>
            <a:endParaRPr/>
          </a:p>
        </p:txBody>
      </p:sp>
      <p:sp>
        <p:nvSpPr>
          <p:cNvPr id="7" name="TextBox 7"/>
          <p:cNvSpPr txBox="1"/>
          <p:nvPr/>
        </p:nvSpPr>
        <p:spPr>
          <a:xfrm>
            <a:off x="8147204" y="2947502"/>
            <a:ext cx="3373283" cy="868680"/>
          </a:xfrm>
          <a:prstGeom prst="rect">
            <a:avLst/>
          </a:prstGeom>
          <a:noFill/>
        </p:spPr>
        <p:txBody>
          <a:bodyPr vert="horz" wrap="square" lIns="91440" tIns="45720" rIns="91440" bIns="45720" rtlCol="0" anchor="t">
            <a:spAutoFit/>
          </a:bodyPr>
          <a:lstStyle/>
          <a:p>
            <a:pPr marL="0" algn="l">
              <a:lnSpc>
                <a:spcPct val="120000"/>
              </a:lnSpc>
              <a:defRPr/>
            </a:pPr>
            <a:r>
              <a:rPr lang="en-US" sz="1400" b="0" i="0" u="none" baseline="0">
                <a:solidFill>
                  <a:srgbClr val="000000"/>
                </a:solidFill>
                <a:latin typeface="Arial"/>
                <a:ea typeface="Arial"/>
              </a:rPr>
              <a:t>The dashboard serves as a centralized platform for monitoring India's digital payment ecosystem, enabling data-driven decision-making for stakeholders.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8147204" y="2593005"/>
            <a:ext cx="3373283" cy="338554"/>
          </a:xfrm>
          <a:prstGeom prst="rect">
            <a:avLst/>
          </a:prstGeom>
        </p:spPr>
        <p:txBody>
          <a:bodyPr vert="horz" wrap="square" lIns="91440" tIns="45720" rIns="91440" bIns="45720" anchor="ctr">
            <a:spAutoFit/>
          </a:bodyPr>
          <a:lstStyle/>
          <a:p>
            <a:pPr marL="0" algn="l"/>
            <a:r>
              <a:rPr lang="en-US" sz="1600" b="1" i="0" u="none" baseline="0">
                <a:solidFill>
                  <a:srgbClr val="000000"/>
                </a:solidFill>
                <a:latin typeface="Arial"/>
                <a:ea typeface="Arial"/>
              </a:rPr>
              <a:t>Business Value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668337" y="2947502"/>
            <a:ext cx="3389159" cy="1127760"/>
          </a:xfrm>
          <a:prstGeom prst="rect">
            <a:avLst/>
          </a:prstGeom>
          <a:noFill/>
        </p:spPr>
        <p:txBody>
          <a:bodyPr vert="horz" wrap="square" lIns="91440" tIns="45720" rIns="91440" bIns="45720" rtlCol="0" anchor="t">
            <a:spAutoFit/>
          </a:bodyPr>
          <a:lstStyle/>
          <a:p>
            <a:pPr marL="0" algn="r">
              <a:lnSpc>
                <a:spcPct val="120000"/>
              </a:lnSpc>
              <a:defRPr/>
            </a:pPr>
            <a:r>
              <a:rPr lang="en-US" sz="1400" b="0" i="0" u="none" baseline="0">
                <a:solidFill>
                  <a:srgbClr val="000000"/>
                </a:solidFill>
                <a:latin typeface="Arial"/>
                <a:ea typeface="Arial"/>
              </a:rPr>
              <a:t>The project transforms raw PhonePe transaction and user data into an interactive dashboard to analyze digital payment trends, user growth, state- and district-level performance, and transaction categories.</a:t>
            </a:r>
            <a:endParaRPr lang="en-US" sz="1100"/>
          </a:p>
        </p:txBody>
      </p:sp>
      <p:sp>
        <p:nvSpPr>
          <p:cNvPr id="10" name="AutoShape 10"/>
          <p:cNvSpPr/>
          <p:nvPr/>
        </p:nvSpPr>
        <p:spPr>
          <a:xfrm>
            <a:off x="668337" y="2593005"/>
            <a:ext cx="3389159" cy="338554"/>
          </a:xfrm>
          <a:prstGeom prst="rect">
            <a:avLst/>
          </a:prstGeom>
        </p:spPr>
        <p:txBody>
          <a:bodyPr vert="horz" wrap="square" lIns="91440" tIns="45720" rIns="91440" bIns="45720" anchor="ctr">
            <a:spAutoFit/>
          </a:bodyPr>
          <a:lstStyle/>
          <a:p>
            <a:pPr marL="0" algn="r"/>
            <a:r>
              <a:rPr lang="en-US" sz="1600" b="1" i="0" u="none" baseline="0">
                <a:solidFill>
                  <a:srgbClr val="000000"/>
                </a:solidFill>
                <a:latin typeface="Arial"/>
                <a:ea typeface="Arial"/>
              </a:rPr>
              <a:t>Project Scope</a:t>
            </a:r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18701" y="235917"/>
            <a:ext cx="1752598" cy="53279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Connector 2"/>
          <p:cNvCxnSpPr/>
          <p:nvPr/>
        </p:nvCxnSpPr>
        <p:spPr>
          <a:xfrm>
            <a:off x="669925" y="6083275"/>
            <a:ext cx="10980000" cy="0"/>
          </a:xfrm>
          <a:prstGeom prst="line">
            <a:avLst/>
          </a:prstGeom>
          <a:ln w="12700" cap="flat" cmpd="sng">
            <a:solidFill>
              <a:srgbClr val="768394">
                <a:alpha val="40000"/>
              </a:srgbClr>
            </a:solidFill>
            <a:prstDash val="solid"/>
          </a:ln>
        </p:spPr>
      </p:cxnSp>
      <p:sp>
        <p:nvSpPr>
          <p:cNvPr id="3" name="AutoShape 3"/>
          <p:cNvSpPr/>
          <p:nvPr/>
        </p:nvSpPr>
        <p:spPr>
          <a:xfrm rot="5400000">
            <a:off x="3622912" y="3659807"/>
            <a:ext cx="360000" cy="360000"/>
          </a:xfrm>
          <a:prstGeom prst="rtTriangle">
            <a:avLst/>
          </a:prstGeom>
          <a:gradFill>
            <a:gsLst>
              <a:gs pos="0">
                <a:srgbClr val="3F3F3F">
                  <a:lumMod val="60000"/>
                </a:srgbClr>
              </a:gs>
              <a:gs pos="100000">
                <a:srgbClr val="3F3F3F">
                  <a:lumMod val="80000"/>
                </a:srgbClr>
              </a:gs>
            </a:gsLst>
            <a:lin ang="3600000"/>
          </a:gradFill>
          <a:ln cap="flat" cmpd="sng">
            <a:prstDash val="solid"/>
          </a:ln>
        </p:spPr>
        <p:txBody>
          <a:bodyPr vert="horz" lIns="91440" tIns="45720" rIns="91440" bIns="45720" anchor="ctr">
            <a:normAutofit fontScale="25000" lnSpcReduction="20000"/>
          </a:bodyPr>
          <a:lstStyle/>
          <a:p>
            <a:pPr marL="0" algn="ctr"/>
            <a:endParaRPr/>
          </a:p>
        </p:txBody>
      </p:sp>
      <p:sp>
        <p:nvSpPr>
          <p:cNvPr id="4" name="AutoShape 4"/>
          <p:cNvSpPr/>
          <p:nvPr/>
        </p:nvSpPr>
        <p:spPr>
          <a:xfrm rot="5400000">
            <a:off x="7467760" y="3226006"/>
            <a:ext cx="360000" cy="360000"/>
          </a:xfrm>
          <a:prstGeom prst="rtTriangle">
            <a:avLst/>
          </a:prstGeom>
          <a:gradFill>
            <a:gsLst>
              <a:gs pos="0">
                <a:srgbClr val="3F3F3F">
                  <a:lumMod val="60000"/>
                </a:srgbClr>
              </a:gs>
              <a:gs pos="100000">
                <a:srgbClr val="3F3F3F">
                  <a:lumMod val="80000"/>
                </a:srgbClr>
              </a:gs>
            </a:gsLst>
            <a:lin ang="3600000"/>
          </a:gradFill>
          <a:ln cap="flat" cmpd="sng">
            <a:prstDash val="solid"/>
          </a:ln>
        </p:spPr>
        <p:txBody>
          <a:bodyPr vert="horz" lIns="91440" tIns="45720" rIns="91440" bIns="45720" anchor="ctr">
            <a:normAutofit fontScale="25000" lnSpcReduction="20000"/>
          </a:bodyPr>
          <a:lstStyle/>
          <a:p>
            <a:pPr marL="0" algn="ctr"/>
            <a:endParaRPr/>
          </a:p>
        </p:txBody>
      </p:sp>
      <p:sp>
        <p:nvSpPr>
          <p:cNvPr id="5" name="AutoShape 5"/>
          <p:cNvSpPr/>
          <p:nvPr/>
        </p:nvSpPr>
        <p:spPr>
          <a:xfrm rot="5400000">
            <a:off x="11222889" y="2689035"/>
            <a:ext cx="360000" cy="360000"/>
          </a:xfrm>
          <a:prstGeom prst="rtTriangle">
            <a:avLst/>
          </a:prstGeom>
          <a:gradFill>
            <a:gsLst>
              <a:gs pos="0">
                <a:srgbClr val="3F3F3F">
                  <a:lumMod val="60000"/>
                </a:srgbClr>
              </a:gs>
              <a:gs pos="100000">
                <a:srgbClr val="3F3F3F">
                  <a:lumMod val="80000"/>
                </a:srgbClr>
              </a:gs>
            </a:gsLst>
            <a:lin ang="3600000"/>
          </a:gradFill>
          <a:ln cap="flat" cmpd="sng">
            <a:prstDash val="solid"/>
          </a:ln>
        </p:spPr>
        <p:txBody>
          <a:bodyPr vert="horz" lIns="91440" tIns="45720" rIns="91440" bIns="45720" anchor="ctr">
            <a:normAutofit fontScale="25000" lnSpcReduction="20000"/>
          </a:bodyPr>
          <a:lstStyle/>
          <a:p>
            <a:pPr marL="0" algn="ctr"/>
            <a:endParaRPr/>
          </a:p>
        </p:txBody>
      </p:sp>
      <p:cxnSp>
        <p:nvCxnSpPr>
          <p:cNvPr id="6" name="Connector 6"/>
          <p:cNvCxnSpPr/>
          <p:nvPr/>
        </p:nvCxnSpPr>
        <p:spPr>
          <a:xfrm flipH="1">
            <a:off x="3604325" y="3657344"/>
            <a:ext cx="1979" cy="2385579"/>
          </a:xfrm>
          <a:prstGeom prst="line">
            <a:avLst/>
          </a:prstGeom>
          <a:ln w="12700" cap="flat" cmpd="sng">
            <a:gradFill>
              <a:gsLst>
                <a:gs pos="0">
                  <a:srgbClr val="3F3F3F"/>
                </a:gs>
                <a:gs pos="99000">
                  <a:srgbClr val="3F3F3F">
                    <a:alpha val="20000"/>
                  </a:srgbClr>
                </a:gs>
              </a:gsLst>
              <a:lin ang="5400000"/>
            </a:gradFill>
            <a:prstDash val="solid"/>
          </a:ln>
        </p:spPr>
      </p:cxnSp>
      <p:sp>
        <p:nvSpPr>
          <p:cNvPr id="7" name="AutoShape 7"/>
          <p:cNvSpPr/>
          <p:nvPr/>
        </p:nvSpPr>
        <p:spPr>
          <a:xfrm>
            <a:off x="3563381" y="6029275"/>
            <a:ext cx="108000" cy="108000"/>
          </a:xfrm>
          <a:prstGeom prst="ellipse">
            <a:avLst/>
          </a:prstGeom>
          <a:solidFill>
            <a:schemeClr val="accent1"/>
          </a:solidFill>
          <a:ln cap="flat" cmpd="sng">
            <a:prstDash val="solid"/>
          </a:ln>
        </p:spPr>
        <p:txBody>
          <a:bodyPr vert="horz" lIns="91440" tIns="45720" rIns="91440" bIns="45720" anchor="ctr">
            <a:normAutofit fontScale="25000" lnSpcReduction="20000"/>
          </a:bodyPr>
          <a:lstStyle/>
          <a:p>
            <a:pPr marL="0" algn="ctr"/>
            <a:endParaRPr/>
          </a:p>
        </p:txBody>
      </p:sp>
      <p:sp>
        <p:nvSpPr>
          <p:cNvPr id="8" name="AutoShape 8"/>
          <p:cNvSpPr/>
          <p:nvPr/>
        </p:nvSpPr>
        <p:spPr>
          <a:xfrm>
            <a:off x="742126" y="3070491"/>
            <a:ext cx="3240000" cy="586853"/>
          </a:xfrm>
          <a:prstGeom prst="rect">
            <a:avLst/>
          </a:prstGeom>
          <a:gradFill>
            <a:gsLst>
              <a:gs pos="0">
                <a:srgbClr val="3F3F3F">
                  <a:lumMod val="60000"/>
                  <a:lumOff val="40000"/>
                </a:srgbClr>
              </a:gs>
              <a:gs pos="60000">
                <a:srgbClr val="3F3F3F"/>
              </a:gs>
            </a:gsLst>
            <a:lin ang="2700000"/>
          </a:gradFill>
          <a:ln cap="rnd" cmpd="sng">
            <a:prstDash val="solid"/>
          </a:ln>
          <a:effectLst>
            <a:outerShdw blurRad="254000" dist="127000" dir="5400000" algn="ctr" rotWithShape="0">
              <a:schemeClr val="accent1">
                <a:alpha val="20000"/>
              </a:schemeClr>
            </a:outerShdw>
          </a:effectLst>
        </p:spPr>
        <p:txBody>
          <a:bodyPr rot="0" vert="horz" wrap="square" lIns="180000" tIns="45720" rIns="180000" bIns="45720" anchor="ctr">
            <a:noAutofit/>
          </a:bodyPr>
          <a:lstStyle/>
          <a:p>
            <a:pPr marL="0" algn="l"/>
            <a:r>
              <a:rPr lang="zh-CN" altLang="en-US" sz="1600" b="1" i="0" u="none" baseline="0">
                <a:solidFill>
                  <a:schemeClr val="lt1"/>
                </a:solidFill>
                <a:latin typeface="微软雅黑"/>
                <a:ea typeface="微软雅黑"/>
              </a:rPr>
              <a:t>Key Challenges</a:t>
            </a:r>
          </a:p>
        </p:txBody>
      </p:sp>
      <p:sp>
        <p:nvSpPr>
          <p:cNvPr id="9" name="AutoShape 9"/>
          <p:cNvSpPr/>
          <p:nvPr/>
        </p:nvSpPr>
        <p:spPr>
          <a:xfrm>
            <a:off x="922126" y="3837343"/>
            <a:ext cx="2520000" cy="1710690"/>
          </a:xfrm>
          <a:prstGeom prst="rect">
            <a:avLst/>
          </a:prstGeom>
        </p:spPr>
        <p:txBody>
          <a:bodyPr vert="horz" wrap="square" lIns="91440" tIns="45720" rIns="91440" bIns="45720" anchor="t">
            <a:spAutoFit/>
          </a:bodyPr>
          <a:lstStyle/>
          <a:p>
            <a:pPr marL="0" algn="l">
              <a:lnSpc>
                <a:spcPct val="150000"/>
              </a:lnSpc>
            </a:pPr>
            <a:r>
              <a:rPr lang="pt-BR" sz="1400" b="0" i="0" u="none" baseline="0">
                <a:solidFill>
                  <a:srgbClr val="000000"/>
                </a:solidFill>
                <a:latin typeface="Arial"/>
                <a:ea typeface="Arial"/>
              </a:rPr>
              <a:t>PhonePe faces difficulties in identifying top-performing regions, monitoring transaction growth, tracking user adoption, and generating actionable insights from large data volumes.</a:t>
            </a:r>
          </a:p>
        </p:txBody>
      </p:sp>
      <p:cxnSp>
        <p:nvCxnSpPr>
          <p:cNvPr id="10" name="Connector 10"/>
          <p:cNvCxnSpPr/>
          <p:nvPr/>
        </p:nvCxnSpPr>
        <p:spPr>
          <a:xfrm>
            <a:off x="7432981" y="3226006"/>
            <a:ext cx="0" cy="2803269"/>
          </a:xfrm>
          <a:prstGeom prst="line">
            <a:avLst/>
          </a:prstGeom>
          <a:ln w="12700" cap="flat" cmpd="sng">
            <a:gradFill>
              <a:gsLst>
                <a:gs pos="0">
                  <a:srgbClr val="3F3F3F"/>
                </a:gs>
                <a:gs pos="99000">
                  <a:srgbClr val="3F3F3F">
                    <a:alpha val="20000"/>
                  </a:srgbClr>
                </a:gs>
              </a:gsLst>
              <a:lin ang="5400000"/>
            </a:gradFill>
            <a:prstDash val="solid"/>
          </a:ln>
        </p:spPr>
      </p:cxnSp>
      <p:sp>
        <p:nvSpPr>
          <p:cNvPr id="11" name="AutoShape 11"/>
          <p:cNvSpPr/>
          <p:nvPr/>
        </p:nvSpPr>
        <p:spPr>
          <a:xfrm>
            <a:off x="7378981" y="6029275"/>
            <a:ext cx="108000" cy="108000"/>
          </a:xfrm>
          <a:prstGeom prst="ellipse">
            <a:avLst/>
          </a:prstGeom>
          <a:solidFill>
            <a:schemeClr val="accent1"/>
          </a:solidFill>
          <a:ln cap="flat" cmpd="sng">
            <a:prstDash val="solid"/>
          </a:ln>
        </p:spPr>
        <p:txBody>
          <a:bodyPr vert="horz" lIns="91440" tIns="45720" rIns="91440" bIns="45720" anchor="ctr">
            <a:normAutofit fontScale="25000" lnSpcReduction="20000"/>
          </a:bodyPr>
          <a:lstStyle/>
          <a:p>
            <a:pPr marL="0" algn="ctr"/>
            <a:endParaRPr/>
          </a:p>
        </p:txBody>
      </p:sp>
      <p:sp>
        <p:nvSpPr>
          <p:cNvPr id="12" name="AutoShape 12"/>
          <p:cNvSpPr/>
          <p:nvPr/>
        </p:nvSpPr>
        <p:spPr>
          <a:xfrm>
            <a:off x="4575525" y="2620260"/>
            <a:ext cx="3240000" cy="586853"/>
          </a:xfrm>
          <a:prstGeom prst="rect">
            <a:avLst/>
          </a:prstGeom>
          <a:gradFill>
            <a:gsLst>
              <a:gs pos="0">
                <a:srgbClr val="3F3F3F">
                  <a:lumMod val="60000"/>
                  <a:lumOff val="40000"/>
                </a:srgbClr>
              </a:gs>
              <a:gs pos="60000">
                <a:srgbClr val="3F3F3F"/>
              </a:gs>
            </a:gsLst>
            <a:lin ang="2700000"/>
          </a:gradFill>
          <a:ln cap="rnd" cmpd="sng">
            <a:prstDash val="solid"/>
          </a:ln>
          <a:effectLst>
            <a:outerShdw blurRad="254000" dist="127000" dir="5400000" algn="ctr" rotWithShape="0">
              <a:schemeClr val="accent1">
                <a:alpha val="20000"/>
              </a:schemeClr>
            </a:outerShdw>
          </a:effectLst>
        </p:spPr>
        <p:txBody>
          <a:bodyPr rot="0" vert="horz" wrap="square" lIns="180000" tIns="45720" rIns="180000" bIns="45720" anchor="ctr">
            <a:noAutofit/>
          </a:bodyPr>
          <a:lstStyle/>
          <a:p>
            <a:pPr marL="0" algn="l"/>
            <a:r>
              <a:rPr lang="zh-CN" altLang="en-US" sz="1600" b="1" i="0" u="none" baseline="0">
                <a:solidFill>
                  <a:schemeClr val="lt1"/>
                </a:solidFill>
                <a:latin typeface="微软雅黑"/>
                <a:ea typeface="微软雅黑"/>
              </a:rPr>
              <a:t>Proposed Solution</a:t>
            </a:r>
          </a:p>
        </p:txBody>
      </p:sp>
      <p:sp>
        <p:nvSpPr>
          <p:cNvPr id="13" name="AutoShape 13"/>
          <p:cNvSpPr/>
          <p:nvPr/>
        </p:nvSpPr>
        <p:spPr>
          <a:xfrm>
            <a:off x="4755525" y="3387112"/>
            <a:ext cx="2520000" cy="1345048"/>
          </a:xfrm>
          <a:prstGeom prst="rect">
            <a:avLst/>
          </a:prstGeom>
        </p:spPr>
        <p:txBody>
          <a:bodyPr vert="horz" wrap="square" lIns="91440" tIns="45720" rIns="91440" bIns="45720" anchor="t">
            <a:spAutoFit/>
          </a:bodyPr>
          <a:lstStyle/>
          <a:p>
            <a:pPr marL="0" algn="l">
              <a:lnSpc>
                <a:spcPct val="150000"/>
              </a:lnSpc>
            </a:pPr>
            <a:r>
              <a:rPr lang="it-IT" sz="1400" b="0" i="0" u="none" baseline="0">
                <a:solidFill>
                  <a:srgbClr val="000000"/>
                </a:solidFill>
                <a:latin typeface="Arial"/>
                <a:ea typeface="Arial"/>
              </a:rPr>
              <a:t>A scalable Power BI dashboard with KPIs, geographic analysis, rankings, and trend monitoring was developed to address these challenges.</a:t>
            </a:r>
          </a:p>
        </p:txBody>
      </p:sp>
      <p:cxnSp>
        <p:nvCxnSpPr>
          <p:cNvPr id="14" name="Connector 14"/>
          <p:cNvCxnSpPr/>
          <p:nvPr/>
        </p:nvCxnSpPr>
        <p:spPr>
          <a:xfrm>
            <a:off x="11194581" y="2707867"/>
            <a:ext cx="54000" cy="3321408"/>
          </a:xfrm>
          <a:prstGeom prst="line">
            <a:avLst/>
          </a:prstGeom>
          <a:ln w="12700" cap="flat" cmpd="sng">
            <a:gradFill>
              <a:gsLst>
                <a:gs pos="0">
                  <a:srgbClr val="3F3F3F"/>
                </a:gs>
                <a:gs pos="99000">
                  <a:srgbClr val="3F3F3F">
                    <a:alpha val="20000"/>
                  </a:srgbClr>
                </a:gs>
              </a:gsLst>
              <a:lin ang="5400000"/>
            </a:gradFill>
            <a:prstDash val="solid"/>
          </a:ln>
        </p:spPr>
      </p:cxnSp>
      <p:sp>
        <p:nvSpPr>
          <p:cNvPr id="15" name="AutoShape 15"/>
          <p:cNvSpPr/>
          <p:nvPr/>
        </p:nvSpPr>
        <p:spPr>
          <a:xfrm>
            <a:off x="11194581" y="6029275"/>
            <a:ext cx="108000" cy="108000"/>
          </a:xfrm>
          <a:prstGeom prst="ellipse">
            <a:avLst/>
          </a:prstGeom>
          <a:solidFill>
            <a:schemeClr val="accent1"/>
          </a:solidFill>
          <a:ln cap="flat" cmpd="sng">
            <a:prstDash val="solid"/>
          </a:ln>
        </p:spPr>
        <p:txBody>
          <a:bodyPr vert="horz" lIns="91440" tIns="45720" rIns="91440" bIns="45720" anchor="ctr">
            <a:normAutofit fontScale="25000" lnSpcReduction="20000"/>
          </a:bodyPr>
          <a:lstStyle/>
          <a:p>
            <a:pPr marL="0" algn="ctr"/>
            <a:endParaRPr/>
          </a:p>
        </p:txBody>
      </p:sp>
      <p:sp>
        <p:nvSpPr>
          <p:cNvPr id="16" name="AutoShape 16"/>
          <p:cNvSpPr/>
          <p:nvPr/>
        </p:nvSpPr>
        <p:spPr>
          <a:xfrm>
            <a:off x="8355525" y="2067014"/>
            <a:ext cx="3240000" cy="586853"/>
          </a:xfrm>
          <a:prstGeom prst="rect">
            <a:avLst/>
          </a:prstGeom>
          <a:gradFill>
            <a:gsLst>
              <a:gs pos="0">
                <a:srgbClr val="3F3F3F">
                  <a:lumMod val="60000"/>
                  <a:lumOff val="40000"/>
                </a:srgbClr>
              </a:gs>
              <a:gs pos="60000">
                <a:srgbClr val="3F3F3F"/>
              </a:gs>
            </a:gsLst>
            <a:lin ang="2700000"/>
          </a:gradFill>
          <a:ln cap="rnd" cmpd="sng">
            <a:prstDash val="solid"/>
          </a:ln>
          <a:effectLst>
            <a:outerShdw blurRad="254000" dist="127000" dir="5400000" algn="ctr" rotWithShape="0">
              <a:schemeClr val="accent1">
                <a:alpha val="20000"/>
              </a:schemeClr>
            </a:outerShdw>
          </a:effectLst>
        </p:spPr>
        <p:txBody>
          <a:bodyPr rot="0" vert="horz" wrap="square" lIns="180000" tIns="45720" rIns="180000" bIns="45720" anchor="ctr">
            <a:noAutofit/>
          </a:bodyPr>
          <a:lstStyle/>
          <a:p>
            <a:pPr marL="0" algn="l"/>
            <a:r>
              <a:rPr lang="zh-CN" altLang="en-US" sz="1600" b="1" i="0" u="none" baseline="0">
                <a:solidFill>
                  <a:schemeClr val="lt1"/>
                </a:solidFill>
                <a:latin typeface="微软雅黑"/>
                <a:ea typeface="微软雅黑"/>
              </a:rPr>
              <a:t>Core Objectives</a:t>
            </a:r>
          </a:p>
        </p:txBody>
      </p:sp>
      <p:sp>
        <p:nvSpPr>
          <p:cNvPr id="17" name="AutoShape 17"/>
          <p:cNvSpPr/>
          <p:nvPr/>
        </p:nvSpPr>
        <p:spPr>
          <a:xfrm>
            <a:off x="8535525" y="2833866"/>
            <a:ext cx="2520000" cy="2034540"/>
          </a:xfrm>
          <a:prstGeom prst="rect">
            <a:avLst/>
          </a:prstGeom>
        </p:spPr>
        <p:txBody>
          <a:bodyPr vert="horz" wrap="square" lIns="91440" tIns="45720" rIns="91440" bIns="45720" anchor="t">
            <a:spAutoFit/>
          </a:bodyPr>
          <a:lstStyle/>
          <a:p>
            <a:pPr marL="0" algn="l">
              <a:lnSpc>
                <a:spcPct val="150000"/>
              </a:lnSpc>
            </a:pPr>
            <a:r>
              <a:rPr lang="fr-FR" sz="1400" b="0" i="0" u="none" baseline="0">
                <a:solidFill>
                  <a:srgbClr val="000000"/>
                </a:solidFill>
                <a:latin typeface="Arial"/>
                <a:ea typeface="Arial"/>
              </a:rPr>
              <a:t>The project targets transaction analytics (value, volume, categories), user analytics (registrations, brand adoption, growth), regional analytics (state/district comparison), and executive reporting.</a:t>
            </a:r>
          </a:p>
        </p:txBody>
      </p:sp>
      <p:sp>
        <p:nvSpPr>
          <p:cNvPr id="18" name="AutoShape 18"/>
          <p:cNvSpPr>
            <a:spLocks noGrp="1"/>
          </p:cNvSpPr>
          <p:nvPr>
            <p:ph type="title"/>
          </p:nvPr>
        </p:nvSpPr>
        <p:spPr>
          <a:xfrm>
            <a:off x="669924" y="1"/>
            <a:ext cx="10850563" cy="1028699"/>
          </a:xfrm>
        </p:spPr>
        <p:txBody>
          <a:bodyPr vert="horz" lIns="91440" tIns="45720" rIns="91440" bIns="45720" anchor="b">
            <a:normAutofit/>
          </a:bodyPr>
          <a:lstStyle/>
          <a:p>
            <a:pPr algn="l">
              <a:lnSpc>
                <a:spcPct val="90000"/>
              </a:lnSpc>
              <a:spcBef>
                <a:spcPct val="0"/>
              </a:spcBef>
            </a:pPr>
            <a:r>
              <a:rPr lang="zh-CN" altLang="en-US" sz="2800" b="1" i="0" u="none" baseline="0">
                <a:solidFill>
                  <a:srgbClr val="000000"/>
                </a:solidFill>
                <a:latin typeface="微软雅黑"/>
                <a:ea typeface="微软雅黑"/>
              </a:rPr>
              <a:t>Business Problem &amp; Objectives</a:t>
            </a:r>
          </a:p>
        </p:txBody>
      </p:sp>
      <p:pic>
        <p:nvPicPr>
          <p:cNvPr id="20" name="Picture 19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18701" y="235917"/>
            <a:ext cx="1752598" cy="53279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>
            <a:spLocks noGrp="1"/>
          </p:cNvSpPr>
          <p:nvPr>
            <p:ph type="title"/>
          </p:nvPr>
        </p:nvSpPr>
        <p:spPr>
          <a:xfrm>
            <a:off x="3794704" y="2914650"/>
            <a:ext cx="7119766" cy="895350"/>
          </a:xfrm>
        </p:spPr>
        <p:txBody>
          <a:bodyPr vert="horz" lIns="91440" tIns="45720" rIns="91440" bIns="45720" anchor="t">
            <a:normAutofit/>
          </a:bodyPr>
          <a:lstStyle/>
          <a:p>
            <a:pPr algn="l">
              <a:lnSpc>
                <a:spcPct val="90000"/>
              </a:lnSpc>
              <a:spcBef>
                <a:spcPct val="0"/>
              </a:spcBef>
            </a:pPr>
            <a:r>
              <a:rPr lang="en-US" sz="2400" b="1" i="0" u="none" baseline="0">
                <a:solidFill>
                  <a:schemeClr val="accent1"/>
                </a:solidFill>
                <a:latin typeface="Arial"/>
                <a:ea typeface="Arial"/>
              </a:rPr>
              <a:t>Data Architecture &amp; Preparation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2499727" y="2794377"/>
            <a:ext cx="156976" cy="1015623"/>
          </a:xfrm>
          <a:prstGeom prst="rect">
            <a:avLst/>
          </a:prstGeom>
          <a:noFill/>
        </p:spPr>
        <p:txBody>
          <a:bodyPr vert="horz" wrap="none" lIns="91440" tIns="45720" rIns="91440" bIns="45720" rtlCol="0" anchor="t">
            <a:prstTxWarp prst="textPlain">
              <a:avLst/>
            </a:prstTxWarp>
            <a:spAutoFit/>
          </a:bodyPr>
          <a:lstStyle/>
          <a:p>
            <a:pPr marL="0" algn="l">
              <a:defRPr/>
            </a:pPr>
            <a:r>
              <a:rPr lang="en-US" b="0" i="0" u="none" spc="100" baseline="0">
                <a:solidFill>
                  <a:schemeClr val="accent1"/>
                </a:solidFill>
                <a:latin typeface="Impact"/>
                <a:ea typeface="Impact"/>
              </a:rPr>
              <a:t>/</a:t>
            </a:r>
            <a:endParaRPr lang="en-US" sz="1100"/>
          </a:p>
        </p:txBody>
      </p:sp>
      <p:sp>
        <p:nvSpPr>
          <p:cNvPr id="4" name="TextBox 4"/>
          <p:cNvSpPr txBox="1"/>
          <p:nvPr/>
        </p:nvSpPr>
        <p:spPr>
          <a:xfrm>
            <a:off x="2721210" y="2840523"/>
            <a:ext cx="1073494" cy="923330"/>
          </a:xfrm>
          <a:prstGeom prst="rect">
            <a:avLst/>
          </a:prstGeom>
          <a:noFill/>
        </p:spPr>
        <p:txBody>
          <a:bodyPr vert="horz" wrap="square" lIns="91440" tIns="45720" rIns="91440" bIns="45720" rtlCol="0" anchor="t">
            <a:spAutoFit/>
          </a:bodyPr>
          <a:lstStyle/>
          <a:p>
            <a:pPr marL="0" algn="l">
              <a:defRPr/>
            </a:pPr>
            <a:r>
              <a:rPr lang="en-US" sz="5400" b="0" i="0" u="none" spc="100" baseline="0">
                <a:solidFill>
                  <a:schemeClr val="accent1"/>
                </a:solidFill>
                <a:latin typeface="Impact"/>
                <a:ea typeface="Impact"/>
              </a:rPr>
              <a:t>02</a:t>
            </a:r>
            <a:endParaRPr lang="en-US" sz="110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18701" y="228600"/>
            <a:ext cx="1752598" cy="53279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254000" y="254000"/>
            <a:ext cx="11684000" cy="650240"/>
          </a:xfrm>
          <a:prstGeom prst="rect">
            <a:avLst/>
          </a:prstGeom>
          <a:noFill/>
        </p:spPr>
        <p:txBody>
          <a:bodyPr vert="horz" wrap="none" lIns="91440" tIns="45720" rIns="91440" bIns="45720" anchor="ctr">
            <a:noAutofit/>
          </a:bodyPr>
          <a:lstStyle/>
          <a:p>
            <a:pPr marL="0" indent="0" algn="l"/>
            <a:r>
              <a:rPr lang="en-US" sz="4500" b="1" i="0" u="none" spc="-137" baseline="0">
                <a:solidFill>
                  <a:srgbClr val="000000"/>
                </a:solidFill>
                <a:latin typeface="Arial"/>
                <a:ea typeface="Arial"/>
              </a:rPr>
              <a:t>Dataset Architecture</a:t>
            </a:r>
          </a:p>
        </p:txBody>
      </p:sp>
      <p:sp>
        <p:nvSpPr>
          <p:cNvPr id="3" name="AutoShape 3"/>
          <p:cNvSpPr/>
          <p:nvPr/>
        </p:nvSpPr>
        <p:spPr>
          <a:xfrm>
            <a:off x="254000" y="967740"/>
            <a:ext cx="11684000" cy="650240"/>
          </a:xfrm>
          <a:prstGeom prst="rect">
            <a:avLst/>
          </a:prstGeom>
          <a:noFill/>
        </p:spPr>
        <p:txBody>
          <a:bodyPr vert="horz" wrap="none" lIns="91440" tIns="45720" rIns="91440" bIns="45720" anchor="ctr">
            <a:noAutofit/>
          </a:bodyPr>
          <a:lstStyle/>
          <a:p>
            <a:pPr marL="0" indent="0" algn="l"/>
            <a:r>
              <a:rPr lang="en-US" sz="2600" b="1" i="0" u="none" spc="-82" baseline="0">
                <a:solidFill>
                  <a:srgbClr val="000000"/>
                </a:solidFill>
                <a:latin typeface="Arial"/>
                <a:ea typeface="Arial"/>
              </a:rPr>
              <a:t>Dataset Table</a:t>
            </a:r>
          </a:p>
        </p:txBody>
      </p:sp>
      <p:graphicFrame>
        <p:nvGraphicFramePr>
          <p:cNvPr id="4" name="Table 4"/>
          <p:cNvGraphicFramePr>
            <a:graphicFrameLocks noGrp="1"/>
          </p:cNvGraphicFramePr>
          <p:nvPr/>
        </p:nvGraphicFramePr>
        <p:xfrm>
          <a:off x="914400" y="1808480"/>
          <a:ext cx="10363200" cy="3022600"/>
        </p:xfrm>
        <a:graphic>
          <a:graphicData uri="http://schemas.openxmlformats.org/drawingml/2006/table">
            <a:tbl>
              <a:tblPr/>
              <a:tblGrid>
                <a:gridCol w="5003252"/>
                <a:gridCol w="5359948"/>
              </a:tblGrid>
              <a:tr h="431800">
                <a:tc>
                  <a:txBody>
                    <a:bodyPr/>
                    <a:lstStyle/>
                    <a:p>
                      <a:pPr marL="0" algn="l"/>
                      <a:r>
                        <a:rPr lang="en-US" sz="1800" b="1" i="0" u="none" baseline="0">
                          <a:solidFill>
                            <a:srgbClr val="FFFFFF"/>
                          </a:solidFill>
                          <a:latin typeface="Arial"/>
                          <a:ea typeface="Arial"/>
                        </a:rPr>
                        <a:t>Dataset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/>
                      <a:r>
                        <a:rPr lang="en-US" sz="1800" b="1" i="0" u="none" baseline="0">
                          <a:solidFill>
                            <a:srgbClr val="FFFFFF"/>
                          </a:solidFill>
                          <a:latin typeface="Arial"/>
                          <a:ea typeface="Arial"/>
                        </a:rPr>
                        <a:t>Purpose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/>
                    </a:solidFill>
                  </a:tcPr>
                </a:tc>
              </a:tr>
              <a:tr h="431800">
                <a:tc>
                  <a:txBody>
                    <a:bodyPr/>
                    <a:lstStyle/>
                    <a:p>
                      <a:pPr marL="0" algn="l"/>
                      <a:r>
                        <a:rPr lang="en-US" sz="1800" b="0" i="0" u="none" baseline="0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Aggregated Transaction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/>
                      <a:r>
                        <a:rPr lang="en-US" sz="1800" b="0" i="0" u="none" baseline="0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Transaction KPIs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</a:tr>
              <a:tr h="431800">
                <a:tc>
                  <a:txBody>
                    <a:bodyPr/>
                    <a:lstStyle/>
                    <a:p>
                      <a:pPr marL="0" algn="l"/>
                      <a:r>
                        <a:rPr lang="en-US" sz="1800" b="0" i="0" u="none" baseline="0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Aggregated User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/>
                      <a:r>
                        <a:rPr lang="en-US" sz="1800" b="0" i="0" u="none" baseline="0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User KPIs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</a:tr>
              <a:tr h="431800">
                <a:tc>
                  <a:txBody>
                    <a:bodyPr/>
                    <a:lstStyle/>
                    <a:p>
                      <a:pPr marL="0" algn="l"/>
                      <a:r>
                        <a:rPr lang="en-US" sz="1800" b="0" i="0" u="none" baseline="0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Map Transaction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/>
                      <a:r>
                        <a:rPr lang="en-US" sz="1800" b="0" i="0" u="none" baseline="0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Geographic Analysis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</a:tr>
              <a:tr h="431800">
                <a:tc>
                  <a:txBody>
                    <a:bodyPr/>
                    <a:lstStyle/>
                    <a:p>
                      <a:pPr marL="0" algn="l"/>
                      <a:r>
                        <a:rPr lang="en-US" sz="1800" b="0" i="0" u="none" baseline="0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Map User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/>
                      <a:r>
                        <a:rPr lang="en-US" sz="1800" b="0" i="0" u="none" baseline="0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Geographic User Analysis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</a:tr>
              <a:tr h="431800">
                <a:tc>
                  <a:txBody>
                    <a:bodyPr/>
                    <a:lstStyle/>
                    <a:p>
                      <a:pPr marL="0" algn="l"/>
                      <a:r>
                        <a:rPr lang="en-US" sz="1800" b="0" i="0" u="none" baseline="0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Top Transaction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/>
                      <a:r>
                        <a:rPr lang="en-US" sz="1800" b="0" i="0" u="none" baseline="0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Top District Analysis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</a:tr>
              <a:tr h="431800">
                <a:tc>
                  <a:txBody>
                    <a:bodyPr/>
                    <a:lstStyle/>
                    <a:p>
                      <a:pPr marL="0" algn="l"/>
                      <a:r>
                        <a:rPr lang="en-US" sz="1800" b="0" i="0" u="none" baseline="0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Top User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/>
                      <a:r>
                        <a:rPr lang="en-US" sz="1800" b="0" i="0" u="none" baseline="0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Top User Analysis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</a:tr>
            </a:tbl>
          </a:graphicData>
        </a:graphic>
      </p:graphicFrame>
      <p:pic>
        <p:nvPicPr>
          <p:cNvPr id="6" name="Picture 5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18701" y="235917"/>
            <a:ext cx="1752598" cy="53279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2192000" cy="5205755"/>
            <a:chOff x="0" y="0"/>
            <a:chExt cx="12192000" cy="5205755"/>
          </a:xfrm>
        </p:grpSpPr>
        <p:sp>
          <p:nvSpPr>
            <p:cNvPr id="3" name="AutoShape 3"/>
            <p:cNvSpPr/>
            <p:nvPr/>
          </p:nvSpPr>
          <p:spPr>
            <a:xfrm>
              <a:off x="0" y="0"/>
              <a:ext cx="12192000" cy="3024000"/>
            </a:xfrm>
            <a:prstGeom prst="rect">
              <a:avLst/>
            </a:prstGeom>
            <a:solidFill>
              <a:srgbClr val="FFFFFF">
                <a:lumMod val="95000"/>
              </a:srgbClr>
            </a:solidFill>
            <a:ln cap="flat" cmpd="sng">
              <a:prstDash val="solid"/>
            </a:ln>
          </p:spPr>
          <p:txBody>
            <a:bodyPr vert="horz" lIns="91440" tIns="45720" rIns="91440" bIns="45720" anchor="ctr">
              <a:normAutofit/>
            </a:bodyPr>
            <a:lstStyle/>
            <a:p>
              <a:pPr marL="0" algn="ctr"/>
              <a:endParaRPr/>
            </a:p>
          </p:txBody>
        </p:sp>
        <p:grpSp>
          <p:nvGrpSpPr>
            <p:cNvPr id="4" name="Group 4"/>
            <p:cNvGrpSpPr/>
            <p:nvPr/>
          </p:nvGrpSpPr>
          <p:grpSpPr>
            <a:xfrm>
              <a:off x="2308018" y="2167168"/>
              <a:ext cx="1694888" cy="1694888"/>
              <a:chOff x="3933250" y="2505897"/>
              <a:chExt cx="1921935" cy="1921936"/>
            </a:xfrm>
          </p:grpSpPr>
          <p:sp>
            <p:nvSpPr>
              <p:cNvPr id="6" name="AutoShape 6"/>
              <p:cNvSpPr/>
              <p:nvPr/>
            </p:nvSpPr>
            <p:spPr>
              <a:xfrm>
                <a:off x="3933250" y="2505897"/>
                <a:ext cx="1921935" cy="1921936"/>
              </a:xfrm>
              <a:prstGeom prst="ellipse">
                <a:avLst/>
              </a:prstGeom>
              <a:solidFill>
                <a:srgbClr val="FFFFFF"/>
              </a:solidFill>
              <a:ln w="12700" cap="flat">
                <a:solidFill>
                  <a:srgbClr val="DCDEE0"/>
                </a:solidFill>
                <a:prstDash val="solid"/>
              </a:ln>
            </p:spPr>
            <p:txBody>
              <a:bodyPr vert="horz" wrap="square" lIns="91440" tIns="45720" rIns="91440" bIns="45720" anchor="ctr">
                <a:normAutofit/>
              </a:bodyPr>
              <a:lstStyle/>
              <a:p>
                <a:pPr marL="0" algn="ctr"/>
                <a:endParaRPr/>
              </a:p>
            </p:txBody>
          </p:sp>
          <p:grpSp>
            <p:nvGrpSpPr>
              <p:cNvPr id="8" name="Group 8"/>
              <p:cNvGrpSpPr/>
              <p:nvPr/>
            </p:nvGrpSpPr>
            <p:grpSpPr>
              <a:xfrm>
                <a:off x="4510508" y="3083156"/>
                <a:ext cx="767418" cy="767418"/>
                <a:chOff x="1025999" y="1411000"/>
                <a:chExt cx="767418" cy="767418"/>
              </a:xfrm>
            </p:grpSpPr>
            <p:sp>
              <p:nvSpPr>
                <p:cNvPr id="9" name="AutoShape 9"/>
                <p:cNvSpPr/>
                <p:nvPr/>
              </p:nvSpPr>
              <p:spPr>
                <a:xfrm>
                  <a:off x="1025999" y="1411000"/>
                  <a:ext cx="767418" cy="767418"/>
                </a:xfrm>
                <a:prstGeom prst="ellipse">
                  <a:avLst/>
                </a:prstGeom>
                <a:solidFill>
                  <a:srgbClr val="000000">
                    <a:alpha val="70000"/>
                  </a:srgbClr>
                </a:solidFill>
                <a:ln w="38100">
                  <a:solidFill>
                    <a:srgbClr val="FFFFFF"/>
                  </a:solidFill>
                </a:ln>
              </p:spPr>
              <p:txBody>
                <a:bodyPr vert="horz" wrap="square" lIns="91440" tIns="45720" rIns="91440" bIns="45720" anchor="ctr">
                  <a:normAutofit/>
                </a:bodyPr>
                <a:lstStyle/>
                <a:p>
                  <a:pPr marL="0" algn="ctr"/>
                  <a:endParaRPr/>
                </a:p>
              </p:txBody>
            </p:sp>
            <p:sp>
              <p:nvSpPr>
                <p:cNvPr id="10" name="Freeform 10"/>
                <p:cNvSpPr/>
                <p:nvPr/>
              </p:nvSpPr>
              <p:spPr>
                <a:xfrm>
                  <a:off x="1203096" y="1592753"/>
                  <a:ext cx="413225" cy="40391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07933" h="594235">
                      <a:moveTo>
                        <a:pt x="163904" y="368072"/>
                      </a:moveTo>
                      <a:cubicBezTo>
                        <a:pt x="173837" y="383943"/>
                        <a:pt x="183771" y="399814"/>
                        <a:pt x="194698" y="416677"/>
                      </a:cubicBezTo>
                      <a:cubicBezTo>
                        <a:pt x="100329" y="430564"/>
                        <a:pt x="52648" y="460323"/>
                        <a:pt x="52648" y="475202"/>
                      </a:cubicBezTo>
                      <a:cubicBezTo>
                        <a:pt x="52648" y="495041"/>
                        <a:pt x="138076" y="542654"/>
                        <a:pt x="303966" y="542654"/>
                      </a:cubicBezTo>
                      <a:cubicBezTo>
                        <a:pt x="469857" y="542654"/>
                        <a:pt x="555285" y="495041"/>
                        <a:pt x="555285" y="475202"/>
                      </a:cubicBezTo>
                      <a:cubicBezTo>
                        <a:pt x="555285" y="460323"/>
                        <a:pt x="506611" y="430564"/>
                        <a:pt x="412242" y="416677"/>
                      </a:cubicBezTo>
                      <a:cubicBezTo>
                        <a:pt x="424162" y="399814"/>
                        <a:pt x="434096" y="383943"/>
                        <a:pt x="444030" y="368072"/>
                      </a:cubicBezTo>
                      <a:cubicBezTo>
                        <a:pt x="536412" y="385927"/>
                        <a:pt x="607933" y="421637"/>
                        <a:pt x="607933" y="475202"/>
                      </a:cubicBezTo>
                      <a:cubicBezTo>
                        <a:pt x="607933" y="553565"/>
                        <a:pt x="454956" y="594235"/>
                        <a:pt x="303966" y="594235"/>
                      </a:cubicBezTo>
                      <a:cubicBezTo>
                        <a:pt x="152977" y="594235"/>
                        <a:pt x="0" y="553565"/>
                        <a:pt x="0" y="475202"/>
                      </a:cubicBezTo>
                      <a:cubicBezTo>
                        <a:pt x="0" y="421637"/>
                        <a:pt x="70528" y="385927"/>
                        <a:pt x="163904" y="368072"/>
                      </a:cubicBezTo>
                      <a:close/>
                      <a:moveTo>
                        <a:pt x="304444" y="119134"/>
                      </a:moveTo>
                      <a:cubicBezTo>
                        <a:pt x="339849" y="119134"/>
                        <a:pt x="368550" y="147978"/>
                        <a:pt x="368550" y="183559"/>
                      </a:cubicBezTo>
                      <a:cubicBezTo>
                        <a:pt x="368550" y="219140"/>
                        <a:pt x="339849" y="247984"/>
                        <a:pt x="304444" y="247984"/>
                      </a:cubicBezTo>
                      <a:cubicBezTo>
                        <a:pt x="269039" y="247984"/>
                        <a:pt x="240338" y="219140"/>
                        <a:pt x="240338" y="183559"/>
                      </a:cubicBezTo>
                      <a:cubicBezTo>
                        <a:pt x="240338" y="147978"/>
                        <a:pt x="269039" y="119134"/>
                        <a:pt x="304444" y="119134"/>
                      </a:cubicBezTo>
                      <a:close/>
                      <a:moveTo>
                        <a:pt x="304941" y="78375"/>
                      </a:moveTo>
                      <a:cubicBezTo>
                        <a:pt x="246335" y="78375"/>
                        <a:pt x="198655" y="125003"/>
                        <a:pt x="198655" y="183536"/>
                      </a:cubicBezTo>
                      <a:cubicBezTo>
                        <a:pt x="198655" y="242070"/>
                        <a:pt x="246335" y="288698"/>
                        <a:pt x="304941" y="288698"/>
                      </a:cubicBezTo>
                      <a:cubicBezTo>
                        <a:pt x="362554" y="288698"/>
                        <a:pt x="410234" y="242070"/>
                        <a:pt x="410234" y="183536"/>
                      </a:cubicBezTo>
                      <a:cubicBezTo>
                        <a:pt x="410234" y="125003"/>
                        <a:pt x="362554" y="78375"/>
                        <a:pt x="304941" y="78375"/>
                      </a:cubicBezTo>
                      <a:close/>
                      <a:moveTo>
                        <a:pt x="304941" y="0"/>
                      </a:moveTo>
                      <a:cubicBezTo>
                        <a:pt x="403281" y="0"/>
                        <a:pt x="482747" y="80359"/>
                        <a:pt x="482747" y="178576"/>
                      </a:cubicBezTo>
                      <a:cubicBezTo>
                        <a:pt x="482747" y="249014"/>
                        <a:pt x="391361" y="383938"/>
                        <a:pt x="338714" y="454376"/>
                      </a:cubicBezTo>
                      <a:cubicBezTo>
                        <a:pt x="330768" y="465289"/>
                        <a:pt x="317854" y="472234"/>
                        <a:pt x="304941" y="472234"/>
                      </a:cubicBezTo>
                      <a:cubicBezTo>
                        <a:pt x="291035" y="472234"/>
                        <a:pt x="278121" y="465289"/>
                        <a:pt x="270175" y="454376"/>
                      </a:cubicBezTo>
                      <a:cubicBezTo>
                        <a:pt x="217528" y="383938"/>
                        <a:pt x="126142" y="249014"/>
                        <a:pt x="126142" y="178576"/>
                      </a:cubicBezTo>
                      <a:cubicBezTo>
                        <a:pt x="126142" y="80359"/>
                        <a:pt x="205608" y="0"/>
                        <a:pt x="304941" y="0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</p:spPr>
              <p:txBody>
                <a:bodyPr vert="horz" wrap="square" lIns="91440" tIns="45720" rIns="91440" bIns="45720" anchor="ctr">
                  <a:normAutofit lnSpcReduction="10000"/>
                </a:bodyPr>
                <a:lstStyle/>
                <a:p>
                  <a:pPr marL="0" algn="ctr"/>
                  <a:endParaRPr/>
                </a:p>
              </p:txBody>
            </p:sp>
          </p:grpSp>
        </p:grpSp>
        <p:grpSp>
          <p:nvGrpSpPr>
            <p:cNvPr id="11" name="Group 11"/>
            <p:cNvGrpSpPr/>
            <p:nvPr/>
          </p:nvGrpSpPr>
          <p:grpSpPr>
            <a:xfrm>
              <a:off x="6528773" y="4162871"/>
              <a:ext cx="4990126" cy="1042884"/>
              <a:chOff x="1163789" y="1899600"/>
              <a:chExt cx="1436954" cy="1042884"/>
            </a:xfrm>
          </p:grpSpPr>
          <p:sp>
            <p:nvSpPr>
              <p:cNvPr id="12" name="AutoShape 12"/>
              <p:cNvSpPr/>
              <p:nvPr/>
            </p:nvSpPr>
            <p:spPr>
              <a:xfrm>
                <a:off x="1163789" y="2240336"/>
                <a:ext cx="1436954" cy="702148"/>
              </a:xfrm>
              <a:prstGeom prst="rect">
                <a:avLst/>
              </a:prstGeom>
              <a:noFill/>
            </p:spPr>
            <p:txBody>
              <a:bodyPr vert="horz" wrap="square" lIns="90000" tIns="46800" rIns="90000" bIns="46800" anchor="t">
                <a:spAutoFit/>
              </a:bodyPr>
              <a:lstStyle/>
              <a:p>
                <a:pPr marL="0" algn="ctr">
                  <a:lnSpc>
                    <a:spcPct val="150000"/>
                  </a:lnSpc>
                </a:pPr>
                <a:r>
                  <a:rPr lang="en-US" sz="1400" b="0" i="0" u="none" baseline="0">
                    <a:solidFill>
                      <a:srgbClr val="000000"/>
                    </a:solidFill>
                    <a:latin typeface="Arial"/>
                    <a:ea typeface="Arial"/>
                  </a:rPr>
                  <a:t>Fact tables (Transaction, User) and dimension tables (State, District, Time, Transaction Type) were designed for faster report performance, consistent calculations, and efficient filtering.</a:t>
                </a:r>
              </a:p>
            </p:txBody>
          </p:sp>
          <p:sp>
            <p:nvSpPr>
              <p:cNvPr id="13" name="TextBox 13"/>
              <p:cNvSpPr txBox="1"/>
              <p:nvPr/>
            </p:nvSpPr>
            <p:spPr>
              <a:xfrm>
                <a:off x="1163789" y="1899600"/>
                <a:ext cx="1436954" cy="340735"/>
              </a:xfrm>
              <a:prstGeom prst="rect">
                <a:avLst/>
              </a:prstGeom>
              <a:noFill/>
            </p:spPr>
            <p:txBody>
              <a:bodyPr vert="horz" wrap="square" lIns="90000" tIns="46800" rIns="90000" bIns="46800" rtlCol="0" anchor="b">
                <a:spAutoFit/>
              </a:bodyPr>
              <a:lstStyle/>
              <a:p>
                <a:pPr marL="0" algn="ctr">
                  <a:spcBef>
                    <a:spcPct val="0"/>
                  </a:spcBef>
                  <a:defRPr/>
                </a:pPr>
                <a:r>
                  <a:rPr lang="en-US" sz="1600" b="1" i="0" u="none" baseline="0">
                    <a:solidFill>
                      <a:srgbClr val="000000"/>
                    </a:solidFill>
                    <a:latin typeface="Arial"/>
                    <a:ea typeface="Arial"/>
                  </a:rPr>
                  <a:t>Data Modeling</a:t>
                </a:r>
                <a:endParaRPr lang="en-US" sz="1100"/>
              </a:p>
            </p:txBody>
          </p:sp>
        </p:grpSp>
        <p:grpSp>
          <p:nvGrpSpPr>
            <p:cNvPr id="14" name="Group 14"/>
            <p:cNvGrpSpPr/>
            <p:nvPr/>
          </p:nvGrpSpPr>
          <p:grpSpPr>
            <a:xfrm>
              <a:off x="660399" y="4162871"/>
              <a:ext cx="4990126" cy="1042884"/>
              <a:chOff x="1163789" y="1899600"/>
              <a:chExt cx="1436954" cy="1042884"/>
            </a:xfrm>
          </p:grpSpPr>
          <p:sp>
            <p:nvSpPr>
              <p:cNvPr id="15" name="AutoShape 15"/>
              <p:cNvSpPr/>
              <p:nvPr/>
            </p:nvSpPr>
            <p:spPr>
              <a:xfrm>
                <a:off x="1163789" y="2240336"/>
                <a:ext cx="1436954" cy="1065150"/>
              </a:xfrm>
              <a:prstGeom prst="rect">
                <a:avLst/>
              </a:prstGeom>
              <a:noFill/>
            </p:spPr>
            <p:txBody>
              <a:bodyPr vert="horz" wrap="square" lIns="90000" tIns="46800" rIns="90000" bIns="46800" anchor="t">
                <a:spAutoFit/>
              </a:bodyPr>
              <a:lstStyle/>
              <a:p>
                <a:pPr marL="0" algn="ctr">
                  <a:lnSpc>
                    <a:spcPct val="150000"/>
                  </a:lnSpc>
                </a:pPr>
                <a:r>
                  <a:rPr lang="en-US" sz="1400" b="0" i="0" u="none" baseline="0">
                    <a:solidFill>
                      <a:srgbClr val="000000"/>
                    </a:solidFill>
                    <a:latin typeface="Arial"/>
                    <a:ea typeface="Arial"/>
                  </a:rPr>
                  <a:t>Power Query operations included importing CSV datasets, data type validation, null value checking, column standardization, relationship creation, and data transformation. Result is a clean, optimized dataset ready for analytics.</a:t>
                </a:r>
              </a:p>
            </p:txBody>
          </p:sp>
          <p:sp>
            <p:nvSpPr>
              <p:cNvPr id="16" name="TextBox 16"/>
              <p:cNvSpPr txBox="1"/>
              <p:nvPr/>
            </p:nvSpPr>
            <p:spPr>
              <a:xfrm>
                <a:off x="1163789" y="1899600"/>
                <a:ext cx="1436954" cy="340735"/>
              </a:xfrm>
              <a:prstGeom prst="rect">
                <a:avLst/>
              </a:prstGeom>
              <a:noFill/>
            </p:spPr>
            <p:txBody>
              <a:bodyPr vert="horz" wrap="square" lIns="90000" tIns="46800" rIns="90000" bIns="46800" rtlCol="0" anchor="b">
                <a:spAutoFit/>
              </a:bodyPr>
              <a:lstStyle/>
              <a:p>
                <a:pPr marL="0" algn="ctr">
                  <a:spcBef>
                    <a:spcPct val="0"/>
                  </a:spcBef>
                  <a:defRPr/>
                </a:pPr>
                <a:r>
                  <a:rPr lang="en-US" sz="1600" b="1" i="0" u="none" baseline="0">
                    <a:solidFill>
                      <a:srgbClr val="000000"/>
                    </a:solidFill>
                    <a:latin typeface="Arial"/>
                    <a:ea typeface="Arial"/>
                  </a:rPr>
                  <a:t>ETL &amp; Data Cleaning</a:t>
                </a:r>
                <a:endParaRPr lang="en-US" sz="1100"/>
              </a:p>
            </p:txBody>
          </p:sp>
        </p:grpSp>
        <p:grpSp>
          <p:nvGrpSpPr>
            <p:cNvPr id="21" name="Group 21"/>
            <p:cNvGrpSpPr/>
            <p:nvPr/>
          </p:nvGrpSpPr>
          <p:grpSpPr>
            <a:xfrm>
              <a:off x="8685460" y="2676232"/>
              <a:ext cx="676760" cy="676759"/>
              <a:chOff x="1025999" y="1411000"/>
              <a:chExt cx="767418" cy="767418"/>
            </a:xfrm>
          </p:grpSpPr>
          <p:sp>
            <p:nvSpPr>
              <p:cNvPr id="22" name="AutoShape 22"/>
              <p:cNvSpPr/>
              <p:nvPr/>
            </p:nvSpPr>
            <p:spPr>
              <a:xfrm>
                <a:off x="1025999" y="1411000"/>
                <a:ext cx="767418" cy="767418"/>
              </a:xfrm>
              <a:prstGeom prst="ellipse">
                <a:avLst/>
              </a:prstGeom>
              <a:solidFill>
                <a:schemeClr val="accent1">
                  <a:alpha val="70000"/>
                </a:schemeClr>
              </a:solidFill>
              <a:ln w="38100">
                <a:solidFill>
                  <a:srgbClr val="FFFFFF"/>
                </a:solidFill>
              </a:ln>
            </p:spPr>
            <p:txBody>
              <a:bodyPr vert="horz" wrap="square" lIns="91440" tIns="45720" rIns="91440" bIns="45720" anchor="ctr">
                <a:normAutofit/>
              </a:bodyPr>
              <a:lstStyle/>
              <a:p>
                <a:pPr marL="0" algn="ctr"/>
                <a:endParaRPr/>
              </a:p>
            </p:txBody>
          </p:sp>
          <p:sp>
            <p:nvSpPr>
              <p:cNvPr id="23" name="Freeform 23"/>
              <p:cNvSpPr/>
              <p:nvPr/>
            </p:nvSpPr>
            <p:spPr>
              <a:xfrm>
                <a:off x="1203096" y="1592753"/>
                <a:ext cx="413225" cy="403914"/>
              </a:xfrm>
              <a:custGeom>
                <a:avLst/>
                <a:gdLst/>
                <a:ahLst/>
                <a:cxnLst/>
                <a:rect l="l" t="t" r="r" b="b"/>
                <a:pathLst>
                  <a:path w="607933" h="594235">
                    <a:moveTo>
                      <a:pt x="163904" y="368072"/>
                    </a:moveTo>
                    <a:cubicBezTo>
                      <a:pt x="173837" y="383943"/>
                      <a:pt x="183771" y="399814"/>
                      <a:pt x="194698" y="416677"/>
                    </a:cubicBezTo>
                    <a:cubicBezTo>
                      <a:pt x="100329" y="430564"/>
                      <a:pt x="52648" y="460323"/>
                      <a:pt x="52648" y="475202"/>
                    </a:cubicBezTo>
                    <a:cubicBezTo>
                      <a:pt x="52648" y="495041"/>
                      <a:pt x="138076" y="542654"/>
                      <a:pt x="303966" y="542654"/>
                    </a:cubicBezTo>
                    <a:cubicBezTo>
                      <a:pt x="469857" y="542654"/>
                      <a:pt x="555285" y="495041"/>
                      <a:pt x="555285" y="475202"/>
                    </a:cubicBezTo>
                    <a:cubicBezTo>
                      <a:pt x="555285" y="460323"/>
                      <a:pt x="506611" y="430564"/>
                      <a:pt x="412242" y="416677"/>
                    </a:cubicBezTo>
                    <a:cubicBezTo>
                      <a:pt x="424162" y="399814"/>
                      <a:pt x="434096" y="383943"/>
                      <a:pt x="444030" y="368072"/>
                    </a:cubicBezTo>
                    <a:cubicBezTo>
                      <a:pt x="536412" y="385927"/>
                      <a:pt x="607933" y="421637"/>
                      <a:pt x="607933" y="475202"/>
                    </a:cubicBezTo>
                    <a:cubicBezTo>
                      <a:pt x="607933" y="553565"/>
                      <a:pt x="454956" y="594235"/>
                      <a:pt x="303966" y="594235"/>
                    </a:cubicBezTo>
                    <a:cubicBezTo>
                      <a:pt x="152977" y="594235"/>
                      <a:pt x="0" y="553565"/>
                      <a:pt x="0" y="475202"/>
                    </a:cubicBezTo>
                    <a:cubicBezTo>
                      <a:pt x="0" y="421637"/>
                      <a:pt x="70528" y="385927"/>
                      <a:pt x="163904" y="368072"/>
                    </a:cubicBezTo>
                    <a:close/>
                    <a:moveTo>
                      <a:pt x="304444" y="119134"/>
                    </a:moveTo>
                    <a:cubicBezTo>
                      <a:pt x="339849" y="119134"/>
                      <a:pt x="368550" y="147978"/>
                      <a:pt x="368550" y="183559"/>
                    </a:cubicBezTo>
                    <a:cubicBezTo>
                      <a:pt x="368550" y="219140"/>
                      <a:pt x="339849" y="247984"/>
                      <a:pt x="304444" y="247984"/>
                    </a:cubicBezTo>
                    <a:cubicBezTo>
                      <a:pt x="269039" y="247984"/>
                      <a:pt x="240338" y="219140"/>
                      <a:pt x="240338" y="183559"/>
                    </a:cubicBezTo>
                    <a:cubicBezTo>
                      <a:pt x="240338" y="147978"/>
                      <a:pt x="269039" y="119134"/>
                      <a:pt x="304444" y="119134"/>
                    </a:cubicBezTo>
                    <a:close/>
                    <a:moveTo>
                      <a:pt x="304941" y="78375"/>
                    </a:moveTo>
                    <a:cubicBezTo>
                      <a:pt x="246335" y="78375"/>
                      <a:pt x="198655" y="125003"/>
                      <a:pt x="198655" y="183536"/>
                    </a:cubicBezTo>
                    <a:cubicBezTo>
                      <a:pt x="198655" y="242070"/>
                      <a:pt x="246335" y="288698"/>
                      <a:pt x="304941" y="288698"/>
                    </a:cubicBezTo>
                    <a:cubicBezTo>
                      <a:pt x="362554" y="288698"/>
                      <a:pt x="410234" y="242070"/>
                      <a:pt x="410234" y="183536"/>
                    </a:cubicBezTo>
                    <a:cubicBezTo>
                      <a:pt x="410234" y="125003"/>
                      <a:pt x="362554" y="78375"/>
                      <a:pt x="304941" y="78375"/>
                    </a:cubicBezTo>
                    <a:close/>
                    <a:moveTo>
                      <a:pt x="304941" y="0"/>
                    </a:moveTo>
                    <a:cubicBezTo>
                      <a:pt x="403281" y="0"/>
                      <a:pt x="482747" y="80359"/>
                      <a:pt x="482747" y="178576"/>
                    </a:cubicBezTo>
                    <a:cubicBezTo>
                      <a:pt x="482747" y="249014"/>
                      <a:pt x="391361" y="383938"/>
                      <a:pt x="338714" y="454376"/>
                    </a:cubicBezTo>
                    <a:cubicBezTo>
                      <a:pt x="330768" y="465289"/>
                      <a:pt x="317854" y="472234"/>
                      <a:pt x="304941" y="472234"/>
                    </a:cubicBezTo>
                    <a:cubicBezTo>
                      <a:pt x="291035" y="472234"/>
                      <a:pt x="278121" y="465289"/>
                      <a:pt x="270175" y="454376"/>
                    </a:cubicBezTo>
                    <a:cubicBezTo>
                      <a:pt x="217528" y="383938"/>
                      <a:pt x="126142" y="249014"/>
                      <a:pt x="126142" y="178576"/>
                    </a:cubicBezTo>
                    <a:cubicBezTo>
                      <a:pt x="126142" y="80359"/>
                      <a:pt x="205608" y="0"/>
                      <a:pt x="304941" y="0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  <p:txBody>
              <a:bodyPr vert="horz" wrap="square" lIns="91440" tIns="45720" rIns="91440" bIns="45720" anchor="ctr">
                <a:normAutofit lnSpcReduction="10000"/>
              </a:bodyPr>
              <a:lstStyle/>
              <a:p>
                <a:pPr marL="0" algn="ctr"/>
                <a:endParaRPr/>
              </a:p>
            </p:txBody>
          </p:sp>
        </p:grpSp>
      </p:grpSp>
      <p:sp>
        <p:nvSpPr>
          <p:cNvPr id="24" name="AutoShape 24"/>
          <p:cNvSpPr>
            <a:spLocks noGrp="1"/>
          </p:cNvSpPr>
          <p:nvPr>
            <p:ph type="title"/>
          </p:nvPr>
        </p:nvSpPr>
        <p:spPr>
          <a:xfrm>
            <a:off x="669924" y="1"/>
            <a:ext cx="10850563" cy="1028699"/>
          </a:xfrm>
        </p:spPr>
        <p:txBody>
          <a:bodyPr vert="horz" lIns="91440" tIns="45720" rIns="91440" bIns="45720" anchor="b">
            <a:normAutofit/>
          </a:bodyPr>
          <a:lstStyle/>
          <a:p>
            <a:pPr algn="l">
              <a:lnSpc>
                <a:spcPct val="90000"/>
              </a:lnSpc>
              <a:spcBef>
                <a:spcPct val="0"/>
              </a:spcBef>
            </a:pPr>
            <a:r>
              <a:rPr lang="zh-CN" altLang="en-US" sz="2800" b="1" i="0" u="none" baseline="0">
                <a:solidFill>
                  <a:srgbClr val="000000"/>
                </a:solidFill>
                <a:latin typeface="微软雅黑"/>
                <a:ea typeface="微软雅黑"/>
              </a:rPr>
              <a:t>Data Preparation</a:t>
            </a:r>
          </a:p>
        </p:txBody>
      </p:sp>
      <p:pic>
        <p:nvPicPr>
          <p:cNvPr id="26" name="Picture 25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18701" y="235917"/>
            <a:ext cx="1752598" cy="532790"/>
          </a:xfrm>
          <a:prstGeom prst="rect">
            <a:avLst/>
          </a:prstGeom>
        </p:spPr>
      </p:pic>
      <p:sp>
        <p:nvSpPr>
          <p:cNvPr id="27" name="AutoShape 6"/>
          <p:cNvSpPr/>
          <p:nvPr/>
        </p:nvSpPr>
        <p:spPr>
          <a:xfrm>
            <a:off x="8176392" y="2167167"/>
            <a:ext cx="1694888" cy="1694888"/>
          </a:xfrm>
          <a:prstGeom prst="ellipse">
            <a:avLst/>
          </a:prstGeom>
          <a:solidFill>
            <a:srgbClr val="FFFFFF"/>
          </a:solidFill>
          <a:ln w="12700" cap="flat">
            <a:solidFill>
              <a:srgbClr val="DCDEE0"/>
            </a:solidFill>
            <a:prstDash val="solid"/>
          </a:ln>
        </p:spPr>
        <p:txBody>
          <a:bodyPr vert="horz" wrap="square" lIns="91440" tIns="45720" rIns="91440" bIns="45720" anchor="ctr">
            <a:normAutofit/>
          </a:bodyPr>
          <a:lstStyle/>
          <a:p>
            <a:pPr marL="0" algn="ctr"/>
            <a:endParaRPr/>
          </a:p>
        </p:txBody>
      </p:sp>
      <p:sp>
        <p:nvSpPr>
          <p:cNvPr id="28" name="AutoShape 9"/>
          <p:cNvSpPr/>
          <p:nvPr/>
        </p:nvSpPr>
        <p:spPr>
          <a:xfrm>
            <a:off x="8685456" y="2674640"/>
            <a:ext cx="676759" cy="676759"/>
          </a:xfrm>
          <a:prstGeom prst="ellipse">
            <a:avLst/>
          </a:prstGeom>
          <a:solidFill>
            <a:srgbClr val="000000">
              <a:alpha val="70000"/>
            </a:srgbClr>
          </a:solidFill>
          <a:ln w="38100">
            <a:solidFill>
              <a:srgbClr val="FFFFFF"/>
            </a:solidFill>
          </a:ln>
        </p:spPr>
        <p:txBody>
          <a:bodyPr vert="horz" wrap="square" lIns="91440" tIns="45720" rIns="91440" bIns="45720" anchor="ctr">
            <a:normAutofit/>
          </a:bodyPr>
          <a:lstStyle/>
          <a:p>
            <a:pPr marL="0" algn="ctr"/>
            <a:endParaRPr/>
          </a:p>
        </p:txBody>
      </p:sp>
      <p:sp>
        <p:nvSpPr>
          <p:cNvPr id="29" name="Freeform 10"/>
          <p:cNvSpPr/>
          <p:nvPr/>
        </p:nvSpPr>
        <p:spPr>
          <a:xfrm>
            <a:off x="8868392" y="2845901"/>
            <a:ext cx="364409" cy="356198"/>
          </a:xfrm>
          <a:custGeom>
            <a:avLst/>
            <a:gdLst/>
            <a:ahLst/>
            <a:cxnLst/>
            <a:rect l="l" t="t" r="r" b="b"/>
            <a:pathLst>
              <a:path w="607933" h="594235">
                <a:moveTo>
                  <a:pt x="163904" y="368072"/>
                </a:moveTo>
                <a:cubicBezTo>
                  <a:pt x="173837" y="383943"/>
                  <a:pt x="183771" y="399814"/>
                  <a:pt x="194698" y="416677"/>
                </a:cubicBezTo>
                <a:cubicBezTo>
                  <a:pt x="100329" y="430564"/>
                  <a:pt x="52648" y="460323"/>
                  <a:pt x="52648" y="475202"/>
                </a:cubicBezTo>
                <a:cubicBezTo>
                  <a:pt x="52648" y="495041"/>
                  <a:pt x="138076" y="542654"/>
                  <a:pt x="303966" y="542654"/>
                </a:cubicBezTo>
                <a:cubicBezTo>
                  <a:pt x="469857" y="542654"/>
                  <a:pt x="555285" y="495041"/>
                  <a:pt x="555285" y="475202"/>
                </a:cubicBezTo>
                <a:cubicBezTo>
                  <a:pt x="555285" y="460323"/>
                  <a:pt x="506611" y="430564"/>
                  <a:pt x="412242" y="416677"/>
                </a:cubicBezTo>
                <a:cubicBezTo>
                  <a:pt x="424162" y="399814"/>
                  <a:pt x="434096" y="383943"/>
                  <a:pt x="444030" y="368072"/>
                </a:cubicBezTo>
                <a:cubicBezTo>
                  <a:pt x="536412" y="385927"/>
                  <a:pt x="607933" y="421637"/>
                  <a:pt x="607933" y="475202"/>
                </a:cubicBezTo>
                <a:cubicBezTo>
                  <a:pt x="607933" y="553565"/>
                  <a:pt x="454956" y="594235"/>
                  <a:pt x="303966" y="594235"/>
                </a:cubicBezTo>
                <a:cubicBezTo>
                  <a:pt x="152977" y="594235"/>
                  <a:pt x="0" y="553565"/>
                  <a:pt x="0" y="475202"/>
                </a:cubicBezTo>
                <a:cubicBezTo>
                  <a:pt x="0" y="421637"/>
                  <a:pt x="70528" y="385927"/>
                  <a:pt x="163904" y="368072"/>
                </a:cubicBezTo>
                <a:close/>
                <a:moveTo>
                  <a:pt x="304444" y="119134"/>
                </a:moveTo>
                <a:cubicBezTo>
                  <a:pt x="339849" y="119134"/>
                  <a:pt x="368550" y="147978"/>
                  <a:pt x="368550" y="183559"/>
                </a:cubicBezTo>
                <a:cubicBezTo>
                  <a:pt x="368550" y="219140"/>
                  <a:pt x="339849" y="247984"/>
                  <a:pt x="304444" y="247984"/>
                </a:cubicBezTo>
                <a:cubicBezTo>
                  <a:pt x="269039" y="247984"/>
                  <a:pt x="240338" y="219140"/>
                  <a:pt x="240338" y="183559"/>
                </a:cubicBezTo>
                <a:cubicBezTo>
                  <a:pt x="240338" y="147978"/>
                  <a:pt x="269039" y="119134"/>
                  <a:pt x="304444" y="119134"/>
                </a:cubicBezTo>
                <a:close/>
                <a:moveTo>
                  <a:pt x="304941" y="78375"/>
                </a:moveTo>
                <a:cubicBezTo>
                  <a:pt x="246335" y="78375"/>
                  <a:pt x="198655" y="125003"/>
                  <a:pt x="198655" y="183536"/>
                </a:cubicBezTo>
                <a:cubicBezTo>
                  <a:pt x="198655" y="242070"/>
                  <a:pt x="246335" y="288698"/>
                  <a:pt x="304941" y="288698"/>
                </a:cubicBezTo>
                <a:cubicBezTo>
                  <a:pt x="362554" y="288698"/>
                  <a:pt x="410234" y="242070"/>
                  <a:pt x="410234" y="183536"/>
                </a:cubicBezTo>
                <a:cubicBezTo>
                  <a:pt x="410234" y="125003"/>
                  <a:pt x="362554" y="78375"/>
                  <a:pt x="304941" y="78375"/>
                </a:cubicBezTo>
                <a:close/>
                <a:moveTo>
                  <a:pt x="304941" y="0"/>
                </a:moveTo>
                <a:cubicBezTo>
                  <a:pt x="403281" y="0"/>
                  <a:pt x="482747" y="80359"/>
                  <a:pt x="482747" y="178576"/>
                </a:cubicBezTo>
                <a:cubicBezTo>
                  <a:pt x="482747" y="249014"/>
                  <a:pt x="391361" y="383938"/>
                  <a:pt x="338714" y="454376"/>
                </a:cubicBezTo>
                <a:cubicBezTo>
                  <a:pt x="330768" y="465289"/>
                  <a:pt x="317854" y="472234"/>
                  <a:pt x="304941" y="472234"/>
                </a:cubicBezTo>
                <a:cubicBezTo>
                  <a:pt x="291035" y="472234"/>
                  <a:pt x="278121" y="465289"/>
                  <a:pt x="270175" y="454376"/>
                </a:cubicBezTo>
                <a:cubicBezTo>
                  <a:pt x="217528" y="383938"/>
                  <a:pt x="126142" y="249014"/>
                  <a:pt x="126142" y="178576"/>
                </a:cubicBezTo>
                <a:cubicBezTo>
                  <a:pt x="126142" y="80359"/>
                  <a:pt x="205608" y="0"/>
                  <a:pt x="304941" y="0"/>
                </a:cubicBezTo>
                <a:close/>
              </a:path>
            </a:pathLst>
          </a:custGeom>
          <a:solidFill>
            <a:srgbClr val="FFFFFF"/>
          </a:solidFill>
        </p:spPr>
        <p:txBody>
          <a:bodyPr vert="horz" wrap="square" lIns="91440" tIns="45720" rIns="91440" bIns="45720" anchor="ctr">
            <a:normAutofit lnSpcReduction="10000"/>
          </a:bodyPr>
          <a:lstStyle/>
          <a:p>
            <a:pPr marL="0" algn="ctr"/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>
            <a:spLocks noGrp="1"/>
          </p:cNvSpPr>
          <p:nvPr>
            <p:ph type="title"/>
          </p:nvPr>
        </p:nvSpPr>
        <p:spPr>
          <a:xfrm>
            <a:off x="3794704" y="2914650"/>
            <a:ext cx="7119766" cy="895350"/>
          </a:xfrm>
        </p:spPr>
        <p:txBody>
          <a:bodyPr vert="horz" lIns="91440" tIns="45720" rIns="91440" bIns="45720" anchor="t">
            <a:normAutofit/>
          </a:bodyPr>
          <a:lstStyle/>
          <a:p>
            <a:pPr algn="l">
              <a:lnSpc>
                <a:spcPct val="90000"/>
              </a:lnSpc>
              <a:spcBef>
                <a:spcPct val="0"/>
              </a:spcBef>
            </a:pPr>
            <a:r>
              <a:rPr lang="en-US" sz="2400" b="1" i="0" u="none" baseline="0">
                <a:solidFill>
                  <a:schemeClr val="accent1"/>
                </a:solidFill>
                <a:latin typeface="Arial"/>
                <a:ea typeface="Arial"/>
              </a:rPr>
              <a:t>DAX Measures &amp; Analysis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2499727" y="2794377"/>
            <a:ext cx="156976" cy="1015623"/>
          </a:xfrm>
          <a:prstGeom prst="rect">
            <a:avLst/>
          </a:prstGeom>
          <a:noFill/>
        </p:spPr>
        <p:txBody>
          <a:bodyPr vert="horz" wrap="none" lIns="91440" tIns="45720" rIns="91440" bIns="45720" rtlCol="0" anchor="t">
            <a:prstTxWarp prst="textPlain">
              <a:avLst/>
            </a:prstTxWarp>
            <a:spAutoFit/>
          </a:bodyPr>
          <a:lstStyle/>
          <a:p>
            <a:pPr marL="0" algn="l">
              <a:defRPr/>
            </a:pPr>
            <a:r>
              <a:rPr lang="en-US" b="0" i="0" u="none" spc="100" baseline="0">
                <a:solidFill>
                  <a:schemeClr val="accent1"/>
                </a:solidFill>
                <a:latin typeface="Impact"/>
                <a:ea typeface="Impact"/>
              </a:rPr>
              <a:t>/</a:t>
            </a:r>
            <a:endParaRPr lang="en-US" sz="1100"/>
          </a:p>
        </p:txBody>
      </p:sp>
      <p:sp>
        <p:nvSpPr>
          <p:cNvPr id="4" name="TextBox 4"/>
          <p:cNvSpPr txBox="1"/>
          <p:nvPr/>
        </p:nvSpPr>
        <p:spPr>
          <a:xfrm>
            <a:off x="2721210" y="2840523"/>
            <a:ext cx="1073494" cy="923330"/>
          </a:xfrm>
          <a:prstGeom prst="rect">
            <a:avLst/>
          </a:prstGeom>
          <a:noFill/>
        </p:spPr>
        <p:txBody>
          <a:bodyPr vert="horz" wrap="square" lIns="91440" tIns="45720" rIns="91440" bIns="45720" rtlCol="0" anchor="t">
            <a:spAutoFit/>
          </a:bodyPr>
          <a:lstStyle/>
          <a:p>
            <a:pPr marL="0" algn="l">
              <a:defRPr/>
            </a:pPr>
            <a:r>
              <a:rPr lang="en-US" sz="5400" b="0" i="0" u="none" spc="100" baseline="0">
                <a:solidFill>
                  <a:schemeClr val="accent1"/>
                </a:solidFill>
                <a:latin typeface="Impact"/>
                <a:ea typeface="Impact"/>
              </a:rPr>
              <a:t>03</a:t>
            </a:r>
            <a:endParaRPr lang="en-US" sz="110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18701" y="235917"/>
            <a:ext cx="1752598" cy="53279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>
            <a:spLocks noGrp="1"/>
          </p:cNvSpPr>
          <p:nvPr>
            <p:ph type="title"/>
          </p:nvPr>
        </p:nvSpPr>
        <p:spPr>
          <a:xfrm>
            <a:off x="669924" y="1"/>
            <a:ext cx="10850563" cy="1028699"/>
          </a:xfrm>
        </p:spPr>
        <p:txBody>
          <a:bodyPr vert="horz" lIns="91440" tIns="45720" rIns="91440" bIns="45720" anchor="b">
            <a:normAutofit/>
          </a:bodyPr>
          <a:lstStyle/>
          <a:p>
            <a:pPr algn="l">
              <a:lnSpc>
                <a:spcPct val="90000"/>
              </a:lnSpc>
              <a:spcBef>
                <a:spcPct val="0"/>
              </a:spcBef>
            </a:pPr>
            <a:r>
              <a:rPr lang="zh-CN" altLang="en-US" sz="2800" b="1" i="0" u="none" baseline="0">
                <a:solidFill>
                  <a:srgbClr val="000000"/>
                </a:solidFill>
                <a:latin typeface="微软雅黑"/>
                <a:ea typeface="微软雅黑"/>
              </a:rPr>
              <a:t>Core Measures</a:t>
            </a:r>
          </a:p>
        </p:txBody>
      </p:sp>
      <p:grpSp>
        <p:nvGrpSpPr>
          <p:cNvPr id="3" name="Group 3"/>
          <p:cNvGrpSpPr/>
          <p:nvPr/>
        </p:nvGrpSpPr>
        <p:grpSpPr>
          <a:xfrm>
            <a:off x="669925" y="1307205"/>
            <a:ext cx="10848975" cy="4990767"/>
            <a:chOff x="669925" y="1307205"/>
            <a:chExt cx="10848975" cy="4990767"/>
          </a:xfrm>
        </p:grpSpPr>
        <p:grpSp>
          <p:nvGrpSpPr>
            <p:cNvPr id="4" name="Group 4"/>
            <p:cNvGrpSpPr/>
            <p:nvPr/>
          </p:nvGrpSpPr>
          <p:grpSpPr>
            <a:xfrm>
              <a:off x="669925" y="4026968"/>
              <a:ext cx="2737889" cy="1075360"/>
              <a:chOff x="669925" y="3210180"/>
              <a:chExt cx="3093055" cy="1075360"/>
            </a:xfrm>
          </p:grpSpPr>
          <p:sp>
            <p:nvSpPr>
              <p:cNvPr id="5" name="AutoShape 5"/>
              <p:cNvSpPr/>
              <p:nvPr/>
            </p:nvSpPr>
            <p:spPr>
              <a:xfrm>
                <a:off x="669925" y="3548735"/>
                <a:ext cx="3093055" cy="736805"/>
              </a:xfrm>
              <a:prstGeom prst="rect">
                <a:avLst/>
              </a:prstGeom>
              <a:noFill/>
            </p:spPr>
            <p:txBody>
              <a:bodyPr vert="horz" wrap="square" lIns="91440" tIns="45720" rIns="91440" bIns="45720" anchor="t">
                <a:spAutoFit/>
              </a:bodyPr>
              <a:lstStyle/>
              <a:p>
                <a:pPr marL="0" algn="r">
                  <a:lnSpc>
                    <a:spcPct val="120000"/>
                  </a:lnSpc>
                </a:pPr>
                <a:r>
                  <a:rPr lang="en-US" sz="1200" b="0" i="0" u="none" baseline="0">
                    <a:solidFill>
                      <a:srgbClr val="000000"/>
                    </a:solidFill>
                    <a:latin typeface="Arial"/>
                    <a:ea typeface="Arial"/>
                  </a:rPr>
                  <a:t>`= SUM(aggregated_transaction[Transaction_amount])`</a:t>
                </a:r>
              </a:p>
            </p:txBody>
          </p:sp>
          <p:sp>
            <p:nvSpPr>
              <p:cNvPr id="6" name="TextBox 6"/>
              <p:cNvSpPr txBox="1"/>
              <p:nvPr/>
            </p:nvSpPr>
            <p:spPr>
              <a:xfrm>
                <a:off x="669925" y="3210180"/>
                <a:ext cx="3093055" cy="338554"/>
              </a:xfrm>
              <a:prstGeom prst="rect">
                <a:avLst/>
              </a:prstGeom>
              <a:noFill/>
            </p:spPr>
            <p:txBody>
              <a:bodyPr vert="horz" wrap="square" lIns="91440" tIns="45720" rIns="91440" bIns="45720" rtlCol="0" anchor="b">
                <a:spAutoFit/>
              </a:bodyPr>
              <a:lstStyle/>
              <a:p>
                <a:pPr marL="0" algn="r">
                  <a:lnSpc>
                    <a:spcPct val="100000"/>
                  </a:lnSpc>
                  <a:spcBef>
                    <a:spcPct val="0"/>
                  </a:spcBef>
                  <a:defRPr/>
                </a:pPr>
                <a:r>
                  <a:rPr lang="en-US" sz="1600" b="1" i="0" u="none" baseline="0">
                    <a:solidFill>
                      <a:srgbClr val="000000"/>
                    </a:solidFill>
                    <a:latin typeface="Arial"/>
                    <a:ea typeface="Arial"/>
                  </a:rPr>
                  <a:t>Total Transaction Amount</a:t>
                </a:r>
                <a:endParaRPr lang="en-US" sz="1100"/>
              </a:p>
            </p:txBody>
          </p:sp>
        </p:grpSp>
        <p:grpSp>
          <p:nvGrpSpPr>
            <p:cNvPr id="7" name="Group 7"/>
            <p:cNvGrpSpPr/>
            <p:nvPr/>
          </p:nvGrpSpPr>
          <p:grpSpPr>
            <a:xfrm>
              <a:off x="8781011" y="4026968"/>
              <a:ext cx="2737889" cy="1075360"/>
              <a:chOff x="8429020" y="3210180"/>
              <a:chExt cx="3093055" cy="1075360"/>
            </a:xfrm>
          </p:grpSpPr>
          <p:sp>
            <p:nvSpPr>
              <p:cNvPr id="8" name="AutoShape 8"/>
              <p:cNvSpPr/>
              <p:nvPr/>
            </p:nvSpPr>
            <p:spPr>
              <a:xfrm>
                <a:off x="8429020" y="3548735"/>
                <a:ext cx="3093055" cy="736805"/>
              </a:xfrm>
              <a:prstGeom prst="rect">
                <a:avLst/>
              </a:prstGeom>
              <a:noFill/>
            </p:spPr>
            <p:txBody>
              <a:bodyPr vert="horz" wrap="square" lIns="91440" tIns="45720" rIns="91440" bIns="45720" anchor="t">
                <a:spAutoFit/>
              </a:bodyPr>
              <a:lstStyle/>
              <a:p>
                <a:pPr marL="0" algn="l">
                  <a:lnSpc>
                    <a:spcPct val="120000"/>
                  </a:lnSpc>
                </a:pPr>
                <a:r>
                  <a:rPr lang="en-US" sz="1200" b="0" i="0" u="none" baseline="0">
                    <a:solidFill>
                      <a:srgbClr val="000000"/>
                    </a:solidFill>
                    <a:latin typeface="Arial"/>
                    <a:ea typeface="Arial"/>
                  </a:rPr>
                  <a:t>`= DIVIDE([Total Transaction Amount], [Total Transactions])`</a:t>
                </a:r>
              </a:p>
            </p:txBody>
          </p:sp>
          <p:sp>
            <p:nvSpPr>
              <p:cNvPr id="9" name="TextBox 9"/>
              <p:cNvSpPr txBox="1"/>
              <p:nvPr/>
            </p:nvSpPr>
            <p:spPr>
              <a:xfrm>
                <a:off x="8429020" y="3210180"/>
                <a:ext cx="3093055" cy="338554"/>
              </a:xfrm>
              <a:prstGeom prst="rect">
                <a:avLst/>
              </a:prstGeom>
              <a:noFill/>
            </p:spPr>
            <p:txBody>
              <a:bodyPr vert="horz" wrap="square" lIns="91440" tIns="45720" rIns="91440" bIns="45720" rtlCol="0" anchor="b">
                <a:spAutoFit/>
              </a:bodyPr>
              <a:lstStyle/>
              <a:p>
                <a:pPr marL="0" algn="l">
                  <a:lnSpc>
                    <a:spcPct val="100000"/>
                  </a:lnSpc>
                  <a:spcBef>
                    <a:spcPct val="0"/>
                  </a:spcBef>
                  <a:defRPr/>
                </a:pPr>
                <a:r>
                  <a:rPr lang="en-US" sz="1600" b="1" i="0" u="none" baseline="0">
                    <a:solidFill>
                      <a:srgbClr val="000000"/>
                    </a:solidFill>
                    <a:latin typeface="Arial"/>
                    <a:ea typeface="Arial"/>
                  </a:rPr>
                  <a:t>Average Transaction Value</a:t>
                </a:r>
                <a:endParaRPr lang="en-US" sz="1100"/>
              </a:p>
            </p:txBody>
          </p:sp>
        </p:grpSp>
        <p:grpSp>
          <p:nvGrpSpPr>
            <p:cNvPr id="10" name="Group 10"/>
            <p:cNvGrpSpPr/>
            <p:nvPr/>
          </p:nvGrpSpPr>
          <p:grpSpPr>
            <a:xfrm>
              <a:off x="4165503" y="1307205"/>
              <a:ext cx="3860995" cy="853762"/>
              <a:chOff x="4489903" y="5227148"/>
              <a:chExt cx="3860995" cy="853762"/>
            </a:xfrm>
          </p:grpSpPr>
          <p:sp>
            <p:nvSpPr>
              <p:cNvPr id="11" name="AutoShape 11"/>
              <p:cNvSpPr/>
              <p:nvPr/>
            </p:nvSpPr>
            <p:spPr>
              <a:xfrm>
                <a:off x="4489903" y="5565704"/>
                <a:ext cx="3860995" cy="515206"/>
              </a:xfrm>
              <a:prstGeom prst="rect">
                <a:avLst/>
              </a:prstGeom>
              <a:noFill/>
            </p:spPr>
            <p:txBody>
              <a:bodyPr vert="horz" wrap="square" lIns="91440" tIns="45720" rIns="91440" bIns="45720" anchor="t">
                <a:spAutoFit/>
              </a:bodyPr>
              <a:lstStyle/>
              <a:p>
                <a:pPr marL="0" algn="ctr">
                  <a:lnSpc>
                    <a:spcPct val="120000"/>
                  </a:lnSpc>
                </a:pPr>
                <a:r>
                  <a:rPr lang="en-US" sz="1200" b="0" i="0" u="none" baseline="0">
                    <a:solidFill>
                      <a:srgbClr val="000000"/>
                    </a:solidFill>
                    <a:latin typeface="Arial"/>
                    <a:ea typeface="Arial"/>
                  </a:rPr>
                  <a:t>`= SUM(aggregated_user[RegisteredUsers])`</a:t>
                </a:r>
              </a:p>
            </p:txBody>
          </p:sp>
          <p:sp>
            <p:nvSpPr>
              <p:cNvPr id="12" name="TextBox 12"/>
              <p:cNvSpPr txBox="1"/>
              <p:nvPr/>
            </p:nvSpPr>
            <p:spPr>
              <a:xfrm>
                <a:off x="4489903" y="5227148"/>
                <a:ext cx="3860995" cy="338554"/>
              </a:xfrm>
              <a:prstGeom prst="rect">
                <a:avLst/>
              </a:prstGeom>
              <a:noFill/>
            </p:spPr>
            <p:txBody>
              <a:bodyPr vert="horz" wrap="square" lIns="91440" tIns="45720" rIns="91440" bIns="45720" rtlCol="0" anchor="b">
                <a:spAutoFit/>
              </a:bodyPr>
              <a:lstStyle/>
              <a:p>
                <a:pPr marL="0" algn="ctr">
                  <a:lnSpc>
                    <a:spcPct val="100000"/>
                  </a:lnSpc>
                  <a:spcBef>
                    <a:spcPct val="0"/>
                  </a:spcBef>
                  <a:defRPr/>
                </a:pPr>
                <a:r>
                  <a:rPr lang="en-US" sz="1600" b="1" i="0" u="none" baseline="0">
                    <a:solidFill>
                      <a:srgbClr val="000000"/>
                    </a:solidFill>
                    <a:latin typeface="Arial"/>
                    <a:ea typeface="Arial"/>
                  </a:rPr>
                  <a:t>Total Registered Users</a:t>
                </a:r>
                <a:endParaRPr lang="en-US" sz="1100"/>
              </a:p>
            </p:txBody>
          </p:sp>
        </p:grpSp>
        <p:grpSp>
          <p:nvGrpSpPr>
            <p:cNvPr id="13" name="Group 13"/>
            <p:cNvGrpSpPr/>
            <p:nvPr/>
          </p:nvGrpSpPr>
          <p:grpSpPr>
            <a:xfrm>
              <a:off x="2851677" y="5222612"/>
              <a:ext cx="2737889" cy="1075360"/>
              <a:chOff x="700176" y="3348838"/>
              <a:chExt cx="3093055" cy="1075360"/>
            </a:xfrm>
          </p:grpSpPr>
          <p:sp>
            <p:nvSpPr>
              <p:cNvPr id="14" name="AutoShape 14"/>
              <p:cNvSpPr/>
              <p:nvPr/>
            </p:nvSpPr>
            <p:spPr>
              <a:xfrm>
                <a:off x="700176" y="3687393"/>
                <a:ext cx="3093055" cy="736805"/>
              </a:xfrm>
              <a:prstGeom prst="rect">
                <a:avLst/>
              </a:prstGeom>
              <a:noFill/>
            </p:spPr>
            <p:txBody>
              <a:bodyPr vert="horz" wrap="square" lIns="91440" tIns="45720" rIns="91440" bIns="45720" anchor="t">
                <a:spAutoFit/>
              </a:bodyPr>
              <a:lstStyle/>
              <a:p>
                <a:pPr marL="0" algn="r">
                  <a:lnSpc>
                    <a:spcPct val="120000"/>
                  </a:lnSpc>
                </a:pPr>
                <a:r>
                  <a:rPr lang="en-US" sz="1200" b="0" i="0" u="none" baseline="0">
                    <a:solidFill>
                      <a:srgbClr val="000000"/>
                    </a:solidFill>
                    <a:latin typeface="Arial"/>
                    <a:ea typeface="Arial"/>
                  </a:rPr>
                  <a:t>`= SUM(aggregated_transaction[Transaction_count])`</a:t>
                </a:r>
              </a:p>
            </p:txBody>
          </p:sp>
          <p:sp>
            <p:nvSpPr>
              <p:cNvPr id="15" name="TextBox 15"/>
              <p:cNvSpPr txBox="1"/>
              <p:nvPr/>
            </p:nvSpPr>
            <p:spPr>
              <a:xfrm>
                <a:off x="700176" y="3348838"/>
                <a:ext cx="3093055" cy="338554"/>
              </a:xfrm>
              <a:prstGeom prst="rect">
                <a:avLst/>
              </a:prstGeom>
              <a:noFill/>
            </p:spPr>
            <p:txBody>
              <a:bodyPr vert="horz" wrap="square" lIns="91440" tIns="45720" rIns="91440" bIns="45720" rtlCol="0" anchor="b">
                <a:spAutoFit/>
              </a:bodyPr>
              <a:lstStyle/>
              <a:p>
                <a:pPr marL="0" algn="r">
                  <a:lnSpc>
                    <a:spcPct val="100000"/>
                  </a:lnSpc>
                  <a:spcBef>
                    <a:spcPct val="0"/>
                  </a:spcBef>
                  <a:defRPr/>
                </a:pPr>
                <a:r>
                  <a:rPr lang="en-US" sz="1600" b="1" i="0" u="none" baseline="0">
                    <a:solidFill>
                      <a:srgbClr val="000000"/>
                    </a:solidFill>
                    <a:latin typeface="Arial"/>
                    <a:ea typeface="Arial"/>
                  </a:rPr>
                  <a:t>Total Transactions</a:t>
                </a:r>
                <a:endParaRPr lang="en-US" sz="1100"/>
              </a:p>
            </p:txBody>
          </p:sp>
        </p:grpSp>
        <p:grpSp>
          <p:nvGrpSpPr>
            <p:cNvPr id="16" name="Group 16"/>
            <p:cNvGrpSpPr/>
            <p:nvPr/>
          </p:nvGrpSpPr>
          <p:grpSpPr>
            <a:xfrm>
              <a:off x="6876610" y="5222612"/>
              <a:ext cx="3136591" cy="1075360"/>
              <a:chOff x="8459269" y="3348838"/>
              <a:chExt cx="3543477" cy="1075360"/>
            </a:xfrm>
          </p:grpSpPr>
          <p:sp>
            <p:nvSpPr>
              <p:cNvPr id="17" name="AutoShape 17"/>
              <p:cNvSpPr/>
              <p:nvPr/>
            </p:nvSpPr>
            <p:spPr>
              <a:xfrm>
                <a:off x="8459271" y="3687393"/>
                <a:ext cx="3534054" cy="736805"/>
              </a:xfrm>
              <a:prstGeom prst="rect">
                <a:avLst/>
              </a:prstGeom>
              <a:noFill/>
            </p:spPr>
            <p:txBody>
              <a:bodyPr vert="horz" wrap="square" lIns="91440" tIns="45720" rIns="91440" bIns="45720" anchor="t">
                <a:spAutoFit/>
              </a:bodyPr>
              <a:lstStyle/>
              <a:p>
                <a:pPr marL="0" algn="l">
                  <a:lnSpc>
                    <a:spcPct val="120000"/>
                  </a:lnSpc>
                </a:pPr>
                <a:r>
                  <a:rPr lang="en-US" sz="1200" b="0" i="0" u="none" baseline="0">
                    <a:solidFill>
                      <a:srgbClr val="000000"/>
                    </a:solidFill>
                    <a:latin typeface="Arial"/>
                    <a:ea typeface="Arial"/>
                  </a:rPr>
                  <a:t>`= SUM(aggregated_user[AppOpens])`</a:t>
                </a:r>
              </a:p>
            </p:txBody>
          </p:sp>
          <p:sp>
            <p:nvSpPr>
              <p:cNvPr id="18" name="TextBox 18"/>
              <p:cNvSpPr txBox="1"/>
              <p:nvPr/>
            </p:nvSpPr>
            <p:spPr>
              <a:xfrm>
                <a:off x="8459269" y="3348838"/>
                <a:ext cx="3543477" cy="338554"/>
              </a:xfrm>
              <a:prstGeom prst="rect">
                <a:avLst/>
              </a:prstGeom>
              <a:noFill/>
            </p:spPr>
            <p:txBody>
              <a:bodyPr vert="horz" wrap="square" lIns="91440" tIns="45720" rIns="91440" bIns="45720" rtlCol="0" anchor="b">
                <a:spAutoFit/>
              </a:bodyPr>
              <a:lstStyle/>
              <a:p>
                <a:pPr marL="0" algn="l">
                  <a:lnSpc>
                    <a:spcPct val="100000"/>
                  </a:lnSpc>
                  <a:spcBef>
                    <a:spcPct val="0"/>
                  </a:spcBef>
                  <a:defRPr/>
                </a:pPr>
                <a:r>
                  <a:rPr lang="en-US" sz="1600" b="1" i="0" u="none" baseline="0">
                    <a:solidFill>
                      <a:srgbClr val="000000"/>
                    </a:solidFill>
                    <a:latin typeface="Arial"/>
                    <a:ea typeface="Arial"/>
                  </a:rPr>
                  <a:t>Total App Opens</a:t>
                </a:r>
                <a:endParaRPr lang="en-US" sz="1100"/>
              </a:p>
            </p:txBody>
          </p:sp>
        </p:grpSp>
        <p:sp>
          <p:nvSpPr>
            <p:cNvPr id="19" name="Freeform 19"/>
            <p:cNvSpPr/>
            <p:nvPr/>
          </p:nvSpPr>
          <p:spPr>
            <a:xfrm>
              <a:off x="3217683" y="2741538"/>
              <a:ext cx="1266139" cy="1263196"/>
            </a:xfrm>
            <a:custGeom>
              <a:avLst/>
              <a:gdLst/>
              <a:ahLst/>
              <a:cxnLst/>
              <a:rect l="l" t="t" r="r" b="b"/>
              <a:pathLst>
                <a:path w="1607" h="1599">
                  <a:moveTo>
                    <a:pt x="1479" y="965"/>
                  </a:moveTo>
                  <a:cubicBezTo>
                    <a:pt x="1482" y="951"/>
                    <a:pt x="1485" y="937"/>
                    <a:pt x="1487" y="924"/>
                  </a:cubicBezTo>
                  <a:cubicBezTo>
                    <a:pt x="1490" y="910"/>
                    <a:pt x="1492" y="896"/>
                    <a:pt x="1494" y="882"/>
                  </a:cubicBezTo>
                  <a:cubicBezTo>
                    <a:pt x="1535" y="881"/>
                    <a:pt x="1573" y="875"/>
                    <a:pt x="1604" y="865"/>
                  </a:cubicBezTo>
                  <a:cubicBezTo>
                    <a:pt x="1607" y="824"/>
                    <a:pt x="1607" y="782"/>
                    <a:pt x="1604" y="742"/>
                  </a:cubicBezTo>
                  <a:cubicBezTo>
                    <a:pt x="1574" y="731"/>
                    <a:pt x="1536" y="725"/>
                    <a:pt x="1495" y="724"/>
                  </a:cubicBezTo>
                  <a:cubicBezTo>
                    <a:pt x="1492" y="696"/>
                    <a:pt x="1487" y="668"/>
                    <a:pt x="1481" y="641"/>
                  </a:cubicBezTo>
                  <a:cubicBezTo>
                    <a:pt x="1519" y="626"/>
                    <a:pt x="1553" y="607"/>
                    <a:pt x="1578" y="587"/>
                  </a:cubicBezTo>
                  <a:cubicBezTo>
                    <a:pt x="1567" y="547"/>
                    <a:pt x="1553" y="509"/>
                    <a:pt x="1536" y="472"/>
                  </a:cubicBezTo>
                  <a:cubicBezTo>
                    <a:pt x="1504" y="472"/>
                    <a:pt x="1466" y="479"/>
                    <a:pt x="1427" y="492"/>
                  </a:cubicBezTo>
                  <a:cubicBezTo>
                    <a:pt x="1415" y="467"/>
                    <a:pt x="1401" y="442"/>
                    <a:pt x="1385" y="419"/>
                  </a:cubicBezTo>
                  <a:cubicBezTo>
                    <a:pt x="1417" y="392"/>
                    <a:pt x="1442" y="362"/>
                    <a:pt x="1459" y="335"/>
                  </a:cubicBezTo>
                  <a:cubicBezTo>
                    <a:pt x="1435" y="302"/>
                    <a:pt x="1409" y="270"/>
                    <a:pt x="1380" y="241"/>
                  </a:cubicBezTo>
                  <a:cubicBezTo>
                    <a:pt x="1350" y="252"/>
                    <a:pt x="1317" y="271"/>
                    <a:pt x="1284" y="297"/>
                  </a:cubicBezTo>
                  <a:cubicBezTo>
                    <a:pt x="1264" y="278"/>
                    <a:pt x="1243" y="260"/>
                    <a:pt x="1220" y="243"/>
                  </a:cubicBezTo>
                  <a:cubicBezTo>
                    <a:pt x="1240" y="206"/>
                    <a:pt x="1254" y="170"/>
                    <a:pt x="1260" y="139"/>
                  </a:cubicBezTo>
                  <a:cubicBezTo>
                    <a:pt x="1227" y="116"/>
                    <a:pt x="1192" y="95"/>
                    <a:pt x="1154" y="77"/>
                  </a:cubicBezTo>
                  <a:cubicBezTo>
                    <a:pt x="1130" y="98"/>
                    <a:pt x="1105" y="127"/>
                    <a:pt x="1084" y="163"/>
                  </a:cubicBezTo>
                  <a:cubicBezTo>
                    <a:pt x="1058" y="152"/>
                    <a:pt x="1032" y="142"/>
                    <a:pt x="1005" y="134"/>
                  </a:cubicBezTo>
                  <a:cubicBezTo>
                    <a:pt x="1011" y="93"/>
                    <a:pt x="1012" y="54"/>
                    <a:pt x="1007" y="23"/>
                  </a:cubicBezTo>
                  <a:cubicBezTo>
                    <a:pt x="987" y="17"/>
                    <a:pt x="967" y="13"/>
                    <a:pt x="947" y="9"/>
                  </a:cubicBezTo>
                  <a:cubicBezTo>
                    <a:pt x="927" y="6"/>
                    <a:pt x="906" y="3"/>
                    <a:pt x="886" y="1"/>
                  </a:cubicBezTo>
                  <a:cubicBezTo>
                    <a:pt x="870" y="29"/>
                    <a:pt x="857" y="65"/>
                    <a:pt x="849" y="106"/>
                  </a:cubicBezTo>
                  <a:cubicBezTo>
                    <a:pt x="821" y="104"/>
                    <a:pt x="793" y="103"/>
                    <a:pt x="765" y="105"/>
                  </a:cubicBezTo>
                  <a:cubicBezTo>
                    <a:pt x="757" y="64"/>
                    <a:pt x="744" y="28"/>
                    <a:pt x="729" y="0"/>
                  </a:cubicBezTo>
                  <a:cubicBezTo>
                    <a:pt x="688" y="3"/>
                    <a:pt x="647" y="10"/>
                    <a:pt x="608" y="20"/>
                  </a:cubicBezTo>
                  <a:cubicBezTo>
                    <a:pt x="603" y="52"/>
                    <a:pt x="603" y="91"/>
                    <a:pt x="609" y="132"/>
                  </a:cubicBezTo>
                  <a:cubicBezTo>
                    <a:pt x="582" y="140"/>
                    <a:pt x="556" y="149"/>
                    <a:pt x="530" y="160"/>
                  </a:cubicBezTo>
                  <a:cubicBezTo>
                    <a:pt x="509" y="124"/>
                    <a:pt x="484" y="95"/>
                    <a:pt x="460" y="73"/>
                  </a:cubicBezTo>
                  <a:cubicBezTo>
                    <a:pt x="423" y="91"/>
                    <a:pt x="387" y="111"/>
                    <a:pt x="353" y="134"/>
                  </a:cubicBezTo>
                  <a:cubicBezTo>
                    <a:pt x="359" y="166"/>
                    <a:pt x="373" y="202"/>
                    <a:pt x="392" y="239"/>
                  </a:cubicBezTo>
                  <a:cubicBezTo>
                    <a:pt x="370" y="255"/>
                    <a:pt x="348" y="273"/>
                    <a:pt x="328" y="292"/>
                  </a:cubicBezTo>
                  <a:cubicBezTo>
                    <a:pt x="295" y="266"/>
                    <a:pt x="262" y="246"/>
                    <a:pt x="233" y="235"/>
                  </a:cubicBezTo>
                  <a:cubicBezTo>
                    <a:pt x="204" y="264"/>
                    <a:pt x="177" y="295"/>
                    <a:pt x="153" y="328"/>
                  </a:cubicBezTo>
                  <a:cubicBezTo>
                    <a:pt x="169" y="356"/>
                    <a:pt x="194" y="385"/>
                    <a:pt x="225" y="413"/>
                  </a:cubicBezTo>
                  <a:cubicBezTo>
                    <a:pt x="210" y="436"/>
                    <a:pt x="196" y="460"/>
                    <a:pt x="183" y="486"/>
                  </a:cubicBezTo>
                  <a:cubicBezTo>
                    <a:pt x="144" y="472"/>
                    <a:pt x="106" y="465"/>
                    <a:pt x="74" y="464"/>
                  </a:cubicBezTo>
                  <a:cubicBezTo>
                    <a:pt x="57" y="501"/>
                    <a:pt x="43" y="539"/>
                    <a:pt x="31" y="579"/>
                  </a:cubicBezTo>
                  <a:cubicBezTo>
                    <a:pt x="56" y="599"/>
                    <a:pt x="89" y="619"/>
                    <a:pt x="128" y="634"/>
                  </a:cubicBezTo>
                  <a:cubicBezTo>
                    <a:pt x="125" y="647"/>
                    <a:pt x="122" y="661"/>
                    <a:pt x="119" y="675"/>
                  </a:cubicBezTo>
                  <a:cubicBezTo>
                    <a:pt x="117" y="689"/>
                    <a:pt x="115" y="703"/>
                    <a:pt x="113" y="717"/>
                  </a:cubicBezTo>
                  <a:cubicBezTo>
                    <a:pt x="72" y="717"/>
                    <a:pt x="33" y="724"/>
                    <a:pt x="3" y="734"/>
                  </a:cubicBezTo>
                  <a:cubicBezTo>
                    <a:pt x="0" y="775"/>
                    <a:pt x="0" y="816"/>
                    <a:pt x="2" y="857"/>
                  </a:cubicBezTo>
                  <a:cubicBezTo>
                    <a:pt x="33" y="867"/>
                    <a:pt x="71" y="874"/>
                    <a:pt x="112" y="875"/>
                  </a:cubicBezTo>
                  <a:cubicBezTo>
                    <a:pt x="115" y="903"/>
                    <a:pt x="120" y="931"/>
                    <a:pt x="126" y="958"/>
                  </a:cubicBezTo>
                  <a:cubicBezTo>
                    <a:pt x="87" y="973"/>
                    <a:pt x="54" y="992"/>
                    <a:pt x="29" y="1011"/>
                  </a:cubicBezTo>
                  <a:cubicBezTo>
                    <a:pt x="40" y="1051"/>
                    <a:pt x="54" y="1090"/>
                    <a:pt x="70" y="1127"/>
                  </a:cubicBezTo>
                  <a:cubicBezTo>
                    <a:pt x="102" y="1127"/>
                    <a:pt x="140" y="1120"/>
                    <a:pt x="180" y="1107"/>
                  </a:cubicBezTo>
                  <a:cubicBezTo>
                    <a:pt x="192" y="1132"/>
                    <a:pt x="206" y="1156"/>
                    <a:pt x="221" y="1180"/>
                  </a:cubicBezTo>
                  <a:cubicBezTo>
                    <a:pt x="190" y="1207"/>
                    <a:pt x="165" y="1236"/>
                    <a:pt x="148" y="1263"/>
                  </a:cubicBezTo>
                  <a:cubicBezTo>
                    <a:pt x="172" y="1297"/>
                    <a:pt x="198" y="1329"/>
                    <a:pt x="227" y="1358"/>
                  </a:cubicBezTo>
                  <a:cubicBezTo>
                    <a:pt x="257" y="1347"/>
                    <a:pt x="290" y="1327"/>
                    <a:pt x="322" y="1301"/>
                  </a:cubicBezTo>
                  <a:cubicBezTo>
                    <a:pt x="343" y="1321"/>
                    <a:pt x="364" y="1339"/>
                    <a:pt x="387" y="1356"/>
                  </a:cubicBezTo>
                  <a:cubicBezTo>
                    <a:pt x="366" y="1392"/>
                    <a:pt x="353" y="1428"/>
                    <a:pt x="346" y="1460"/>
                  </a:cubicBezTo>
                  <a:cubicBezTo>
                    <a:pt x="380" y="1483"/>
                    <a:pt x="415" y="1504"/>
                    <a:pt x="452" y="1522"/>
                  </a:cubicBezTo>
                  <a:cubicBezTo>
                    <a:pt x="477" y="1501"/>
                    <a:pt x="502" y="1471"/>
                    <a:pt x="523" y="1436"/>
                  </a:cubicBezTo>
                  <a:cubicBezTo>
                    <a:pt x="549" y="1447"/>
                    <a:pt x="575" y="1457"/>
                    <a:pt x="602" y="1465"/>
                  </a:cubicBezTo>
                  <a:cubicBezTo>
                    <a:pt x="596" y="1506"/>
                    <a:pt x="595" y="1544"/>
                    <a:pt x="600" y="1576"/>
                  </a:cubicBezTo>
                  <a:cubicBezTo>
                    <a:pt x="620" y="1581"/>
                    <a:pt x="640" y="1586"/>
                    <a:pt x="660" y="1589"/>
                  </a:cubicBezTo>
                  <a:cubicBezTo>
                    <a:pt x="680" y="1593"/>
                    <a:pt x="701" y="1596"/>
                    <a:pt x="721" y="1598"/>
                  </a:cubicBezTo>
                  <a:cubicBezTo>
                    <a:pt x="736" y="1570"/>
                    <a:pt x="750" y="1534"/>
                    <a:pt x="758" y="1493"/>
                  </a:cubicBezTo>
                  <a:cubicBezTo>
                    <a:pt x="786" y="1495"/>
                    <a:pt x="814" y="1495"/>
                    <a:pt x="842" y="1494"/>
                  </a:cubicBezTo>
                  <a:cubicBezTo>
                    <a:pt x="850" y="1534"/>
                    <a:pt x="863" y="1571"/>
                    <a:pt x="878" y="1599"/>
                  </a:cubicBezTo>
                  <a:cubicBezTo>
                    <a:pt x="919" y="1595"/>
                    <a:pt x="959" y="1588"/>
                    <a:pt x="999" y="1578"/>
                  </a:cubicBezTo>
                  <a:cubicBezTo>
                    <a:pt x="1004" y="1547"/>
                    <a:pt x="1004" y="1508"/>
                    <a:pt x="998" y="1467"/>
                  </a:cubicBezTo>
                  <a:cubicBezTo>
                    <a:pt x="1025" y="1459"/>
                    <a:pt x="1051" y="1450"/>
                    <a:pt x="1077" y="1439"/>
                  </a:cubicBezTo>
                  <a:cubicBezTo>
                    <a:pt x="1098" y="1474"/>
                    <a:pt x="1123" y="1504"/>
                    <a:pt x="1147" y="1525"/>
                  </a:cubicBezTo>
                  <a:cubicBezTo>
                    <a:pt x="1184" y="1508"/>
                    <a:pt x="1220" y="1487"/>
                    <a:pt x="1253" y="1464"/>
                  </a:cubicBezTo>
                  <a:cubicBezTo>
                    <a:pt x="1248" y="1433"/>
                    <a:pt x="1234" y="1397"/>
                    <a:pt x="1214" y="1360"/>
                  </a:cubicBezTo>
                  <a:cubicBezTo>
                    <a:pt x="1237" y="1344"/>
                    <a:pt x="1259" y="1326"/>
                    <a:pt x="1279" y="1306"/>
                  </a:cubicBezTo>
                  <a:cubicBezTo>
                    <a:pt x="1311" y="1333"/>
                    <a:pt x="1345" y="1352"/>
                    <a:pt x="1374" y="1364"/>
                  </a:cubicBezTo>
                  <a:cubicBezTo>
                    <a:pt x="1403" y="1335"/>
                    <a:pt x="1430" y="1304"/>
                    <a:pt x="1454" y="1270"/>
                  </a:cubicBezTo>
                  <a:cubicBezTo>
                    <a:pt x="1438" y="1243"/>
                    <a:pt x="1413" y="1213"/>
                    <a:pt x="1382" y="1186"/>
                  </a:cubicBezTo>
                  <a:cubicBezTo>
                    <a:pt x="1397" y="1163"/>
                    <a:pt x="1411" y="1138"/>
                    <a:pt x="1424" y="1113"/>
                  </a:cubicBezTo>
                  <a:cubicBezTo>
                    <a:pt x="1463" y="1127"/>
                    <a:pt x="1501" y="1134"/>
                    <a:pt x="1533" y="1135"/>
                  </a:cubicBezTo>
                  <a:cubicBezTo>
                    <a:pt x="1550" y="1098"/>
                    <a:pt x="1564" y="1059"/>
                    <a:pt x="1576" y="1019"/>
                  </a:cubicBezTo>
                  <a:cubicBezTo>
                    <a:pt x="1551" y="999"/>
                    <a:pt x="1517" y="980"/>
                    <a:pt x="1479" y="965"/>
                  </a:cubicBezTo>
                  <a:close/>
                  <a:moveTo>
                    <a:pt x="700" y="1370"/>
                  </a:moveTo>
                  <a:cubicBezTo>
                    <a:pt x="384" y="1313"/>
                    <a:pt x="175" y="1011"/>
                    <a:pt x="232" y="696"/>
                  </a:cubicBezTo>
                  <a:cubicBezTo>
                    <a:pt x="290" y="380"/>
                    <a:pt x="592" y="171"/>
                    <a:pt x="907" y="228"/>
                  </a:cubicBezTo>
                  <a:cubicBezTo>
                    <a:pt x="1223" y="286"/>
                    <a:pt x="1432" y="588"/>
                    <a:pt x="1374" y="903"/>
                  </a:cubicBezTo>
                  <a:cubicBezTo>
                    <a:pt x="1317" y="1218"/>
                    <a:pt x="1015" y="1428"/>
                    <a:pt x="700" y="1370"/>
                  </a:cubicBezTo>
                  <a:close/>
                </a:path>
              </a:pathLst>
            </a:custGeom>
            <a:solidFill>
              <a:srgbClr val="FFFFFF">
                <a:lumMod val="65000"/>
              </a:srgbClr>
            </a:solidFill>
            <a:ln cap="flat">
              <a:prstDash val="solid"/>
            </a:ln>
          </p:spPr>
          <p:txBody>
            <a:bodyPr vert="horz" wrap="square" lIns="91440" tIns="45720" rIns="91440" bIns="45720" anchor="t">
              <a:prstTxWarp prst="textNoShape">
                <a:avLst/>
              </a:prstTxWarp>
              <a:normAutofit/>
            </a:bodyPr>
            <a:lstStyle/>
            <a:p>
              <a:pPr marL="0" algn="l"/>
              <a:endParaRPr/>
            </a:p>
          </p:txBody>
        </p:sp>
        <p:sp>
          <p:nvSpPr>
            <p:cNvPr id="20" name="Freeform 20"/>
            <p:cNvSpPr/>
            <p:nvPr/>
          </p:nvSpPr>
          <p:spPr>
            <a:xfrm>
              <a:off x="4323427" y="3422855"/>
              <a:ext cx="1266139" cy="1263196"/>
            </a:xfrm>
            <a:custGeom>
              <a:avLst/>
              <a:gdLst/>
              <a:ahLst/>
              <a:cxnLst/>
              <a:rect l="l" t="t" r="r" b="b"/>
              <a:pathLst>
                <a:path w="1607" h="1599">
                  <a:moveTo>
                    <a:pt x="1479" y="965"/>
                  </a:moveTo>
                  <a:cubicBezTo>
                    <a:pt x="1482" y="951"/>
                    <a:pt x="1485" y="937"/>
                    <a:pt x="1487" y="924"/>
                  </a:cubicBezTo>
                  <a:cubicBezTo>
                    <a:pt x="1490" y="910"/>
                    <a:pt x="1492" y="896"/>
                    <a:pt x="1494" y="882"/>
                  </a:cubicBezTo>
                  <a:cubicBezTo>
                    <a:pt x="1535" y="881"/>
                    <a:pt x="1573" y="875"/>
                    <a:pt x="1604" y="865"/>
                  </a:cubicBezTo>
                  <a:cubicBezTo>
                    <a:pt x="1607" y="824"/>
                    <a:pt x="1607" y="782"/>
                    <a:pt x="1604" y="742"/>
                  </a:cubicBezTo>
                  <a:cubicBezTo>
                    <a:pt x="1574" y="731"/>
                    <a:pt x="1536" y="725"/>
                    <a:pt x="1495" y="724"/>
                  </a:cubicBezTo>
                  <a:cubicBezTo>
                    <a:pt x="1492" y="696"/>
                    <a:pt x="1487" y="668"/>
                    <a:pt x="1481" y="641"/>
                  </a:cubicBezTo>
                  <a:cubicBezTo>
                    <a:pt x="1519" y="626"/>
                    <a:pt x="1553" y="607"/>
                    <a:pt x="1578" y="587"/>
                  </a:cubicBezTo>
                  <a:cubicBezTo>
                    <a:pt x="1567" y="547"/>
                    <a:pt x="1553" y="509"/>
                    <a:pt x="1536" y="472"/>
                  </a:cubicBezTo>
                  <a:cubicBezTo>
                    <a:pt x="1504" y="472"/>
                    <a:pt x="1466" y="479"/>
                    <a:pt x="1427" y="492"/>
                  </a:cubicBezTo>
                  <a:cubicBezTo>
                    <a:pt x="1415" y="467"/>
                    <a:pt x="1401" y="442"/>
                    <a:pt x="1385" y="419"/>
                  </a:cubicBezTo>
                  <a:cubicBezTo>
                    <a:pt x="1417" y="392"/>
                    <a:pt x="1442" y="362"/>
                    <a:pt x="1459" y="335"/>
                  </a:cubicBezTo>
                  <a:cubicBezTo>
                    <a:pt x="1435" y="302"/>
                    <a:pt x="1409" y="270"/>
                    <a:pt x="1380" y="241"/>
                  </a:cubicBezTo>
                  <a:cubicBezTo>
                    <a:pt x="1350" y="252"/>
                    <a:pt x="1317" y="271"/>
                    <a:pt x="1284" y="297"/>
                  </a:cubicBezTo>
                  <a:cubicBezTo>
                    <a:pt x="1264" y="278"/>
                    <a:pt x="1243" y="260"/>
                    <a:pt x="1220" y="243"/>
                  </a:cubicBezTo>
                  <a:cubicBezTo>
                    <a:pt x="1240" y="206"/>
                    <a:pt x="1254" y="170"/>
                    <a:pt x="1260" y="139"/>
                  </a:cubicBezTo>
                  <a:cubicBezTo>
                    <a:pt x="1227" y="116"/>
                    <a:pt x="1192" y="95"/>
                    <a:pt x="1154" y="77"/>
                  </a:cubicBezTo>
                  <a:cubicBezTo>
                    <a:pt x="1130" y="98"/>
                    <a:pt x="1105" y="127"/>
                    <a:pt x="1084" y="163"/>
                  </a:cubicBezTo>
                  <a:cubicBezTo>
                    <a:pt x="1058" y="152"/>
                    <a:pt x="1032" y="142"/>
                    <a:pt x="1005" y="134"/>
                  </a:cubicBezTo>
                  <a:cubicBezTo>
                    <a:pt x="1011" y="93"/>
                    <a:pt x="1012" y="54"/>
                    <a:pt x="1007" y="23"/>
                  </a:cubicBezTo>
                  <a:cubicBezTo>
                    <a:pt x="987" y="17"/>
                    <a:pt x="967" y="13"/>
                    <a:pt x="947" y="9"/>
                  </a:cubicBezTo>
                  <a:cubicBezTo>
                    <a:pt x="927" y="6"/>
                    <a:pt x="906" y="3"/>
                    <a:pt x="886" y="1"/>
                  </a:cubicBezTo>
                  <a:cubicBezTo>
                    <a:pt x="870" y="29"/>
                    <a:pt x="857" y="65"/>
                    <a:pt x="849" y="106"/>
                  </a:cubicBezTo>
                  <a:cubicBezTo>
                    <a:pt x="821" y="104"/>
                    <a:pt x="793" y="103"/>
                    <a:pt x="765" y="105"/>
                  </a:cubicBezTo>
                  <a:cubicBezTo>
                    <a:pt x="757" y="64"/>
                    <a:pt x="744" y="28"/>
                    <a:pt x="729" y="0"/>
                  </a:cubicBezTo>
                  <a:cubicBezTo>
                    <a:pt x="688" y="3"/>
                    <a:pt x="647" y="10"/>
                    <a:pt x="608" y="20"/>
                  </a:cubicBezTo>
                  <a:cubicBezTo>
                    <a:pt x="603" y="52"/>
                    <a:pt x="603" y="91"/>
                    <a:pt x="609" y="132"/>
                  </a:cubicBezTo>
                  <a:cubicBezTo>
                    <a:pt x="582" y="140"/>
                    <a:pt x="556" y="149"/>
                    <a:pt x="530" y="160"/>
                  </a:cubicBezTo>
                  <a:cubicBezTo>
                    <a:pt x="509" y="124"/>
                    <a:pt x="484" y="95"/>
                    <a:pt x="460" y="73"/>
                  </a:cubicBezTo>
                  <a:cubicBezTo>
                    <a:pt x="423" y="91"/>
                    <a:pt x="387" y="111"/>
                    <a:pt x="353" y="134"/>
                  </a:cubicBezTo>
                  <a:cubicBezTo>
                    <a:pt x="359" y="166"/>
                    <a:pt x="373" y="202"/>
                    <a:pt x="392" y="239"/>
                  </a:cubicBezTo>
                  <a:cubicBezTo>
                    <a:pt x="370" y="255"/>
                    <a:pt x="348" y="273"/>
                    <a:pt x="328" y="292"/>
                  </a:cubicBezTo>
                  <a:cubicBezTo>
                    <a:pt x="295" y="266"/>
                    <a:pt x="262" y="246"/>
                    <a:pt x="233" y="235"/>
                  </a:cubicBezTo>
                  <a:cubicBezTo>
                    <a:pt x="204" y="264"/>
                    <a:pt x="177" y="295"/>
                    <a:pt x="153" y="328"/>
                  </a:cubicBezTo>
                  <a:cubicBezTo>
                    <a:pt x="169" y="356"/>
                    <a:pt x="194" y="385"/>
                    <a:pt x="225" y="413"/>
                  </a:cubicBezTo>
                  <a:cubicBezTo>
                    <a:pt x="210" y="436"/>
                    <a:pt x="196" y="460"/>
                    <a:pt x="183" y="486"/>
                  </a:cubicBezTo>
                  <a:cubicBezTo>
                    <a:pt x="144" y="472"/>
                    <a:pt x="106" y="465"/>
                    <a:pt x="74" y="464"/>
                  </a:cubicBezTo>
                  <a:cubicBezTo>
                    <a:pt x="57" y="501"/>
                    <a:pt x="43" y="539"/>
                    <a:pt x="31" y="579"/>
                  </a:cubicBezTo>
                  <a:cubicBezTo>
                    <a:pt x="56" y="599"/>
                    <a:pt x="89" y="619"/>
                    <a:pt x="128" y="634"/>
                  </a:cubicBezTo>
                  <a:cubicBezTo>
                    <a:pt x="125" y="647"/>
                    <a:pt x="122" y="661"/>
                    <a:pt x="119" y="675"/>
                  </a:cubicBezTo>
                  <a:cubicBezTo>
                    <a:pt x="117" y="689"/>
                    <a:pt x="115" y="703"/>
                    <a:pt x="113" y="717"/>
                  </a:cubicBezTo>
                  <a:cubicBezTo>
                    <a:pt x="72" y="717"/>
                    <a:pt x="33" y="724"/>
                    <a:pt x="3" y="734"/>
                  </a:cubicBezTo>
                  <a:cubicBezTo>
                    <a:pt x="0" y="775"/>
                    <a:pt x="0" y="816"/>
                    <a:pt x="2" y="857"/>
                  </a:cubicBezTo>
                  <a:cubicBezTo>
                    <a:pt x="33" y="867"/>
                    <a:pt x="71" y="874"/>
                    <a:pt x="112" y="875"/>
                  </a:cubicBezTo>
                  <a:cubicBezTo>
                    <a:pt x="115" y="903"/>
                    <a:pt x="120" y="931"/>
                    <a:pt x="126" y="958"/>
                  </a:cubicBezTo>
                  <a:cubicBezTo>
                    <a:pt x="87" y="973"/>
                    <a:pt x="54" y="992"/>
                    <a:pt x="29" y="1011"/>
                  </a:cubicBezTo>
                  <a:cubicBezTo>
                    <a:pt x="40" y="1051"/>
                    <a:pt x="54" y="1090"/>
                    <a:pt x="70" y="1127"/>
                  </a:cubicBezTo>
                  <a:cubicBezTo>
                    <a:pt x="102" y="1127"/>
                    <a:pt x="140" y="1120"/>
                    <a:pt x="180" y="1107"/>
                  </a:cubicBezTo>
                  <a:cubicBezTo>
                    <a:pt x="192" y="1132"/>
                    <a:pt x="206" y="1156"/>
                    <a:pt x="221" y="1180"/>
                  </a:cubicBezTo>
                  <a:cubicBezTo>
                    <a:pt x="190" y="1207"/>
                    <a:pt x="165" y="1236"/>
                    <a:pt x="148" y="1263"/>
                  </a:cubicBezTo>
                  <a:cubicBezTo>
                    <a:pt x="172" y="1297"/>
                    <a:pt x="198" y="1329"/>
                    <a:pt x="227" y="1358"/>
                  </a:cubicBezTo>
                  <a:cubicBezTo>
                    <a:pt x="257" y="1347"/>
                    <a:pt x="290" y="1327"/>
                    <a:pt x="322" y="1301"/>
                  </a:cubicBezTo>
                  <a:cubicBezTo>
                    <a:pt x="343" y="1321"/>
                    <a:pt x="364" y="1339"/>
                    <a:pt x="387" y="1356"/>
                  </a:cubicBezTo>
                  <a:cubicBezTo>
                    <a:pt x="366" y="1392"/>
                    <a:pt x="353" y="1428"/>
                    <a:pt x="346" y="1460"/>
                  </a:cubicBezTo>
                  <a:cubicBezTo>
                    <a:pt x="380" y="1483"/>
                    <a:pt x="415" y="1504"/>
                    <a:pt x="452" y="1522"/>
                  </a:cubicBezTo>
                  <a:cubicBezTo>
                    <a:pt x="477" y="1501"/>
                    <a:pt x="502" y="1471"/>
                    <a:pt x="523" y="1436"/>
                  </a:cubicBezTo>
                  <a:cubicBezTo>
                    <a:pt x="549" y="1447"/>
                    <a:pt x="575" y="1457"/>
                    <a:pt x="602" y="1465"/>
                  </a:cubicBezTo>
                  <a:cubicBezTo>
                    <a:pt x="596" y="1506"/>
                    <a:pt x="595" y="1544"/>
                    <a:pt x="600" y="1576"/>
                  </a:cubicBezTo>
                  <a:cubicBezTo>
                    <a:pt x="620" y="1581"/>
                    <a:pt x="640" y="1586"/>
                    <a:pt x="660" y="1589"/>
                  </a:cubicBezTo>
                  <a:cubicBezTo>
                    <a:pt x="680" y="1593"/>
                    <a:pt x="701" y="1596"/>
                    <a:pt x="721" y="1598"/>
                  </a:cubicBezTo>
                  <a:cubicBezTo>
                    <a:pt x="736" y="1570"/>
                    <a:pt x="750" y="1534"/>
                    <a:pt x="758" y="1493"/>
                  </a:cubicBezTo>
                  <a:cubicBezTo>
                    <a:pt x="786" y="1495"/>
                    <a:pt x="814" y="1495"/>
                    <a:pt x="842" y="1494"/>
                  </a:cubicBezTo>
                  <a:cubicBezTo>
                    <a:pt x="850" y="1534"/>
                    <a:pt x="863" y="1571"/>
                    <a:pt x="878" y="1599"/>
                  </a:cubicBezTo>
                  <a:cubicBezTo>
                    <a:pt x="919" y="1595"/>
                    <a:pt x="959" y="1588"/>
                    <a:pt x="999" y="1578"/>
                  </a:cubicBezTo>
                  <a:cubicBezTo>
                    <a:pt x="1004" y="1547"/>
                    <a:pt x="1004" y="1508"/>
                    <a:pt x="998" y="1467"/>
                  </a:cubicBezTo>
                  <a:cubicBezTo>
                    <a:pt x="1025" y="1459"/>
                    <a:pt x="1051" y="1450"/>
                    <a:pt x="1077" y="1439"/>
                  </a:cubicBezTo>
                  <a:cubicBezTo>
                    <a:pt x="1098" y="1474"/>
                    <a:pt x="1123" y="1504"/>
                    <a:pt x="1147" y="1525"/>
                  </a:cubicBezTo>
                  <a:cubicBezTo>
                    <a:pt x="1184" y="1508"/>
                    <a:pt x="1220" y="1487"/>
                    <a:pt x="1253" y="1464"/>
                  </a:cubicBezTo>
                  <a:cubicBezTo>
                    <a:pt x="1248" y="1433"/>
                    <a:pt x="1234" y="1397"/>
                    <a:pt x="1214" y="1360"/>
                  </a:cubicBezTo>
                  <a:cubicBezTo>
                    <a:pt x="1237" y="1344"/>
                    <a:pt x="1259" y="1326"/>
                    <a:pt x="1279" y="1306"/>
                  </a:cubicBezTo>
                  <a:cubicBezTo>
                    <a:pt x="1311" y="1333"/>
                    <a:pt x="1345" y="1352"/>
                    <a:pt x="1374" y="1364"/>
                  </a:cubicBezTo>
                  <a:cubicBezTo>
                    <a:pt x="1403" y="1335"/>
                    <a:pt x="1430" y="1304"/>
                    <a:pt x="1454" y="1270"/>
                  </a:cubicBezTo>
                  <a:cubicBezTo>
                    <a:pt x="1438" y="1243"/>
                    <a:pt x="1413" y="1213"/>
                    <a:pt x="1382" y="1186"/>
                  </a:cubicBezTo>
                  <a:cubicBezTo>
                    <a:pt x="1397" y="1163"/>
                    <a:pt x="1411" y="1138"/>
                    <a:pt x="1424" y="1113"/>
                  </a:cubicBezTo>
                  <a:cubicBezTo>
                    <a:pt x="1463" y="1127"/>
                    <a:pt x="1501" y="1134"/>
                    <a:pt x="1533" y="1135"/>
                  </a:cubicBezTo>
                  <a:cubicBezTo>
                    <a:pt x="1550" y="1098"/>
                    <a:pt x="1564" y="1059"/>
                    <a:pt x="1576" y="1019"/>
                  </a:cubicBezTo>
                  <a:cubicBezTo>
                    <a:pt x="1551" y="999"/>
                    <a:pt x="1517" y="980"/>
                    <a:pt x="1479" y="965"/>
                  </a:cubicBezTo>
                  <a:close/>
                  <a:moveTo>
                    <a:pt x="700" y="1370"/>
                  </a:moveTo>
                  <a:cubicBezTo>
                    <a:pt x="384" y="1313"/>
                    <a:pt x="175" y="1011"/>
                    <a:pt x="232" y="696"/>
                  </a:cubicBezTo>
                  <a:cubicBezTo>
                    <a:pt x="290" y="380"/>
                    <a:pt x="592" y="171"/>
                    <a:pt x="907" y="228"/>
                  </a:cubicBezTo>
                  <a:cubicBezTo>
                    <a:pt x="1223" y="286"/>
                    <a:pt x="1432" y="588"/>
                    <a:pt x="1374" y="903"/>
                  </a:cubicBezTo>
                  <a:cubicBezTo>
                    <a:pt x="1317" y="1218"/>
                    <a:pt x="1015" y="1428"/>
                    <a:pt x="700" y="1370"/>
                  </a:cubicBezTo>
                  <a:close/>
                </a:path>
              </a:pathLst>
            </a:custGeom>
            <a:solidFill>
              <a:srgbClr val="000000">
                <a:lumMod val="50000"/>
                <a:lumOff val="50000"/>
              </a:srgbClr>
            </a:solidFill>
            <a:ln cap="flat">
              <a:prstDash val="solid"/>
            </a:ln>
          </p:spPr>
          <p:txBody>
            <a:bodyPr vert="horz" wrap="square" lIns="91440" tIns="45720" rIns="91440" bIns="45720" anchor="t">
              <a:prstTxWarp prst="textNoShape">
                <a:avLst/>
              </a:prstTxWarp>
              <a:normAutofit/>
            </a:bodyPr>
            <a:lstStyle/>
            <a:p>
              <a:pPr marL="0" algn="l"/>
              <a:endParaRPr/>
            </a:p>
          </p:txBody>
        </p:sp>
        <p:sp>
          <p:nvSpPr>
            <p:cNvPr id="21" name="Freeform 21"/>
            <p:cNvSpPr/>
            <p:nvPr/>
          </p:nvSpPr>
          <p:spPr>
            <a:xfrm>
              <a:off x="5370533" y="2320521"/>
              <a:ext cx="1688137" cy="1684213"/>
            </a:xfrm>
            <a:custGeom>
              <a:avLst/>
              <a:gdLst/>
              <a:ahLst/>
              <a:cxnLst/>
              <a:rect l="l" t="t" r="r" b="b"/>
              <a:pathLst>
                <a:path w="1607" h="1599">
                  <a:moveTo>
                    <a:pt x="1479" y="965"/>
                  </a:moveTo>
                  <a:cubicBezTo>
                    <a:pt x="1482" y="951"/>
                    <a:pt x="1485" y="937"/>
                    <a:pt x="1487" y="924"/>
                  </a:cubicBezTo>
                  <a:cubicBezTo>
                    <a:pt x="1490" y="910"/>
                    <a:pt x="1492" y="896"/>
                    <a:pt x="1494" y="882"/>
                  </a:cubicBezTo>
                  <a:cubicBezTo>
                    <a:pt x="1535" y="881"/>
                    <a:pt x="1573" y="875"/>
                    <a:pt x="1604" y="865"/>
                  </a:cubicBezTo>
                  <a:cubicBezTo>
                    <a:pt x="1607" y="824"/>
                    <a:pt x="1607" y="782"/>
                    <a:pt x="1604" y="742"/>
                  </a:cubicBezTo>
                  <a:cubicBezTo>
                    <a:pt x="1574" y="731"/>
                    <a:pt x="1536" y="725"/>
                    <a:pt x="1495" y="724"/>
                  </a:cubicBezTo>
                  <a:cubicBezTo>
                    <a:pt x="1492" y="696"/>
                    <a:pt x="1487" y="668"/>
                    <a:pt x="1481" y="641"/>
                  </a:cubicBezTo>
                  <a:cubicBezTo>
                    <a:pt x="1519" y="626"/>
                    <a:pt x="1553" y="607"/>
                    <a:pt x="1578" y="587"/>
                  </a:cubicBezTo>
                  <a:cubicBezTo>
                    <a:pt x="1567" y="547"/>
                    <a:pt x="1553" y="509"/>
                    <a:pt x="1536" y="472"/>
                  </a:cubicBezTo>
                  <a:cubicBezTo>
                    <a:pt x="1504" y="472"/>
                    <a:pt x="1466" y="479"/>
                    <a:pt x="1427" y="492"/>
                  </a:cubicBezTo>
                  <a:cubicBezTo>
                    <a:pt x="1415" y="467"/>
                    <a:pt x="1401" y="442"/>
                    <a:pt x="1385" y="419"/>
                  </a:cubicBezTo>
                  <a:cubicBezTo>
                    <a:pt x="1417" y="392"/>
                    <a:pt x="1442" y="362"/>
                    <a:pt x="1459" y="335"/>
                  </a:cubicBezTo>
                  <a:cubicBezTo>
                    <a:pt x="1435" y="302"/>
                    <a:pt x="1409" y="270"/>
                    <a:pt x="1380" y="241"/>
                  </a:cubicBezTo>
                  <a:cubicBezTo>
                    <a:pt x="1350" y="252"/>
                    <a:pt x="1317" y="271"/>
                    <a:pt x="1284" y="297"/>
                  </a:cubicBezTo>
                  <a:cubicBezTo>
                    <a:pt x="1264" y="278"/>
                    <a:pt x="1243" y="260"/>
                    <a:pt x="1220" y="243"/>
                  </a:cubicBezTo>
                  <a:cubicBezTo>
                    <a:pt x="1240" y="206"/>
                    <a:pt x="1254" y="170"/>
                    <a:pt x="1260" y="139"/>
                  </a:cubicBezTo>
                  <a:cubicBezTo>
                    <a:pt x="1227" y="116"/>
                    <a:pt x="1192" y="95"/>
                    <a:pt x="1154" y="77"/>
                  </a:cubicBezTo>
                  <a:cubicBezTo>
                    <a:pt x="1130" y="98"/>
                    <a:pt x="1105" y="127"/>
                    <a:pt x="1084" y="163"/>
                  </a:cubicBezTo>
                  <a:cubicBezTo>
                    <a:pt x="1058" y="152"/>
                    <a:pt x="1032" y="142"/>
                    <a:pt x="1005" y="134"/>
                  </a:cubicBezTo>
                  <a:cubicBezTo>
                    <a:pt x="1011" y="93"/>
                    <a:pt x="1012" y="54"/>
                    <a:pt x="1007" y="23"/>
                  </a:cubicBezTo>
                  <a:cubicBezTo>
                    <a:pt x="987" y="17"/>
                    <a:pt x="967" y="13"/>
                    <a:pt x="947" y="9"/>
                  </a:cubicBezTo>
                  <a:cubicBezTo>
                    <a:pt x="927" y="6"/>
                    <a:pt x="906" y="3"/>
                    <a:pt x="886" y="1"/>
                  </a:cubicBezTo>
                  <a:cubicBezTo>
                    <a:pt x="870" y="29"/>
                    <a:pt x="857" y="65"/>
                    <a:pt x="849" y="106"/>
                  </a:cubicBezTo>
                  <a:cubicBezTo>
                    <a:pt x="821" y="104"/>
                    <a:pt x="793" y="103"/>
                    <a:pt x="765" y="105"/>
                  </a:cubicBezTo>
                  <a:cubicBezTo>
                    <a:pt x="757" y="64"/>
                    <a:pt x="744" y="28"/>
                    <a:pt x="729" y="0"/>
                  </a:cubicBezTo>
                  <a:cubicBezTo>
                    <a:pt x="688" y="3"/>
                    <a:pt x="647" y="10"/>
                    <a:pt x="608" y="20"/>
                  </a:cubicBezTo>
                  <a:cubicBezTo>
                    <a:pt x="603" y="52"/>
                    <a:pt x="603" y="91"/>
                    <a:pt x="609" y="132"/>
                  </a:cubicBezTo>
                  <a:cubicBezTo>
                    <a:pt x="582" y="140"/>
                    <a:pt x="556" y="149"/>
                    <a:pt x="530" y="160"/>
                  </a:cubicBezTo>
                  <a:cubicBezTo>
                    <a:pt x="509" y="124"/>
                    <a:pt x="484" y="95"/>
                    <a:pt x="460" y="73"/>
                  </a:cubicBezTo>
                  <a:cubicBezTo>
                    <a:pt x="423" y="91"/>
                    <a:pt x="387" y="111"/>
                    <a:pt x="353" y="134"/>
                  </a:cubicBezTo>
                  <a:cubicBezTo>
                    <a:pt x="359" y="166"/>
                    <a:pt x="373" y="202"/>
                    <a:pt x="392" y="239"/>
                  </a:cubicBezTo>
                  <a:cubicBezTo>
                    <a:pt x="370" y="255"/>
                    <a:pt x="348" y="273"/>
                    <a:pt x="328" y="292"/>
                  </a:cubicBezTo>
                  <a:cubicBezTo>
                    <a:pt x="295" y="266"/>
                    <a:pt x="262" y="246"/>
                    <a:pt x="233" y="235"/>
                  </a:cubicBezTo>
                  <a:cubicBezTo>
                    <a:pt x="204" y="264"/>
                    <a:pt x="177" y="295"/>
                    <a:pt x="153" y="328"/>
                  </a:cubicBezTo>
                  <a:cubicBezTo>
                    <a:pt x="169" y="356"/>
                    <a:pt x="194" y="385"/>
                    <a:pt x="225" y="413"/>
                  </a:cubicBezTo>
                  <a:cubicBezTo>
                    <a:pt x="210" y="436"/>
                    <a:pt x="196" y="460"/>
                    <a:pt x="183" y="486"/>
                  </a:cubicBezTo>
                  <a:cubicBezTo>
                    <a:pt x="144" y="472"/>
                    <a:pt x="106" y="465"/>
                    <a:pt x="74" y="464"/>
                  </a:cubicBezTo>
                  <a:cubicBezTo>
                    <a:pt x="57" y="501"/>
                    <a:pt x="43" y="539"/>
                    <a:pt x="31" y="579"/>
                  </a:cubicBezTo>
                  <a:cubicBezTo>
                    <a:pt x="56" y="599"/>
                    <a:pt x="89" y="619"/>
                    <a:pt x="128" y="634"/>
                  </a:cubicBezTo>
                  <a:cubicBezTo>
                    <a:pt x="125" y="647"/>
                    <a:pt x="122" y="661"/>
                    <a:pt x="119" y="675"/>
                  </a:cubicBezTo>
                  <a:cubicBezTo>
                    <a:pt x="117" y="689"/>
                    <a:pt x="115" y="703"/>
                    <a:pt x="113" y="717"/>
                  </a:cubicBezTo>
                  <a:cubicBezTo>
                    <a:pt x="72" y="717"/>
                    <a:pt x="33" y="724"/>
                    <a:pt x="3" y="734"/>
                  </a:cubicBezTo>
                  <a:cubicBezTo>
                    <a:pt x="0" y="775"/>
                    <a:pt x="0" y="816"/>
                    <a:pt x="2" y="857"/>
                  </a:cubicBezTo>
                  <a:cubicBezTo>
                    <a:pt x="33" y="867"/>
                    <a:pt x="71" y="874"/>
                    <a:pt x="112" y="875"/>
                  </a:cubicBezTo>
                  <a:cubicBezTo>
                    <a:pt x="115" y="903"/>
                    <a:pt x="120" y="931"/>
                    <a:pt x="126" y="958"/>
                  </a:cubicBezTo>
                  <a:cubicBezTo>
                    <a:pt x="87" y="973"/>
                    <a:pt x="54" y="992"/>
                    <a:pt x="29" y="1011"/>
                  </a:cubicBezTo>
                  <a:cubicBezTo>
                    <a:pt x="40" y="1051"/>
                    <a:pt x="54" y="1090"/>
                    <a:pt x="70" y="1127"/>
                  </a:cubicBezTo>
                  <a:cubicBezTo>
                    <a:pt x="102" y="1127"/>
                    <a:pt x="140" y="1120"/>
                    <a:pt x="180" y="1107"/>
                  </a:cubicBezTo>
                  <a:cubicBezTo>
                    <a:pt x="192" y="1132"/>
                    <a:pt x="206" y="1156"/>
                    <a:pt x="221" y="1180"/>
                  </a:cubicBezTo>
                  <a:cubicBezTo>
                    <a:pt x="190" y="1207"/>
                    <a:pt x="165" y="1236"/>
                    <a:pt x="148" y="1263"/>
                  </a:cubicBezTo>
                  <a:cubicBezTo>
                    <a:pt x="172" y="1297"/>
                    <a:pt x="198" y="1329"/>
                    <a:pt x="227" y="1358"/>
                  </a:cubicBezTo>
                  <a:cubicBezTo>
                    <a:pt x="257" y="1347"/>
                    <a:pt x="290" y="1327"/>
                    <a:pt x="322" y="1301"/>
                  </a:cubicBezTo>
                  <a:cubicBezTo>
                    <a:pt x="343" y="1321"/>
                    <a:pt x="364" y="1339"/>
                    <a:pt x="387" y="1356"/>
                  </a:cubicBezTo>
                  <a:cubicBezTo>
                    <a:pt x="366" y="1392"/>
                    <a:pt x="353" y="1428"/>
                    <a:pt x="346" y="1460"/>
                  </a:cubicBezTo>
                  <a:cubicBezTo>
                    <a:pt x="380" y="1483"/>
                    <a:pt x="415" y="1504"/>
                    <a:pt x="452" y="1522"/>
                  </a:cubicBezTo>
                  <a:cubicBezTo>
                    <a:pt x="477" y="1501"/>
                    <a:pt x="502" y="1471"/>
                    <a:pt x="523" y="1436"/>
                  </a:cubicBezTo>
                  <a:cubicBezTo>
                    <a:pt x="549" y="1447"/>
                    <a:pt x="575" y="1457"/>
                    <a:pt x="602" y="1465"/>
                  </a:cubicBezTo>
                  <a:cubicBezTo>
                    <a:pt x="596" y="1506"/>
                    <a:pt x="595" y="1544"/>
                    <a:pt x="600" y="1576"/>
                  </a:cubicBezTo>
                  <a:cubicBezTo>
                    <a:pt x="620" y="1581"/>
                    <a:pt x="640" y="1586"/>
                    <a:pt x="660" y="1589"/>
                  </a:cubicBezTo>
                  <a:cubicBezTo>
                    <a:pt x="680" y="1593"/>
                    <a:pt x="701" y="1596"/>
                    <a:pt x="721" y="1598"/>
                  </a:cubicBezTo>
                  <a:cubicBezTo>
                    <a:pt x="736" y="1570"/>
                    <a:pt x="750" y="1534"/>
                    <a:pt x="758" y="1493"/>
                  </a:cubicBezTo>
                  <a:cubicBezTo>
                    <a:pt x="786" y="1495"/>
                    <a:pt x="814" y="1495"/>
                    <a:pt x="842" y="1494"/>
                  </a:cubicBezTo>
                  <a:cubicBezTo>
                    <a:pt x="850" y="1534"/>
                    <a:pt x="863" y="1571"/>
                    <a:pt x="878" y="1599"/>
                  </a:cubicBezTo>
                  <a:cubicBezTo>
                    <a:pt x="919" y="1595"/>
                    <a:pt x="959" y="1588"/>
                    <a:pt x="999" y="1578"/>
                  </a:cubicBezTo>
                  <a:cubicBezTo>
                    <a:pt x="1004" y="1547"/>
                    <a:pt x="1004" y="1508"/>
                    <a:pt x="998" y="1467"/>
                  </a:cubicBezTo>
                  <a:cubicBezTo>
                    <a:pt x="1025" y="1459"/>
                    <a:pt x="1051" y="1450"/>
                    <a:pt x="1077" y="1439"/>
                  </a:cubicBezTo>
                  <a:cubicBezTo>
                    <a:pt x="1098" y="1474"/>
                    <a:pt x="1123" y="1504"/>
                    <a:pt x="1147" y="1525"/>
                  </a:cubicBezTo>
                  <a:cubicBezTo>
                    <a:pt x="1184" y="1508"/>
                    <a:pt x="1220" y="1487"/>
                    <a:pt x="1253" y="1464"/>
                  </a:cubicBezTo>
                  <a:cubicBezTo>
                    <a:pt x="1248" y="1433"/>
                    <a:pt x="1234" y="1397"/>
                    <a:pt x="1214" y="1360"/>
                  </a:cubicBezTo>
                  <a:cubicBezTo>
                    <a:pt x="1237" y="1344"/>
                    <a:pt x="1259" y="1326"/>
                    <a:pt x="1279" y="1306"/>
                  </a:cubicBezTo>
                  <a:cubicBezTo>
                    <a:pt x="1311" y="1333"/>
                    <a:pt x="1345" y="1352"/>
                    <a:pt x="1374" y="1364"/>
                  </a:cubicBezTo>
                  <a:cubicBezTo>
                    <a:pt x="1403" y="1335"/>
                    <a:pt x="1430" y="1304"/>
                    <a:pt x="1454" y="1270"/>
                  </a:cubicBezTo>
                  <a:cubicBezTo>
                    <a:pt x="1438" y="1243"/>
                    <a:pt x="1413" y="1213"/>
                    <a:pt x="1382" y="1186"/>
                  </a:cubicBezTo>
                  <a:cubicBezTo>
                    <a:pt x="1397" y="1163"/>
                    <a:pt x="1411" y="1138"/>
                    <a:pt x="1424" y="1113"/>
                  </a:cubicBezTo>
                  <a:cubicBezTo>
                    <a:pt x="1463" y="1127"/>
                    <a:pt x="1501" y="1134"/>
                    <a:pt x="1533" y="1135"/>
                  </a:cubicBezTo>
                  <a:cubicBezTo>
                    <a:pt x="1550" y="1098"/>
                    <a:pt x="1564" y="1059"/>
                    <a:pt x="1576" y="1019"/>
                  </a:cubicBezTo>
                  <a:cubicBezTo>
                    <a:pt x="1551" y="999"/>
                    <a:pt x="1517" y="980"/>
                    <a:pt x="1479" y="965"/>
                  </a:cubicBezTo>
                  <a:close/>
                  <a:moveTo>
                    <a:pt x="700" y="1370"/>
                  </a:moveTo>
                  <a:cubicBezTo>
                    <a:pt x="384" y="1313"/>
                    <a:pt x="175" y="1011"/>
                    <a:pt x="232" y="696"/>
                  </a:cubicBezTo>
                  <a:cubicBezTo>
                    <a:pt x="290" y="380"/>
                    <a:pt x="592" y="171"/>
                    <a:pt x="907" y="228"/>
                  </a:cubicBezTo>
                  <a:cubicBezTo>
                    <a:pt x="1223" y="286"/>
                    <a:pt x="1432" y="588"/>
                    <a:pt x="1374" y="903"/>
                  </a:cubicBezTo>
                  <a:cubicBezTo>
                    <a:pt x="1317" y="1218"/>
                    <a:pt x="1015" y="1428"/>
                    <a:pt x="700" y="1370"/>
                  </a:cubicBezTo>
                  <a:close/>
                </a:path>
              </a:pathLst>
            </a:custGeom>
            <a:solidFill>
              <a:schemeClr val="accent1"/>
            </a:solidFill>
            <a:ln cap="flat">
              <a:prstDash val="solid"/>
            </a:ln>
          </p:spPr>
          <p:txBody>
            <a:bodyPr vert="horz" wrap="square" lIns="91440" tIns="45720" rIns="91440" bIns="45720" anchor="t">
              <a:prstTxWarp prst="textNoShape">
                <a:avLst/>
              </a:prstTxWarp>
              <a:normAutofit/>
            </a:bodyPr>
            <a:lstStyle/>
            <a:p>
              <a:pPr marL="0" algn="l"/>
              <a:endParaRPr/>
            </a:p>
          </p:txBody>
        </p:sp>
        <p:sp>
          <p:nvSpPr>
            <p:cNvPr id="22" name="Freeform 22"/>
            <p:cNvSpPr/>
            <p:nvPr/>
          </p:nvSpPr>
          <p:spPr>
            <a:xfrm>
              <a:off x="6811977" y="3422855"/>
              <a:ext cx="1266139" cy="1263196"/>
            </a:xfrm>
            <a:custGeom>
              <a:avLst/>
              <a:gdLst/>
              <a:ahLst/>
              <a:cxnLst/>
              <a:rect l="l" t="t" r="r" b="b"/>
              <a:pathLst>
                <a:path w="1607" h="1599">
                  <a:moveTo>
                    <a:pt x="1479" y="965"/>
                  </a:moveTo>
                  <a:cubicBezTo>
                    <a:pt x="1482" y="951"/>
                    <a:pt x="1485" y="937"/>
                    <a:pt x="1487" y="924"/>
                  </a:cubicBezTo>
                  <a:cubicBezTo>
                    <a:pt x="1490" y="910"/>
                    <a:pt x="1492" y="896"/>
                    <a:pt x="1494" y="882"/>
                  </a:cubicBezTo>
                  <a:cubicBezTo>
                    <a:pt x="1535" y="881"/>
                    <a:pt x="1573" y="875"/>
                    <a:pt x="1604" y="865"/>
                  </a:cubicBezTo>
                  <a:cubicBezTo>
                    <a:pt x="1607" y="824"/>
                    <a:pt x="1607" y="782"/>
                    <a:pt x="1604" y="742"/>
                  </a:cubicBezTo>
                  <a:cubicBezTo>
                    <a:pt x="1574" y="731"/>
                    <a:pt x="1536" y="725"/>
                    <a:pt x="1495" y="724"/>
                  </a:cubicBezTo>
                  <a:cubicBezTo>
                    <a:pt x="1492" y="696"/>
                    <a:pt x="1487" y="668"/>
                    <a:pt x="1481" y="641"/>
                  </a:cubicBezTo>
                  <a:cubicBezTo>
                    <a:pt x="1519" y="626"/>
                    <a:pt x="1553" y="607"/>
                    <a:pt x="1578" y="587"/>
                  </a:cubicBezTo>
                  <a:cubicBezTo>
                    <a:pt x="1567" y="547"/>
                    <a:pt x="1553" y="509"/>
                    <a:pt x="1536" y="472"/>
                  </a:cubicBezTo>
                  <a:cubicBezTo>
                    <a:pt x="1504" y="472"/>
                    <a:pt x="1466" y="479"/>
                    <a:pt x="1427" y="492"/>
                  </a:cubicBezTo>
                  <a:cubicBezTo>
                    <a:pt x="1415" y="467"/>
                    <a:pt x="1401" y="442"/>
                    <a:pt x="1385" y="419"/>
                  </a:cubicBezTo>
                  <a:cubicBezTo>
                    <a:pt x="1417" y="392"/>
                    <a:pt x="1442" y="362"/>
                    <a:pt x="1459" y="335"/>
                  </a:cubicBezTo>
                  <a:cubicBezTo>
                    <a:pt x="1435" y="302"/>
                    <a:pt x="1409" y="270"/>
                    <a:pt x="1380" y="241"/>
                  </a:cubicBezTo>
                  <a:cubicBezTo>
                    <a:pt x="1350" y="252"/>
                    <a:pt x="1317" y="271"/>
                    <a:pt x="1284" y="297"/>
                  </a:cubicBezTo>
                  <a:cubicBezTo>
                    <a:pt x="1264" y="278"/>
                    <a:pt x="1243" y="260"/>
                    <a:pt x="1220" y="243"/>
                  </a:cubicBezTo>
                  <a:cubicBezTo>
                    <a:pt x="1240" y="206"/>
                    <a:pt x="1254" y="170"/>
                    <a:pt x="1260" y="139"/>
                  </a:cubicBezTo>
                  <a:cubicBezTo>
                    <a:pt x="1227" y="116"/>
                    <a:pt x="1192" y="95"/>
                    <a:pt x="1154" y="77"/>
                  </a:cubicBezTo>
                  <a:cubicBezTo>
                    <a:pt x="1130" y="98"/>
                    <a:pt x="1105" y="127"/>
                    <a:pt x="1084" y="163"/>
                  </a:cubicBezTo>
                  <a:cubicBezTo>
                    <a:pt x="1058" y="152"/>
                    <a:pt x="1032" y="142"/>
                    <a:pt x="1005" y="134"/>
                  </a:cubicBezTo>
                  <a:cubicBezTo>
                    <a:pt x="1011" y="93"/>
                    <a:pt x="1012" y="54"/>
                    <a:pt x="1007" y="23"/>
                  </a:cubicBezTo>
                  <a:cubicBezTo>
                    <a:pt x="987" y="17"/>
                    <a:pt x="967" y="13"/>
                    <a:pt x="947" y="9"/>
                  </a:cubicBezTo>
                  <a:cubicBezTo>
                    <a:pt x="927" y="6"/>
                    <a:pt x="906" y="3"/>
                    <a:pt x="886" y="1"/>
                  </a:cubicBezTo>
                  <a:cubicBezTo>
                    <a:pt x="870" y="29"/>
                    <a:pt x="857" y="65"/>
                    <a:pt x="849" y="106"/>
                  </a:cubicBezTo>
                  <a:cubicBezTo>
                    <a:pt x="821" y="104"/>
                    <a:pt x="793" y="103"/>
                    <a:pt x="765" y="105"/>
                  </a:cubicBezTo>
                  <a:cubicBezTo>
                    <a:pt x="757" y="64"/>
                    <a:pt x="744" y="28"/>
                    <a:pt x="729" y="0"/>
                  </a:cubicBezTo>
                  <a:cubicBezTo>
                    <a:pt x="688" y="3"/>
                    <a:pt x="647" y="10"/>
                    <a:pt x="608" y="20"/>
                  </a:cubicBezTo>
                  <a:cubicBezTo>
                    <a:pt x="603" y="52"/>
                    <a:pt x="603" y="91"/>
                    <a:pt x="609" y="132"/>
                  </a:cubicBezTo>
                  <a:cubicBezTo>
                    <a:pt x="582" y="140"/>
                    <a:pt x="556" y="149"/>
                    <a:pt x="530" y="160"/>
                  </a:cubicBezTo>
                  <a:cubicBezTo>
                    <a:pt x="509" y="124"/>
                    <a:pt x="484" y="95"/>
                    <a:pt x="460" y="73"/>
                  </a:cubicBezTo>
                  <a:cubicBezTo>
                    <a:pt x="423" y="91"/>
                    <a:pt x="387" y="111"/>
                    <a:pt x="353" y="134"/>
                  </a:cubicBezTo>
                  <a:cubicBezTo>
                    <a:pt x="359" y="166"/>
                    <a:pt x="373" y="202"/>
                    <a:pt x="392" y="239"/>
                  </a:cubicBezTo>
                  <a:cubicBezTo>
                    <a:pt x="370" y="255"/>
                    <a:pt x="348" y="273"/>
                    <a:pt x="328" y="292"/>
                  </a:cubicBezTo>
                  <a:cubicBezTo>
                    <a:pt x="295" y="266"/>
                    <a:pt x="262" y="246"/>
                    <a:pt x="233" y="235"/>
                  </a:cubicBezTo>
                  <a:cubicBezTo>
                    <a:pt x="204" y="264"/>
                    <a:pt x="177" y="295"/>
                    <a:pt x="153" y="328"/>
                  </a:cubicBezTo>
                  <a:cubicBezTo>
                    <a:pt x="169" y="356"/>
                    <a:pt x="194" y="385"/>
                    <a:pt x="225" y="413"/>
                  </a:cubicBezTo>
                  <a:cubicBezTo>
                    <a:pt x="210" y="436"/>
                    <a:pt x="196" y="460"/>
                    <a:pt x="183" y="486"/>
                  </a:cubicBezTo>
                  <a:cubicBezTo>
                    <a:pt x="144" y="472"/>
                    <a:pt x="106" y="465"/>
                    <a:pt x="74" y="464"/>
                  </a:cubicBezTo>
                  <a:cubicBezTo>
                    <a:pt x="57" y="501"/>
                    <a:pt x="43" y="539"/>
                    <a:pt x="31" y="579"/>
                  </a:cubicBezTo>
                  <a:cubicBezTo>
                    <a:pt x="56" y="599"/>
                    <a:pt x="89" y="619"/>
                    <a:pt x="128" y="634"/>
                  </a:cubicBezTo>
                  <a:cubicBezTo>
                    <a:pt x="125" y="647"/>
                    <a:pt x="122" y="661"/>
                    <a:pt x="119" y="675"/>
                  </a:cubicBezTo>
                  <a:cubicBezTo>
                    <a:pt x="117" y="689"/>
                    <a:pt x="115" y="703"/>
                    <a:pt x="113" y="717"/>
                  </a:cubicBezTo>
                  <a:cubicBezTo>
                    <a:pt x="72" y="717"/>
                    <a:pt x="33" y="724"/>
                    <a:pt x="3" y="734"/>
                  </a:cubicBezTo>
                  <a:cubicBezTo>
                    <a:pt x="0" y="775"/>
                    <a:pt x="0" y="816"/>
                    <a:pt x="2" y="857"/>
                  </a:cubicBezTo>
                  <a:cubicBezTo>
                    <a:pt x="33" y="867"/>
                    <a:pt x="71" y="874"/>
                    <a:pt x="112" y="875"/>
                  </a:cubicBezTo>
                  <a:cubicBezTo>
                    <a:pt x="115" y="903"/>
                    <a:pt x="120" y="931"/>
                    <a:pt x="126" y="958"/>
                  </a:cubicBezTo>
                  <a:cubicBezTo>
                    <a:pt x="87" y="973"/>
                    <a:pt x="54" y="992"/>
                    <a:pt x="29" y="1011"/>
                  </a:cubicBezTo>
                  <a:cubicBezTo>
                    <a:pt x="40" y="1051"/>
                    <a:pt x="54" y="1090"/>
                    <a:pt x="70" y="1127"/>
                  </a:cubicBezTo>
                  <a:cubicBezTo>
                    <a:pt x="102" y="1127"/>
                    <a:pt x="140" y="1120"/>
                    <a:pt x="180" y="1107"/>
                  </a:cubicBezTo>
                  <a:cubicBezTo>
                    <a:pt x="192" y="1132"/>
                    <a:pt x="206" y="1156"/>
                    <a:pt x="221" y="1180"/>
                  </a:cubicBezTo>
                  <a:cubicBezTo>
                    <a:pt x="190" y="1207"/>
                    <a:pt x="165" y="1236"/>
                    <a:pt x="148" y="1263"/>
                  </a:cubicBezTo>
                  <a:cubicBezTo>
                    <a:pt x="172" y="1297"/>
                    <a:pt x="198" y="1329"/>
                    <a:pt x="227" y="1358"/>
                  </a:cubicBezTo>
                  <a:cubicBezTo>
                    <a:pt x="257" y="1347"/>
                    <a:pt x="290" y="1327"/>
                    <a:pt x="322" y="1301"/>
                  </a:cubicBezTo>
                  <a:cubicBezTo>
                    <a:pt x="343" y="1321"/>
                    <a:pt x="364" y="1339"/>
                    <a:pt x="387" y="1356"/>
                  </a:cubicBezTo>
                  <a:cubicBezTo>
                    <a:pt x="366" y="1392"/>
                    <a:pt x="353" y="1428"/>
                    <a:pt x="346" y="1460"/>
                  </a:cubicBezTo>
                  <a:cubicBezTo>
                    <a:pt x="380" y="1483"/>
                    <a:pt x="415" y="1504"/>
                    <a:pt x="452" y="1522"/>
                  </a:cubicBezTo>
                  <a:cubicBezTo>
                    <a:pt x="477" y="1501"/>
                    <a:pt x="502" y="1471"/>
                    <a:pt x="523" y="1436"/>
                  </a:cubicBezTo>
                  <a:cubicBezTo>
                    <a:pt x="549" y="1447"/>
                    <a:pt x="575" y="1457"/>
                    <a:pt x="602" y="1465"/>
                  </a:cubicBezTo>
                  <a:cubicBezTo>
                    <a:pt x="596" y="1506"/>
                    <a:pt x="595" y="1544"/>
                    <a:pt x="600" y="1576"/>
                  </a:cubicBezTo>
                  <a:cubicBezTo>
                    <a:pt x="620" y="1581"/>
                    <a:pt x="640" y="1586"/>
                    <a:pt x="660" y="1589"/>
                  </a:cubicBezTo>
                  <a:cubicBezTo>
                    <a:pt x="680" y="1593"/>
                    <a:pt x="701" y="1596"/>
                    <a:pt x="721" y="1598"/>
                  </a:cubicBezTo>
                  <a:cubicBezTo>
                    <a:pt x="736" y="1570"/>
                    <a:pt x="750" y="1534"/>
                    <a:pt x="758" y="1493"/>
                  </a:cubicBezTo>
                  <a:cubicBezTo>
                    <a:pt x="786" y="1495"/>
                    <a:pt x="814" y="1495"/>
                    <a:pt x="842" y="1494"/>
                  </a:cubicBezTo>
                  <a:cubicBezTo>
                    <a:pt x="850" y="1534"/>
                    <a:pt x="863" y="1571"/>
                    <a:pt x="878" y="1599"/>
                  </a:cubicBezTo>
                  <a:cubicBezTo>
                    <a:pt x="919" y="1595"/>
                    <a:pt x="959" y="1588"/>
                    <a:pt x="999" y="1578"/>
                  </a:cubicBezTo>
                  <a:cubicBezTo>
                    <a:pt x="1004" y="1547"/>
                    <a:pt x="1004" y="1508"/>
                    <a:pt x="998" y="1467"/>
                  </a:cubicBezTo>
                  <a:cubicBezTo>
                    <a:pt x="1025" y="1459"/>
                    <a:pt x="1051" y="1450"/>
                    <a:pt x="1077" y="1439"/>
                  </a:cubicBezTo>
                  <a:cubicBezTo>
                    <a:pt x="1098" y="1474"/>
                    <a:pt x="1123" y="1504"/>
                    <a:pt x="1147" y="1525"/>
                  </a:cubicBezTo>
                  <a:cubicBezTo>
                    <a:pt x="1184" y="1508"/>
                    <a:pt x="1220" y="1487"/>
                    <a:pt x="1253" y="1464"/>
                  </a:cubicBezTo>
                  <a:cubicBezTo>
                    <a:pt x="1248" y="1433"/>
                    <a:pt x="1234" y="1397"/>
                    <a:pt x="1214" y="1360"/>
                  </a:cubicBezTo>
                  <a:cubicBezTo>
                    <a:pt x="1237" y="1344"/>
                    <a:pt x="1259" y="1326"/>
                    <a:pt x="1279" y="1306"/>
                  </a:cubicBezTo>
                  <a:cubicBezTo>
                    <a:pt x="1311" y="1333"/>
                    <a:pt x="1345" y="1352"/>
                    <a:pt x="1374" y="1364"/>
                  </a:cubicBezTo>
                  <a:cubicBezTo>
                    <a:pt x="1403" y="1335"/>
                    <a:pt x="1430" y="1304"/>
                    <a:pt x="1454" y="1270"/>
                  </a:cubicBezTo>
                  <a:cubicBezTo>
                    <a:pt x="1438" y="1243"/>
                    <a:pt x="1413" y="1213"/>
                    <a:pt x="1382" y="1186"/>
                  </a:cubicBezTo>
                  <a:cubicBezTo>
                    <a:pt x="1397" y="1163"/>
                    <a:pt x="1411" y="1138"/>
                    <a:pt x="1424" y="1113"/>
                  </a:cubicBezTo>
                  <a:cubicBezTo>
                    <a:pt x="1463" y="1127"/>
                    <a:pt x="1501" y="1134"/>
                    <a:pt x="1533" y="1135"/>
                  </a:cubicBezTo>
                  <a:cubicBezTo>
                    <a:pt x="1550" y="1098"/>
                    <a:pt x="1564" y="1059"/>
                    <a:pt x="1576" y="1019"/>
                  </a:cubicBezTo>
                  <a:cubicBezTo>
                    <a:pt x="1551" y="999"/>
                    <a:pt x="1517" y="980"/>
                    <a:pt x="1479" y="965"/>
                  </a:cubicBezTo>
                  <a:close/>
                  <a:moveTo>
                    <a:pt x="700" y="1370"/>
                  </a:moveTo>
                  <a:cubicBezTo>
                    <a:pt x="384" y="1313"/>
                    <a:pt x="175" y="1011"/>
                    <a:pt x="232" y="696"/>
                  </a:cubicBezTo>
                  <a:cubicBezTo>
                    <a:pt x="290" y="380"/>
                    <a:pt x="592" y="171"/>
                    <a:pt x="907" y="228"/>
                  </a:cubicBezTo>
                  <a:cubicBezTo>
                    <a:pt x="1223" y="286"/>
                    <a:pt x="1432" y="588"/>
                    <a:pt x="1374" y="903"/>
                  </a:cubicBezTo>
                  <a:cubicBezTo>
                    <a:pt x="1317" y="1218"/>
                    <a:pt x="1015" y="1428"/>
                    <a:pt x="700" y="1370"/>
                  </a:cubicBezTo>
                  <a:close/>
                </a:path>
              </a:pathLst>
            </a:custGeom>
            <a:solidFill>
              <a:srgbClr val="000000">
                <a:lumMod val="50000"/>
                <a:lumOff val="50000"/>
              </a:srgbClr>
            </a:solidFill>
            <a:ln cap="flat">
              <a:prstDash val="solid"/>
            </a:ln>
          </p:spPr>
          <p:txBody>
            <a:bodyPr vert="horz" wrap="square" lIns="91440" tIns="45720" rIns="91440" bIns="45720" anchor="t">
              <a:prstTxWarp prst="textNoShape">
                <a:avLst/>
              </a:prstTxWarp>
              <a:normAutofit/>
            </a:bodyPr>
            <a:lstStyle/>
            <a:p>
              <a:pPr marL="0" algn="l"/>
              <a:endParaRPr/>
            </a:p>
          </p:txBody>
        </p:sp>
        <p:sp>
          <p:nvSpPr>
            <p:cNvPr id="23" name="Freeform 23"/>
            <p:cNvSpPr/>
            <p:nvPr/>
          </p:nvSpPr>
          <p:spPr>
            <a:xfrm>
              <a:off x="7979156" y="3011884"/>
              <a:ext cx="995163" cy="992850"/>
            </a:xfrm>
            <a:custGeom>
              <a:avLst/>
              <a:gdLst/>
              <a:ahLst/>
              <a:cxnLst/>
              <a:rect l="l" t="t" r="r" b="b"/>
              <a:pathLst>
                <a:path w="1607" h="1599">
                  <a:moveTo>
                    <a:pt x="1479" y="965"/>
                  </a:moveTo>
                  <a:cubicBezTo>
                    <a:pt x="1482" y="951"/>
                    <a:pt x="1485" y="937"/>
                    <a:pt x="1487" y="924"/>
                  </a:cubicBezTo>
                  <a:cubicBezTo>
                    <a:pt x="1490" y="910"/>
                    <a:pt x="1492" y="896"/>
                    <a:pt x="1494" y="882"/>
                  </a:cubicBezTo>
                  <a:cubicBezTo>
                    <a:pt x="1535" y="881"/>
                    <a:pt x="1573" y="875"/>
                    <a:pt x="1604" y="865"/>
                  </a:cubicBezTo>
                  <a:cubicBezTo>
                    <a:pt x="1607" y="824"/>
                    <a:pt x="1607" y="782"/>
                    <a:pt x="1604" y="742"/>
                  </a:cubicBezTo>
                  <a:cubicBezTo>
                    <a:pt x="1574" y="731"/>
                    <a:pt x="1536" y="725"/>
                    <a:pt x="1495" y="724"/>
                  </a:cubicBezTo>
                  <a:cubicBezTo>
                    <a:pt x="1492" y="696"/>
                    <a:pt x="1487" y="668"/>
                    <a:pt x="1481" y="641"/>
                  </a:cubicBezTo>
                  <a:cubicBezTo>
                    <a:pt x="1519" y="626"/>
                    <a:pt x="1553" y="607"/>
                    <a:pt x="1578" y="587"/>
                  </a:cubicBezTo>
                  <a:cubicBezTo>
                    <a:pt x="1567" y="547"/>
                    <a:pt x="1553" y="509"/>
                    <a:pt x="1536" y="472"/>
                  </a:cubicBezTo>
                  <a:cubicBezTo>
                    <a:pt x="1504" y="472"/>
                    <a:pt x="1466" y="479"/>
                    <a:pt x="1427" y="492"/>
                  </a:cubicBezTo>
                  <a:cubicBezTo>
                    <a:pt x="1415" y="467"/>
                    <a:pt x="1401" y="442"/>
                    <a:pt x="1385" y="419"/>
                  </a:cubicBezTo>
                  <a:cubicBezTo>
                    <a:pt x="1417" y="392"/>
                    <a:pt x="1442" y="362"/>
                    <a:pt x="1459" y="335"/>
                  </a:cubicBezTo>
                  <a:cubicBezTo>
                    <a:pt x="1435" y="302"/>
                    <a:pt x="1409" y="270"/>
                    <a:pt x="1380" y="241"/>
                  </a:cubicBezTo>
                  <a:cubicBezTo>
                    <a:pt x="1350" y="252"/>
                    <a:pt x="1317" y="271"/>
                    <a:pt x="1284" y="297"/>
                  </a:cubicBezTo>
                  <a:cubicBezTo>
                    <a:pt x="1264" y="278"/>
                    <a:pt x="1243" y="260"/>
                    <a:pt x="1220" y="243"/>
                  </a:cubicBezTo>
                  <a:cubicBezTo>
                    <a:pt x="1240" y="206"/>
                    <a:pt x="1254" y="170"/>
                    <a:pt x="1260" y="139"/>
                  </a:cubicBezTo>
                  <a:cubicBezTo>
                    <a:pt x="1227" y="116"/>
                    <a:pt x="1192" y="95"/>
                    <a:pt x="1154" y="77"/>
                  </a:cubicBezTo>
                  <a:cubicBezTo>
                    <a:pt x="1130" y="98"/>
                    <a:pt x="1105" y="127"/>
                    <a:pt x="1084" y="163"/>
                  </a:cubicBezTo>
                  <a:cubicBezTo>
                    <a:pt x="1058" y="152"/>
                    <a:pt x="1032" y="142"/>
                    <a:pt x="1005" y="134"/>
                  </a:cubicBezTo>
                  <a:cubicBezTo>
                    <a:pt x="1011" y="93"/>
                    <a:pt x="1012" y="54"/>
                    <a:pt x="1007" y="23"/>
                  </a:cubicBezTo>
                  <a:cubicBezTo>
                    <a:pt x="987" y="17"/>
                    <a:pt x="967" y="13"/>
                    <a:pt x="947" y="9"/>
                  </a:cubicBezTo>
                  <a:cubicBezTo>
                    <a:pt x="927" y="6"/>
                    <a:pt x="906" y="3"/>
                    <a:pt x="886" y="1"/>
                  </a:cubicBezTo>
                  <a:cubicBezTo>
                    <a:pt x="870" y="29"/>
                    <a:pt x="857" y="65"/>
                    <a:pt x="849" y="106"/>
                  </a:cubicBezTo>
                  <a:cubicBezTo>
                    <a:pt x="821" y="104"/>
                    <a:pt x="793" y="103"/>
                    <a:pt x="765" y="105"/>
                  </a:cubicBezTo>
                  <a:cubicBezTo>
                    <a:pt x="757" y="64"/>
                    <a:pt x="744" y="28"/>
                    <a:pt x="729" y="0"/>
                  </a:cubicBezTo>
                  <a:cubicBezTo>
                    <a:pt x="688" y="3"/>
                    <a:pt x="647" y="10"/>
                    <a:pt x="608" y="20"/>
                  </a:cubicBezTo>
                  <a:cubicBezTo>
                    <a:pt x="603" y="52"/>
                    <a:pt x="603" y="91"/>
                    <a:pt x="609" y="132"/>
                  </a:cubicBezTo>
                  <a:cubicBezTo>
                    <a:pt x="582" y="140"/>
                    <a:pt x="556" y="149"/>
                    <a:pt x="530" y="160"/>
                  </a:cubicBezTo>
                  <a:cubicBezTo>
                    <a:pt x="509" y="124"/>
                    <a:pt x="484" y="95"/>
                    <a:pt x="460" y="73"/>
                  </a:cubicBezTo>
                  <a:cubicBezTo>
                    <a:pt x="423" y="91"/>
                    <a:pt x="387" y="111"/>
                    <a:pt x="353" y="134"/>
                  </a:cubicBezTo>
                  <a:cubicBezTo>
                    <a:pt x="359" y="166"/>
                    <a:pt x="373" y="202"/>
                    <a:pt x="392" y="239"/>
                  </a:cubicBezTo>
                  <a:cubicBezTo>
                    <a:pt x="370" y="255"/>
                    <a:pt x="348" y="273"/>
                    <a:pt x="328" y="292"/>
                  </a:cubicBezTo>
                  <a:cubicBezTo>
                    <a:pt x="295" y="266"/>
                    <a:pt x="262" y="246"/>
                    <a:pt x="233" y="235"/>
                  </a:cubicBezTo>
                  <a:cubicBezTo>
                    <a:pt x="204" y="264"/>
                    <a:pt x="177" y="295"/>
                    <a:pt x="153" y="328"/>
                  </a:cubicBezTo>
                  <a:cubicBezTo>
                    <a:pt x="169" y="356"/>
                    <a:pt x="194" y="385"/>
                    <a:pt x="225" y="413"/>
                  </a:cubicBezTo>
                  <a:cubicBezTo>
                    <a:pt x="210" y="436"/>
                    <a:pt x="196" y="460"/>
                    <a:pt x="183" y="486"/>
                  </a:cubicBezTo>
                  <a:cubicBezTo>
                    <a:pt x="144" y="472"/>
                    <a:pt x="106" y="465"/>
                    <a:pt x="74" y="464"/>
                  </a:cubicBezTo>
                  <a:cubicBezTo>
                    <a:pt x="57" y="501"/>
                    <a:pt x="43" y="539"/>
                    <a:pt x="31" y="579"/>
                  </a:cubicBezTo>
                  <a:cubicBezTo>
                    <a:pt x="56" y="599"/>
                    <a:pt x="89" y="619"/>
                    <a:pt x="128" y="634"/>
                  </a:cubicBezTo>
                  <a:cubicBezTo>
                    <a:pt x="125" y="647"/>
                    <a:pt x="122" y="661"/>
                    <a:pt x="119" y="675"/>
                  </a:cubicBezTo>
                  <a:cubicBezTo>
                    <a:pt x="117" y="689"/>
                    <a:pt x="115" y="703"/>
                    <a:pt x="113" y="717"/>
                  </a:cubicBezTo>
                  <a:cubicBezTo>
                    <a:pt x="72" y="717"/>
                    <a:pt x="33" y="724"/>
                    <a:pt x="3" y="734"/>
                  </a:cubicBezTo>
                  <a:cubicBezTo>
                    <a:pt x="0" y="775"/>
                    <a:pt x="0" y="816"/>
                    <a:pt x="2" y="857"/>
                  </a:cubicBezTo>
                  <a:cubicBezTo>
                    <a:pt x="33" y="867"/>
                    <a:pt x="71" y="874"/>
                    <a:pt x="112" y="875"/>
                  </a:cubicBezTo>
                  <a:cubicBezTo>
                    <a:pt x="115" y="903"/>
                    <a:pt x="120" y="931"/>
                    <a:pt x="126" y="958"/>
                  </a:cubicBezTo>
                  <a:cubicBezTo>
                    <a:pt x="87" y="973"/>
                    <a:pt x="54" y="992"/>
                    <a:pt x="29" y="1011"/>
                  </a:cubicBezTo>
                  <a:cubicBezTo>
                    <a:pt x="40" y="1051"/>
                    <a:pt x="54" y="1090"/>
                    <a:pt x="70" y="1127"/>
                  </a:cubicBezTo>
                  <a:cubicBezTo>
                    <a:pt x="102" y="1127"/>
                    <a:pt x="140" y="1120"/>
                    <a:pt x="180" y="1107"/>
                  </a:cubicBezTo>
                  <a:cubicBezTo>
                    <a:pt x="192" y="1132"/>
                    <a:pt x="206" y="1156"/>
                    <a:pt x="221" y="1180"/>
                  </a:cubicBezTo>
                  <a:cubicBezTo>
                    <a:pt x="190" y="1207"/>
                    <a:pt x="165" y="1236"/>
                    <a:pt x="148" y="1263"/>
                  </a:cubicBezTo>
                  <a:cubicBezTo>
                    <a:pt x="172" y="1297"/>
                    <a:pt x="198" y="1329"/>
                    <a:pt x="227" y="1358"/>
                  </a:cubicBezTo>
                  <a:cubicBezTo>
                    <a:pt x="257" y="1347"/>
                    <a:pt x="290" y="1327"/>
                    <a:pt x="322" y="1301"/>
                  </a:cubicBezTo>
                  <a:cubicBezTo>
                    <a:pt x="343" y="1321"/>
                    <a:pt x="364" y="1339"/>
                    <a:pt x="387" y="1356"/>
                  </a:cubicBezTo>
                  <a:cubicBezTo>
                    <a:pt x="366" y="1392"/>
                    <a:pt x="353" y="1428"/>
                    <a:pt x="346" y="1460"/>
                  </a:cubicBezTo>
                  <a:cubicBezTo>
                    <a:pt x="380" y="1483"/>
                    <a:pt x="415" y="1504"/>
                    <a:pt x="452" y="1522"/>
                  </a:cubicBezTo>
                  <a:cubicBezTo>
                    <a:pt x="477" y="1501"/>
                    <a:pt x="502" y="1471"/>
                    <a:pt x="523" y="1436"/>
                  </a:cubicBezTo>
                  <a:cubicBezTo>
                    <a:pt x="549" y="1447"/>
                    <a:pt x="575" y="1457"/>
                    <a:pt x="602" y="1465"/>
                  </a:cubicBezTo>
                  <a:cubicBezTo>
                    <a:pt x="596" y="1506"/>
                    <a:pt x="595" y="1544"/>
                    <a:pt x="600" y="1576"/>
                  </a:cubicBezTo>
                  <a:cubicBezTo>
                    <a:pt x="620" y="1581"/>
                    <a:pt x="640" y="1586"/>
                    <a:pt x="660" y="1589"/>
                  </a:cubicBezTo>
                  <a:cubicBezTo>
                    <a:pt x="680" y="1593"/>
                    <a:pt x="701" y="1596"/>
                    <a:pt x="721" y="1598"/>
                  </a:cubicBezTo>
                  <a:cubicBezTo>
                    <a:pt x="736" y="1570"/>
                    <a:pt x="750" y="1534"/>
                    <a:pt x="758" y="1493"/>
                  </a:cubicBezTo>
                  <a:cubicBezTo>
                    <a:pt x="786" y="1495"/>
                    <a:pt x="814" y="1495"/>
                    <a:pt x="842" y="1494"/>
                  </a:cubicBezTo>
                  <a:cubicBezTo>
                    <a:pt x="850" y="1534"/>
                    <a:pt x="863" y="1571"/>
                    <a:pt x="878" y="1599"/>
                  </a:cubicBezTo>
                  <a:cubicBezTo>
                    <a:pt x="919" y="1595"/>
                    <a:pt x="959" y="1588"/>
                    <a:pt x="999" y="1578"/>
                  </a:cubicBezTo>
                  <a:cubicBezTo>
                    <a:pt x="1004" y="1547"/>
                    <a:pt x="1004" y="1508"/>
                    <a:pt x="998" y="1467"/>
                  </a:cubicBezTo>
                  <a:cubicBezTo>
                    <a:pt x="1025" y="1459"/>
                    <a:pt x="1051" y="1450"/>
                    <a:pt x="1077" y="1439"/>
                  </a:cubicBezTo>
                  <a:cubicBezTo>
                    <a:pt x="1098" y="1474"/>
                    <a:pt x="1123" y="1504"/>
                    <a:pt x="1147" y="1525"/>
                  </a:cubicBezTo>
                  <a:cubicBezTo>
                    <a:pt x="1184" y="1508"/>
                    <a:pt x="1220" y="1487"/>
                    <a:pt x="1253" y="1464"/>
                  </a:cubicBezTo>
                  <a:cubicBezTo>
                    <a:pt x="1248" y="1433"/>
                    <a:pt x="1234" y="1397"/>
                    <a:pt x="1214" y="1360"/>
                  </a:cubicBezTo>
                  <a:cubicBezTo>
                    <a:pt x="1237" y="1344"/>
                    <a:pt x="1259" y="1326"/>
                    <a:pt x="1279" y="1306"/>
                  </a:cubicBezTo>
                  <a:cubicBezTo>
                    <a:pt x="1311" y="1333"/>
                    <a:pt x="1345" y="1352"/>
                    <a:pt x="1374" y="1364"/>
                  </a:cubicBezTo>
                  <a:cubicBezTo>
                    <a:pt x="1403" y="1335"/>
                    <a:pt x="1430" y="1304"/>
                    <a:pt x="1454" y="1270"/>
                  </a:cubicBezTo>
                  <a:cubicBezTo>
                    <a:pt x="1438" y="1243"/>
                    <a:pt x="1413" y="1213"/>
                    <a:pt x="1382" y="1186"/>
                  </a:cubicBezTo>
                  <a:cubicBezTo>
                    <a:pt x="1397" y="1163"/>
                    <a:pt x="1411" y="1138"/>
                    <a:pt x="1424" y="1113"/>
                  </a:cubicBezTo>
                  <a:cubicBezTo>
                    <a:pt x="1463" y="1127"/>
                    <a:pt x="1501" y="1134"/>
                    <a:pt x="1533" y="1135"/>
                  </a:cubicBezTo>
                  <a:cubicBezTo>
                    <a:pt x="1550" y="1098"/>
                    <a:pt x="1564" y="1059"/>
                    <a:pt x="1576" y="1019"/>
                  </a:cubicBezTo>
                  <a:cubicBezTo>
                    <a:pt x="1551" y="999"/>
                    <a:pt x="1517" y="980"/>
                    <a:pt x="1479" y="965"/>
                  </a:cubicBezTo>
                  <a:close/>
                  <a:moveTo>
                    <a:pt x="700" y="1370"/>
                  </a:moveTo>
                  <a:cubicBezTo>
                    <a:pt x="384" y="1313"/>
                    <a:pt x="175" y="1011"/>
                    <a:pt x="232" y="696"/>
                  </a:cubicBezTo>
                  <a:cubicBezTo>
                    <a:pt x="290" y="380"/>
                    <a:pt x="592" y="171"/>
                    <a:pt x="907" y="228"/>
                  </a:cubicBezTo>
                  <a:cubicBezTo>
                    <a:pt x="1223" y="286"/>
                    <a:pt x="1432" y="588"/>
                    <a:pt x="1374" y="903"/>
                  </a:cubicBezTo>
                  <a:cubicBezTo>
                    <a:pt x="1317" y="1218"/>
                    <a:pt x="1015" y="1428"/>
                    <a:pt x="700" y="1370"/>
                  </a:cubicBezTo>
                  <a:close/>
                </a:path>
              </a:pathLst>
            </a:custGeom>
            <a:solidFill>
              <a:srgbClr val="FFFFFF">
                <a:lumMod val="65000"/>
              </a:srgbClr>
            </a:solidFill>
            <a:ln cap="flat">
              <a:prstDash val="solid"/>
            </a:ln>
          </p:spPr>
          <p:txBody>
            <a:bodyPr vert="horz" wrap="square" lIns="91440" tIns="45720" rIns="91440" bIns="45720" anchor="t">
              <a:prstTxWarp prst="textNoShape">
                <a:avLst/>
              </a:prstTxWarp>
              <a:normAutofit/>
            </a:bodyPr>
            <a:lstStyle/>
            <a:p>
              <a:pPr marL="0" algn="l"/>
              <a:endParaRPr/>
            </a:p>
          </p:txBody>
        </p:sp>
        <p:sp>
          <p:nvSpPr>
            <p:cNvPr id="24" name="Freeform 24"/>
            <p:cNvSpPr/>
            <p:nvPr/>
          </p:nvSpPr>
          <p:spPr>
            <a:xfrm>
              <a:off x="8306618" y="3344650"/>
              <a:ext cx="340239" cy="327318"/>
            </a:xfrm>
            <a:custGeom>
              <a:avLst/>
              <a:gdLst/>
              <a:ahLst/>
              <a:cxnLst/>
              <a:rect l="l" t="t" r="r" b="b"/>
              <a:pathLst>
                <a:path w="608814" h="585693">
                  <a:moveTo>
                    <a:pt x="195114" y="351627"/>
                  </a:moveTo>
                  <a:lnTo>
                    <a:pt x="258290" y="351627"/>
                  </a:lnTo>
                  <a:cubicBezTo>
                    <a:pt x="271848" y="351627"/>
                    <a:pt x="282731" y="362580"/>
                    <a:pt x="282731" y="376018"/>
                  </a:cubicBezTo>
                  <a:lnTo>
                    <a:pt x="282731" y="561210"/>
                  </a:lnTo>
                  <a:cubicBezTo>
                    <a:pt x="282731" y="574740"/>
                    <a:pt x="271848" y="585693"/>
                    <a:pt x="258290" y="585693"/>
                  </a:cubicBezTo>
                  <a:lnTo>
                    <a:pt x="195114" y="585693"/>
                  </a:lnTo>
                  <a:cubicBezTo>
                    <a:pt x="181556" y="585693"/>
                    <a:pt x="170673" y="574740"/>
                    <a:pt x="170673" y="561210"/>
                  </a:cubicBezTo>
                  <a:lnTo>
                    <a:pt x="170673" y="376018"/>
                  </a:lnTo>
                  <a:cubicBezTo>
                    <a:pt x="170673" y="362580"/>
                    <a:pt x="181556" y="351627"/>
                    <a:pt x="195114" y="351627"/>
                  </a:cubicBezTo>
                  <a:close/>
                  <a:moveTo>
                    <a:pt x="358100" y="249872"/>
                  </a:moveTo>
                  <a:lnTo>
                    <a:pt x="421316" y="249872"/>
                  </a:lnTo>
                  <a:cubicBezTo>
                    <a:pt x="434771" y="249872"/>
                    <a:pt x="445737" y="260735"/>
                    <a:pt x="445737" y="274267"/>
                  </a:cubicBezTo>
                  <a:lnTo>
                    <a:pt x="445737" y="561206"/>
                  </a:lnTo>
                  <a:cubicBezTo>
                    <a:pt x="445737" y="574738"/>
                    <a:pt x="434771" y="585693"/>
                    <a:pt x="421316" y="585693"/>
                  </a:cubicBezTo>
                  <a:lnTo>
                    <a:pt x="358100" y="585693"/>
                  </a:lnTo>
                  <a:cubicBezTo>
                    <a:pt x="344645" y="585693"/>
                    <a:pt x="333679" y="574738"/>
                    <a:pt x="333679" y="561206"/>
                  </a:cubicBezTo>
                  <a:lnTo>
                    <a:pt x="333679" y="274267"/>
                  </a:lnTo>
                  <a:cubicBezTo>
                    <a:pt x="333679" y="260735"/>
                    <a:pt x="344645" y="249872"/>
                    <a:pt x="358100" y="249872"/>
                  </a:cubicBezTo>
                  <a:close/>
                  <a:moveTo>
                    <a:pt x="140260" y="224680"/>
                  </a:moveTo>
                  <a:cubicBezTo>
                    <a:pt x="168749" y="224680"/>
                    <a:pt x="191844" y="247711"/>
                    <a:pt x="191844" y="276122"/>
                  </a:cubicBezTo>
                  <a:cubicBezTo>
                    <a:pt x="191844" y="304533"/>
                    <a:pt x="168749" y="327564"/>
                    <a:pt x="140260" y="327564"/>
                  </a:cubicBezTo>
                  <a:cubicBezTo>
                    <a:pt x="111771" y="327564"/>
                    <a:pt x="88676" y="304533"/>
                    <a:pt x="88676" y="276122"/>
                  </a:cubicBezTo>
                  <a:cubicBezTo>
                    <a:pt x="88676" y="247711"/>
                    <a:pt x="111771" y="224680"/>
                    <a:pt x="140260" y="224680"/>
                  </a:cubicBezTo>
                  <a:close/>
                  <a:moveTo>
                    <a:pt x="521177" y="148117"/>
                  </a:moveTo>
                  <a:lnTo>
                    <a:pt x="584301" y="148117"/>
                  </a:lnTo>
                  <a:cubicBezTo>
                    <a:pt x="597848" y="148117"/>
                    <a:pt x="608814" y="159070"/>
                    <a:pt x="608814" y="172601"/>
                  </a:cubicBezTo>
                  <a:lnTo>
                    <a:pt x="608814" y="561209"/>
                  </a:lnTo>
                  <a:cubicBezTo>
                    <a:pt x="608814" y="574740"/>
                    <a:pt x="597848" y="585693"/>
                    <a:pt x="584301" y="585693"/>
                  </a:cubicBezTo>
                  <a:lnTo>
                    <a:pt x="521177" y="585693"/>
                  </a:lnTo>
                  <a:cubicBezTo>
                    <a:pt x="507722" y="585693"/>
                    <a:pt x="496756" y="574740"/>
                    <a:pt x="496756" y="561209"/>
                  </a:cubicBezTo>
                  <a:lnTo>
                    <a:pt x="496756" y="172601"/>
                  </a:lnTo>
                  <a:cubicBezTo>
                    <a:pt x="496756" y="159070"/>
                    <a:pt x="507722" y="148117"/>
                    <a:pt x="521177" y="148117"/>
                  </a:cubicBezTo>
                  <a:close/>
                  <a:moveTo>
                    <a:pt x="116229" y="131322"/>
                  </a:moveTo>
                  <a:lnTo>
                    <a:pt x="164246" y="131322"/>
                  </a:lnTo>
                  <a:cubicBezTo>
                    <a:pt x="175214" y="131322"/>
                    <a:pt x="184061" y="140159"/>
                    <a:pt x="184061" y="151113"/>
                  </a:cubicBezTo>
                  <a:lnTo>
                    <a:pt x="184061" y="171457"/>
                  </a:lnTo>
                  <a:cubicBezTo>
                    <a:pt x="193001" y="175231"/>
                    <a:pt x="201019" y="180386"/>
                    <a:pt x="208669" y="186094"/>
                  </a:cubicBezTo>
                  <a:lnTo>
                    <a:pt x="226641" y="175692"/>
                  </a:lnTo>
                  <a:cubicBezTo>
                    <a:pt x="236134" y="170261"/>
                    <a:pt x="248300" y="173482"/>
                    <a:pt x="253737" y="182964"/>
                  </a:cubicBezTo>
                  <a:lnTo>
                    <a:pt x="277792" y="224572"/>
                  </a:lnTo>
                  <a:cubicBezTo>
                    <a:pt x="280465" y="229083"/>
                    <a:pt x="281110" y="234514"/>
                    <a:pt x="279727" y="239577"/>
                  </a:cubicBezTo>
                  <a:cubicBezTo>
                    <a:pt x="278437" y="244640"/>
                    <a:pt x="275119" y="248966"/>
                    <a:pt x="270511" y="251544"/>
                  </a:cubicBezTo>
                  <a:lnTo>
                    <a:pt x="252355" y="262038"/>
                  </a:lnTo>
                  <a:cubicBezTo>
                    <a:pt x="253000" y="266733"/>
                    <a:pt x="253829" y="271335"/>
                    <a:pt x="253829" y="276122"/>
                  </a:cubicBezTo>
                  <a:cubicBezTo>
                    <a:pt x="253829" y="281001"/>
                    <a:pt x="253000" y="285604"/>
                    <a:pt x="252355" y="290206"/>
                  </a:cubicBezTo>
                  <a:lnTo>
                    <a:pt x="270511" y="300700"/>
                  </a:lnTo>
                  <a:cubicBezTo>
                    <a:pt x="279174" y="305671"/>
                    <a:pt x="282308" y="316165"/>
                    <a:pt x="278714" y="325094"/>
                  </a:cubicBezTo>
                  <a:cubicBezTo>
                    <a:pt x="272354" y="322609"/>
                    <a:pt x="265442" y="321136"/>
                    <a:pt x="258253" y="321136"/>
                  </a:cubicBezTo>
                  <a:lnTo>
                    <a:pt x="195858" y="321136"/>
                  </a:lnTo>
                  <a:cubicBezTo>
                    <a:pt x="205904" y="308709"/>
                    <a:pt x="212171" y="293244"/>
                    <a:pt x="212171" y="276122"/>
                  </a:cubicBezTo>
                  <a:cubicBezTo>
                    <a:pt x="212171" y="236539"/>
                    <a:pt x="179914" y="204320"/>
                    <a:pt x="140191" y="204320"/>
                  </a:cubicBezTo>
                  <a:cubicBezTo>
                    <a:pt x="100561" y="204320"/>
                    <a:pt x="68304" y="236539"/>
                    <a:pt x="68304" y="276122"/>
                  </a:cubicBezTo>
                  <a:cubicBezTo>
                    <a:pt x="68304" y="315797"/>
                    <a:pt x="100561" y="348016"/>
                    <a:pt x="140191" y="348016"/>
                  </a:cubicBezTo>
                  <a:cubicBezTo>
                    <a:pt x="143048" y="348016"/>
                    <a:pt x="145721" y="347463"/>
                    <a:pt x="148486" y="347095"/>
                  </a:cubicBezTo>
                  <a:cubicBezTo>
                    <a:pt x="143233" y="355564"/>
                    <a:pt x="140099" y="365414"/>
                    <a:pt x="140099" y="376000"/>
                  </a:cubicBezTo>
                  <a:lnTo>
                    <a:pt x="140099" y="420922"/>
                  </a:lnTo>
                  <a:lnTo>
                    <a:pt x="116229" y="420922"/>
                  </a:lnTo>
                  <a:cubicBezTo>
                    <a:pt x="105261" y="420922"/>
                    <a:pt x="96413" y="412085"/>
                    <a:pt x="96413" y="401131"/>
                  </a:cubicBezTo>
                  <a:lnTo>
                    <a:pt x="96413" y="380787"/>
                  </a:lnTo>
                  <a:cubicBezTo>
                    <a:pt x="87474" y="377013"/>
                    <a:pt x="79455" y="371950"/>
                    <a:pt x="71806" y="366150"/>
                  </a:cubicBezTo>
                  <a:lnTo>
                    <a:pt x="53742" y="376552"/>
                  </a:lnTo>
                  <a:cubicBezTo>
                    <a:pt x="49226" y="379222"/>
                    <a:pt x="43788" y="379866"/>
                    <a:pt x="38719" y="378577"/>
                  </a:cubicBezTo>
                  <a:cubicBezTo>
                    <a:pt x="33650" y="377197"/>
                    <a:pt x="29318" y="373883"/>
                    <a:pt x="26738" y="369372"/>
                  </a:cubicBezTo>
                  <a:lnTo>
                    <a:pt x="2683" y="327764"/>
                  </a:lnTo>
                  <a:cubicBezTo>
                    <a:pt x="-2847" y="318282"/>
                    <a:pt x="471" y="306131"/>
                    <a:pt x="9872" y="300700"/>
                  </a:cubicBezTo>
                  <a:lnTo>
                    <a:pt x="28120" y="290206"/>
                  </a:lnTo>
                  <a:cubicBezTo>
                    <a:pt x="27475" y="285604"/>
                    <a:pt x="26645" y="281001"/>
                    <a:pt x="26645" y="276122"/>
                  </a:cubicBezTo>
                  <a:cubicBezTo>
                    <a:pt x="26645" y="271335"/>
                    <a:pt x="27475" y="266733"/>
                    <a:pt x="28120" y="262038"/>
                  </a:cubicBezTo>
                  <a:lnTo>
                    <a:pt x="9872" y="251544"/>
                  </a:lnTo>
                  <a:cubicBezTo>
                    <a:pt x="471" y="246113"/>
                    <a:pt x="-2847" y="233962"/>
                    <a:pt x="2683" y="224572"/>
                  </a:cubicBezTo>
                  <a:lnTo>
                    <a:pt x="26738" y="182964"/>
                  </a:lnTo>
                  <a:cubicBezTo>
                    <a:pt x="29318" y="178361"/>
                    <a:pt x="33650" y="175139"/>
                    <a:pt x="38719" y="173759"/>
                  </a:cubicBezTo>
                  <a:cubicBezTo>
                    <a:pt x="43788" y="172378"/>
                    <a:pt x="49226" y="173114"/>
                    <a:pt x="53742" y="175692"/>
                  </a:cubicBezTo>
                  <a:lnTo>
                    <a:pt x="71806" y="186094"/>
                  </a:lnTo>
                  <a:cubicBezTo>
                    <a:pt x="79455" y="180386"/>
                    <a:pt x="87474" y="175231"/>
                    <a:pt x="96413" y="171457"/>
                  </a:cubicBezTo>
                  <a:lnTo>
                    <a:pt x="96413" y="151113"/>
                  </a:lnTo>
                  <a:cubicBezTo>
                    <a:pt x="96413" y="140159"/>
                    <a:pt x="105261" y="131322"/>
                    <a:pt x="116229" y="131322"/>
                  </a:cubicBezTo>
                  <a:close/>
                  <a:moveTo>
                    <a:pt x="445756" y="83476"/>
                  </a:moveTo>
                  <a:cubicBezTo>
                    <a:pt x="428335" y="83476"/>
                    <a:pt x="414140" y="97557"/>
                    <a:pt x="414140" y="115044"/>
                  </a:cubicBezTo>
                  <a:cubicBezTo>
                    <a:pt x="414140" y="132438"/>
                    <a:pt x="428335" y="146520"/>
                    <a:pt x="445756" y="146520"/>
                  </a:cubicBezTo>
                  <a:cubicBezTo>
                    <a:pt x="463176" y="146520"/>
                    <a:pt x="477371" y="132438"/>
                    <a:pt x="477371" y="115044"/>
                  </a:cubicBezTo>
                  <a:cubicBezTo>
                    <a:pt x="477371" y="97557"/>
                    <a:pt x="463176" y="83476"/>
                    <a:pt x="445756" y="83476"/>
                  </a:cubicBezTo>
                  <a:close/>
                  <a:moveTo>
                    <a:pt x="426676" y="0"/>
                  </a:moveTo>
                  <a:lnTo>
                    <a:pt x="464835" y="0"/>
                  </a:lnTo>
                  <a:cubicBezTo>
                    <a:pt x="473500" y="0"/>
                    <a:pt x="480597" y="7087"/>
                    <a:pt x="480597" y="15738"/>
                  </a:cubicBezTo>
                  <a:lnTo>
                    <a:pt x="480597" y="31936"/>
                  </a:lnTo>
                  <a:cubicBezTo>
                    <a:pt x="487694" y="34881"/>
                    <a:pt x="494054" y="38931"/>
                    <a:pt x="500138" y="43533"/>
                  </a:cubicBezTo>
                  <a:lnTo>
                    <a:pt x="514425" y="35249"/>
                  </a:lnTo>
                  <a:cubicBezTo>
                    <a:pt x="521983" y="30924"/>
                    <a:pt x="531569" y="33501"/>
                    <a:pt x="535901" y="40956"/>
                  </a:cubicBezTo>
                  <a:lnTo>
                    <a:pt x="554981" y="73996"/>
                  </a:lnTo>
                  <a:cubicBezTo>
                    <a:pt x="557101" y="77585"/>
                    <a:pt x="557654" y="81911"/>
                    <a:pt x="556640" y="85961"/>
                  </a:cubicBezTo>
                  <a:cubicBezTo>
                    <a:pt x="555534" y="89918"/>
                    <a:pt x="552861" y="93415"/>
                    <a:pt x="549266" y="95440"/>
                  </a:cubicBezTo>
                  <a:lnTo>
                    <a:pt x="534887" y="103815"/>
                  </a:lnTo>
                  <a:cubicBezTo>
                    <a:pt x="535348" y="107497"/>
                    <a:pt x="535993" y="111178"/>
                    <a:pt x="535993" y="115044"/>
                  </a:cubicBezTo>
                  <a:cubicBezTo>
                    <a:pt x="535993" y="115872"/>
                    <a:pt x="535809" y="116700"/>
                    <a:pt x="535717" y="117621"/>
                  </a:cubicBezTo>
                  <a:lnTo>
                    <a:pt x="521153" y="117621"/>
                  </a:lnTo>
                  <a:cubicBezTo>
                    <a:pt x="490828" y="117621"/>
                    <a:pt x="466126" y="142286"/>
                    <a:pt x="466126" y="172565"/>
                  </a:cubicBezTo>
                  <a:lnTo>
                    <a:pt x="466126" y="229719"/>
                  </a:lnTo>
                  <a:lnTo>
                    <a:pt x="466126" y="242604"/>
                  </a:lnTo>
                  <a:cubicBezTo>
                    <a:pt x="462715" y="237726"/>
                    <a:pt x="458383" y="233493"/>
                    <a:pt x="453590" y="229995"/>
                  </a:cubicBezTo>
                  <a:cubicBezTo>
                    <a:pt x="444465" y="223369"/>
                    <a:pt x="433404" y="219319"/>
                    <a:pt x="421330" y="219319"/>
                  </a:cubicBezTo>
                  <a:lnTo>
                    <a:pt x="411928" y="219319"/>
                  </a:lnTo>
                  <a:cubicBezTo>
                    <a:pt x="411375" y="217755"/>
                    <a:pt x="410914" y="216098"/>
                    <a:pt x="410914" y="214257"/>
                  </a:cubicBezTo>
                  <a:lnTo>
                    <a:pt x="410914" y="198059"/>
                  </a:lnTo>
                  <a:cubicBezTo>
                    <a:pt x="403817" y="195114"/>
                    <a:pt x="397457" y="191064"/>
                    <a:pt x="391373" y="186463"/>
                  </a:cubicBezTo>
                  <a:lnTo>
                    <a:pt x="377086" y="194746"/>
                  </a:lnTo>
                  <a:cubicBezTo>
                    <a:pt x="373492" y="196863"/>
                    <a:pt x="369160" y="197415"/>
                    <a:pt x="365104" y="196310"/>
                  </a:cubicBezTo>
                  <a:cubicBezTo>
                    <a:pt x="361140" y="195206"/>
                    <a:pt x="357638" y="192629"/>
                    <a:pt x="355610" y="189040"/>
                  </a:cubicBezTo>
                  <a:lnTo>
                    <a:pt x="336530" y="155999"/>
                  </a:lnTo>
                  <a:cubicBezTo>
                    <a:pt x="332198" y="148452"/>
                    <a:pt x="334687" y="138881"/>
                    <a:pt x="342245" y="134463"/>
                  </a:cubicBezTo>
                  <a:lnTo>
                    <a:pt x="356716" y="126180"/>
                  </a:lnTo>
                  <a:cubicBezTo>
                    <a:pt x="356163" y="122498"/>
                    <a:pt x="355518" y="118817"/>
                    <a:pt x="355518" y="115044"/>
                  </a:cubicBezTo>
                  <a:cubicBezTo>
                    <a:pt x="355518" y="111178"/>
                    <a:pt x="356163" y="107497"/>
                    <a:pt x="356716" y="103815"/>
                  </a:cubicBezTo>
                  <a:lnTo>
                    <a:pt x="342245" y="95440"/>
                  </a:lnTo>
                  <a:cubicBezTo>
                    <a:pt x="334687" y="91115"/>
                    <a:pt x="332198" y="81543"/>
                    <a:pt x="336530" y="73996"/>
                  </a:cubicBezTo>
                  <a:lnTo>
                    <a:pt x="355610" y="40956"/>
                  </a:lnTo>
                  <a:cubicBezTo>
                    <a:pt x="357638" y="37366"/>
                    <a:pt x="361140" y="34789"/>
                    <a:pt x="365104" y="33685"/>
                  </a:cubicBezTo>
                  <a:cubicBezTo>
                    <a:pt x="369160" y="32580"/>
                    <a:pt x="373492" y="33133"/>
                    <a:pt x="377086" y="35249"/>
                  </a:cubicBezTo>
                  <a:lnTo>
                    <a:pt x="391373" y="43533"/>
                  </a:lnTo>
                  <a:cubicBezTo>
                    <a:pt x="397457" y="38931"/>
                    <a:pt x="403817" y="34881"/>
                    <a:pt x="410914" y="31936"/>
                  </a:cubicBezTo>
                  <a:lnTo>
                    <a:pt x="410914" y="15738"/>
                  </a:lnTo>
                  <a:cubicBezTo>
                    <a:pt x="410914" y="7087"/>
                    <a:pt x="418011" y="0"/>
                    <a:pt x="426676" y="0"/>
                  </a:cubicBezTo>
                  <a:close/>
                </a:path>
              </a:pathLst>
            </a:custGeom>
            <a:solidFill>
              <a:srgbClr val="FFFFFF">
                <a:lumMod val="65000"/>
              </a:srgbClr>
            </a:solidFill>
            <a:ln cap="flat">
              <a:prstDash val="solid"/>
            </a:ln>
          </p:spPr>
          <p:txBody>
            <a:bodyPr vert="horz" lIns="91440" tIns="45720" rIns="91440" bIns="45720" anchor="t">
              <a:normAutofit fontScale="92500" lnSpcReduction="10000"/>
            </a:bodyPr>
            <a:lstStyle/>
            <a:p>
              <a:pPr marL="0" algn="l"/>
              <a:endParaRPr/>
            </a:p>
          </p:txBody>
        </p:sp>
        <p:sp>
          <p:nvSpPr>
            <p:cNvPr id="25" name="Freeform 25"/>
            <p:cNvSpPr/>
            <p:nvPr/>
          </p:nvSpPr>
          <p:spPr>
            <a:xfrm>
              <a:off x="4743891" y="3849987"/>
              <a:ext cx="425210" cy="408933"/>
            </a:xfrm>
            <a:custGeom>
              <a:avLst/>
              <a:gdLst/>
              <a:ahLst/>
              <a:cxnLst/>
              <a:rect l="l" t="t" r="r" b="b"/>
              <a:pathLst>
                <a:path w="609549" h="586216">
                  <a:moveTo>
                    <a:pt x="61288" y="383285"/>
                  </a:moveTo>
                  <a:cubicBezTo>
                    <a:pt x="64829" y="383106"/>
                    <a:pt x="68448" y="384367"/>
                    <a:pt x="71162" y="387101"/>
                  </a:cubicBezTo>
                  <a:lnTo>
                    <a:pt x="120018" y="435892"/>
                  </a:lnTo>
                  <a:cubicBezTo>
                    <a:pt x="125113" y="440933"/>
                    <a:pt x="125113" y="449160"/>
                    <a:pt x="120018" y="454200"/>
                  </a:cubicBezTo>
                  <a:lnTo>
                    <a:pt x="56639" y="517543"/>
                  </a:lnTo>
                  <a:cubicBezTo>
                    <a:pt x="50211" y="523963"/>
                    <a:pt x="39211" y="522013"/>
                    <a:pt x="35592" y="513644"/>
                  </a:cubicBezTo>
                  <a:cubicBezTo>
                    <a:pt x="17783" y="472794"/>
                    <a:pt x="23211" y="424288"/>
                    <a:pt x="51877" y="388099"/>
                  </a:cubicBezTo>
                  <a:cubicBezTo>
                    <a:pt x="54282" y="385079"/>
                    <a:pt x="57746" y="383463"/>
                    <a:pt x="61288" y="383285"/>
                  </a:cubicBezTo>
                  <a:close/>
                  <a:moveTo>
                    <a:pt x="235245" y="302810"/>
                  </a:moveTo>
                  <a:lnTo>
                    <a:pt x="306042" y="373466"/>
                  </a:lnTo>
                  <a:lnTo>
                    <a:pt x="258717" y="420680"/>
                  </a:lnTo>
                  <a:cubicBezTo>
                    <a:pt x="274667" y="464329"/>
                    <a:pt x="265192" y="515300"/>
                    <a:pt x="230246" y="550152"/>
                  </a:cubicBezTo>
                  <a:cubicBezTo>
                    <a:pt x="192919" y="587430"/>
                    <a:pt x="137644" y="595798"/>
                    <a:pt x="92223" y="575305"/>
                  </a:cubicBezTo>
                  <a:cubicBezTo>
                    <a:pt x="84701" y="571882"/>
                    <a:pt x="82892" y="561992"/>
                    <a:pt x="88748" y="556143"/>
                  </a:cubicBezTo>
                  <a:lnTo>
                    <a:pt x="165115" y="479877"/>
                  </a:lnTo>
                  <a:cubicBezTo>
                    <a:pt x="174399" y="470605"/>
                    <a:pt x="174399" y="455580"/>
                    <a:pt x="165115" y="446308"/>
                  </a:cubicBezTo>
                  <a:lnTo>
                    <a:pt x="88700" y="369995"/>
                  </a:lnTo>
                  <a:cubicBezTo>
                    <a:pt x="82844" y="364194"/>
                    <a:pt x="84653" y="354399"/>
                    <a:pt x="92128" y="350976"/>
                  </a:cubicBezTo>
                  <a:cubicBezTo>
                    <a:pt x="122789" y="337092"/>
                    <a:pt x="157973" y="336379"/>
                    <a:pt x="189111" y="348884"/>
                  </a:cubicBezTo>
                  <a:close/>
                  <a:moveTo>
                    <a:pt x="257958" y="161679"/>
                  </a:moveTo>
                  <a:lnTo>
                    <a:pt x="317251" y="220879"/>
                  </a:lnTo>
                  <a:lnTo>
                    <a:pt x="388070" y="291586"/>
                  </a:lnTo>
                  <a:lnTo>
                    <a:pt x="604906" y="508130"/>
                  </a:lnTo>
                  <a:cubicBezTo>
                    <a:pt x="611097" y="514311"/>
                    <a:pt x="611097" y="524344"/>
                    <a:pt x="604906" y="530526"/>
                  </a:cubicBezTo>
                  <a:lnTo>
                    <a:pt x="556567" y="578789"/>
                  </a:lnTo>
                  <a:cubicBezTo>
                    <a:pt x="553471" y="581880"/>
                    <a:pt x="549423" y="583449"/>
                    <a:pt x="545327" y="583449"/>
                  </a:cubicBezTo>
                  <a:cubicBezTo>
                    <a:pt x="541279" y="583449"/>
                    <a:pt x="537231" y="581880"/>
                    <a:pt x="534135" y="578789"/>
                  </a:cubicBezTo>
                  <a:lnTo>
                    <a:pt x="317251" y="362293"/>
                  </a:lnTo>
                  <a:lnTo>
                    <a:pt x="246481" y="291586"/>
                  </a:lnTo>
                  <a:lnTo>
                    <a:pt x="187140" y="232339"/>
                  </a:lnTo>
                  <a:close/>
                  <a:moveTo>
                    <a:pt x="58606" y="160814"/>
                  </a:moveTo>
                  <a:lnTo>
                    <a:pt x="126401" y="228498"/>
                  </a:lnTo>
                  <a:lnTo>
                    <a:pt x="111975" y="242899"/>
                  </a:lnTo>
                  <a:lnTo>
                    <a:pt x="119307" y="250219"/>
                  </a:lnTo>
                  <a:cubicBezTo>
                    <a:pt x="126877" y="257824"/>
                    <a:pt x="126877" y="270087"/>
                    <a:pt x="119307" y="277692"/>
                  </a:cubicBezTo>
                  <a:lnTo>
                    <a:pt x="115641" y="281352"/>
                  </a:lnTo>
                  <a:cubicBezTo>
                    <a:pt x="108024" y="288909"/>
                    <a:pt x="95741" y="288909"/>
                    <a:pt x="88123" y="281352"/>
                  </a:cubicBezTo>
                  <a:lnTo>
                    <a:pt x="5712" y="199029"/>
                  </a:lnTo>
                  <a:cubicBezTo>
                    <a:pt x="-1905" y="191424"/>
                    <a:pt x="-1905" y="179161"/>
                    <a:pt x="5712" y="171604"/>
                  </a:cubicBezTo>
                  <a:lnTo>
                    <a:pt x="9378" y="167944"/>
                  </a:lnTo>
                  <a:cubicBezTo>
                    <a:pt x="16948" y="160339"/>
                    <a:pt x="29231" y="160339"/>
                    <a:pt x="36849" y="167944"/>
                  </a:cubicBezTo>
                  <a:lnTo>
                    <a:pt x="44180" y="175264"/>
                  </a:lnTo>
                  <a:close/>
                  <a:moveTo>
                    <a:pt x="585775" y="66370"/>
                  </a:moveTo>
                  <a:cubicBezTo>
                    <a:pt x="589775" y="67101"/>
                    <a:pt x="593430" y="69680"/>
                    <a:pt x="595263" y="73839"/>
                  </a:cubicBezTo>
                  <a:cubicBezTo>
                    <a:pt x="613072" y="114675"/>
                    <a:pt x="607644" y="163212"/>
                    <a:pt x="578978" y="199341"/>
                  </a:cubicBezTo>
                  <a:cubicBezTo>
                    <a:pt x="574168" y="205379"/>
                    <a:pt x="565121" y="205854"/>
                    <a:pt x="559693" y="200387"/>
                  </a:cubicBezTo>
                  <a:lnTo>
                    <a:pt x="510789" y="151612"/>
                  </a:lnTo>
                  <a:cubicBezTo>
                    <a:pt x="505742" y="146526"/>
                    <a:pt x="505742" y="138349"/>
                    <a:pt x="510789" y="133262"/>
                  </a:cubicBezTo>
                  <a:lnTo>
                    <a:pt x="574216" y="69988"/>
                  </a:lnTo>
                  <a:cubicBezTo>
                    <a:pt x="577430" y="66756"/>
                    <a:pt x="581775" y="65639"/>
                    <a:pt x="585775" y="66370"/>
                  </a:cubicBezTo>
                  <a:close/>
                  <a:moveTo>
                    <a:pt x="158702" y="26758"/>
                  </a:moveTo>
                  <a:cubicBezTo>
                    <a:pt x="163655" y="26758"/>
                    <a:pt x="168654" y="28660"/>
                    <a:pt x="172463" y="32464"/>
                  </a:cubicBezTo>
                  <a:lnTo>
                    <a:pt x="179701" y="39691"/>
                  </a:lnTo>
                  <a:lnTo>
                    <a:pt x="246935" y="106831"/>
                  </a:lnTo>
                  <a:lnTo>
                    <a:pt x="254886" y="114819"/>
                  </a:lnTo>
                  <a:cubicBezTo>
                    <a:pt x="261457" y="121334"/>
                    <a:pt x="262362" y="131414"/>
                    <a:pt x="257600" y="138879"/>
                  </a:cubicBezTo>
                  <a:cubicBezTo>
                    <a:pt x="256839" y="140068"/>
                    <a:pt x="255934" y="141209"/>
                    <a:pt x="254886" y="142255"/>
                  </a:cubicBezTo>
                  <a:lnTo>
                    <a:pt x="252315" y="144823"/>
                  </a:lnTo>
                  <a:lnTo>
                    <a:pt x="246696" y="150434"/>
                  </a:lnTo>
                  <a:lnTo>
                    <a:pt x="175892" y="221140"/>
                  </a:lnTo>
                  <a:lnTo>
                    <a:pt x="172463" y="224611"/>
                  </a:lnTo>
                  <a:cubicBezTo>
                    <a:pt x="171702" y="225324"/>
                    <a:pt x="170940" y="225990"/>
                    <a:pt x="170130" y="226560"/>
                  </a:cubicBezTo>
                  <a:cubicBezTo>
                    <a:pt x="167749" y="228319"/>
                    <a:pt x="165083" y="229413"/>
                    <a:pt x="162274" y="229936"/>
                  </a:cubicBezTo>
                  <a:cubicBezTo>
                    <a:pt x="161083" y="230174"/>
                    <a:pt x="159893" y="230269"/>
                    <a:pt x="158702" y="230269"/>
                  </a:cubicBezTo>
                  <a:cubicBezTo>
                    <a:pt x="153703" y="230269"/>
                    <a:pt x="148751" y="228367"/>
                    <a:pt x="144942" y="224611"/>
                  </a:cubicBezTo>
                  <a:lnTo>
                    <a:pt x="137609" y="217288"/>
                  </a:lnTo>
                  <a:lnTo>
                    <a:pt x="69804" y="149578"/>
                  </a:lnTo>
                  <a:lnTo>
                    <a:pt x="62519" y="142255"/>
                  </a:lnTo>
                  <a:cubicBezTo>
                    <a:pt x="54900" y="134647"/>
                    <a:pt x="54900" y="122380"/>
                    <a:pt x="62519" y="114819"/>
                  </a:cubicBezTo>
                  <a:lnTo>
                    <a:pt x="144942" y="32464"/>
                  </a:lnTo>
                  <a:cubicBezTo>
                    <a:pt x="148751" y="28660"/>
                    <a:pt x="153750" y="26758"/>
                    <a:pt x="158702" y="26758"/>
                  </a:cubicBezTo>
                  <a:close/>
                  <a:moveTo>
                    <a:pt x="254809" y="6542"/>
                  </a:moveTo>
                  <a:cubicBezTo>
                    <a:pt x="277279" y="4029"/>
                    <a:pt x="300492" y="9424"/>
                    <a:pt x="321015" y="29913"/>
                  </a:cubicBezTo>
                  <a:cubicBezTo>
                    <a:pt x="380347" y="89193"/>
                    <a:pt x="337205" y="46124"/>
                    <a:pt x="260017" y="97465"/>
                  </a:cubicBezTo>
                  <a:lnTo>
                    <a:pt x="193067" y="30626"/>
                  </a:lnTo>
                  <a:cubicBezTo>
                    <a:pt x="210614" y="19479"/>
                    <a:pt x="232340" y="9056"/>
                    <a:pt x="254809" y="6542"/>
                  </a:cubicBezTo>
                  <a:close/>
                  <a:moveTo>
                    <a:pt x="503105" y="953"/>
                  </a:moveTo>
                  <a:cubicBezTo>
                    <a:pt x="515252" y="2468"/>
                    <a:pt x="527216" y="5788"/>
                    <a:pt x="538560" y="10911"/>
                  </a:cubicBezTo>
                  <a:cubicBezTo>
                    <a:pt x="546131" y="14334"/>
                    <a:pt x="547940" y="24224"/>
                    <a:pt x="542083" y="30073"/>
                  </a:cubicBezTo>
                  <a:lnTo>
                    <a:pt x="465709" y="106341"/>
                  </a:lnTo>
                  <a:cubicBezTo>
                    <a:pt x="456424" y="115613"/>
                    <a:pt x="456424" y="130639"/>
                    <a:pt x="465709" y="139911"/>
                  </a:cubicBezTo>
                  <a:lnTo>
                    <a:pt x="542131" y="216227"/>
                  </a:lnTo>
                  <a:cubicBezTo>
                    <a:pt x="547940" y="222028"/>
                    <a:pt x="546178" y="231823"/>
                    <a:pt x="538655" y="235246"/>
                  </a:cubicBezTo>
                  <a:cubicBezTo>
                    <a:pt x="508181" y="249035"/>
                    <a:pt x="473184" y="249844"/>
                    <a:pt x="442187" y="237528"/>
                  </a:cubicBezTo>
                  <a:lnTo>
                    <a:pt x="399238" y="280370"/>
                  </a:lnTo>
                  <a:lnTo>
                    <a:pt x="328482" y="209712"/>
                  </a:lnTo>
                  <a:lnTo>
                    <a:pt x="372240" y="166015"/>
                  </a:lnTo>
                  <a:cubicBezTo>
                    <a:pt x="356051" y="122270"/>
                    <a:pt x="365527" y="71060"/>
                    <a:pt x="400571" y="36064"/>
                  </a:cubicBezTo>
                  <a:cubicBezTo>
                    <a:pt x="428569" y="8106"/>
                    <a:pt x="466664" y="-3592"/>
                    <a:pt x="503105" y="953"/>
                  </a:cubicBezTo>
                  <a:close/>
                </a:path>
              </a:pathLst>
            </a:custGeom>
            <a:solidFill>
              <a:srgbClr val="000000">
                <a:lumMod val="50000"/>
                <a:lumOff val="50000"/>
              </a:srgbClr>
            </a:solidFill>
            <a:ln cap="flat">
              <a:prstDash val="solid"/>
            </a:ln>
          </p:spPr>
          <p:txBody>
            <a:bodyPr vert="horz" wrap="square" lIns="91440" tIns="45720" rIns="91440" bIns="45720" anchor="t">
              <a:prstTxWarp prst="textNoShape">
                <a:avLst/>
              </a:prstTxWarp>
              <a:normAutofit/>
            </a:bodyPr>
            <a:lstStyle/>
            <a:p>
              <a:pPr marL="0" algn="l"/>
              <a:endParaRPr/>
            </a:p>
          </p:txBody>
        </p:sp>
        <p:sp>
          <p:nvSpPr>
            <p:cNvPr id="26" name="Freeform 26"/>
            <p:cNvSpPr/>
            <p:nvPr/>
          </p:nvSpPr>
          <p:spPr>
            <a:xfrm>
              <a:off x="7232441" y="3842246"/>
              <a:ext cx="425210" cy="424414"/>
            </a:xfrm>
            <a:custGeom>
              <a:avLst/>
              <a:gdLst/>
              <a:ahLst/>
              <a:cxnLst/>
              <a:rect l="l" t="t" r="r" b="b"/>
              <a:pathLst>
                <a:path w="605702" h="604568">
                  <a:moveTo>
                    <a:pt x="290910" y="156336"/>
                  </a:moveTo>
                  <a:cubicBezTo>
                    <a:pt x="306137" y="157147"/>
                    <a:pt x="321272" y="160032"/>
                    <a:pt x="335849" y="164992"/>
                  </a:cubicBezTo>
                  <a:lnTo>
                    <a:pt x="288310" y="212456"/>
                  </a:lnTo>
                  <a:cubicBezTo>
                    <a:pt x="257856" y="210695"/>
                    <a:pt x="226844" y="221449"/>
                    <a:pt x="203632" y="244717"/>
                  </a:cubicBezTo>
                  <a:cubicBezTo>
                    <a:pt x="160271" y="287918"/>
                    <a:pt x="160271" y="358187"/>
                    <a:pt x="203632" y="401388"/>
                  </a:cubicBezTo>
                  <a:cubicBezTo>
                    <a:pt x="246900" y="444680"/>
                    <a:pt x="317279" y="444680"/>
                    <a:pt x="360547" y="401388"/>
                  </a:cubicBezTo>
                  <a:cubicBezTo>
                    <a:pt x="383852" y="378211"/>
                    <a:pt x="394623" y="347156"/>
                    <a:pt x="392859" y="316749"/>
                  </a:cubicBezTo>
                  <a:lnTo>
                    <a:pt x="440397" y="269284"/>
                  </a:lnTo>
                  <a:cubicBezTo>
                    <a:pt x="460267" y="327595"/>
                    <a:pt x="446897" y="394620"/>
                    <a:pt x="400287" y="441065"/>
                  </a:cubicBezTo>
                  <a:cubicBezTo>
                    <a:pt x="335106" y="506236"/>
                    <a:pt x="229073" y="506236"/>
                    <a:pt x="163892" y="441065"/>
                  </a:cubicBezTo>
                  <a:cubicBezTo>
                    <a:pt x="98619" y="375987"/>
                    <a:pt x="98619" y="270118"/>
                    <a:pt x="163892" y="205040"/>
                  </a:cubicBezTo>
                  <a:cubicBezTo>
                    <a:pt x="198711" y="170137"/>
                    <a:pt x="245228" y="153902"/>
                    <a:pt x="290910" y="156336"/>
                  </a:cubicBezTo>
                  <a:close/>
                  <a:moveTo>
                    <a:pt x="246542" y="43775"/>
                  </a:moveTo>
                  <a:cubicBezTo>
                    <a:pt x="306463" y="36243"/>
                    <a:pt x="368345" y="47900"/>
                    <a:pt x="422196" y="78723"/>
                  </a:cubicBezTo>
                  <a:lnTo>
                    <a:pt x="376794" y="124054"/>
                  </a:lnTo>
                  <a:cubicBezTo>
                    <a:pt x="294811" y="85305"/>
                    <a:pt x="193980" y="99581"/>
                    <a:pt x="126109" y="167345"/>
                  </a:cubicBezTo>
                  <a:cubicBezTo>
                    <a:pt x="39948" y="253371"/>
                    <a:pt x="39948" y="392793"/>
                    <a:pt x="126109" y="478820"/>
                  </a:cubicBezTo>
                  <a:cubicBezTo>
                    <a:pt x="212271" y="564846"/>
                    <a:pt x="351912" y="564846"/>
                    <a:pt x="438073" y="478820"/>
                  </a:cubicBezTo>
                  <a:cubicBezTo>
                    <a:pt x="505944" y="411055"/>
                    <a:pt x="520428" y="310382"/>
                    <a:pt x="481432" y="228527"/>
                  </a:cubicBezTo>
                  <a:lnTo>
                    <a:pt x="526741" y="183011"/>
                  </a:lnTo>
                  <a:cubicBezTo>
                    <a:pt x="588484" y="290544"/>
                    <a:pt x="573350" y="430244"/>
                    <a:pt x="481432" y="522111"/>
                  </a:cubicBezTo>
                  <a:cubicBezTo>
                    <a:pt x="371316" y="632054"/>
                    <a:pt x="192866" y="632054"/>
                    <a:pt x="82657" y="522111"/>
                  </a:cubicBezTo>
                  <a:cubicBezTo>
                    <a:pt x="-27552" y="412168"/>
                    <a:pt x="-27552" y="233997"/>
                    <a:pt x="82657" y="123961"/>
                  </a:cubicBezTo>
                  <a:cubicBezTo>
                    <a:pt x="128662" y="78028"/>
                    <a:pt x="186622" y="51307"/>
                    <a:pt x="246542" y="43775"/>
                  </a:cubicBezTo>
                  <a:close/>
                  <a:moveTo>
                    <a:pt x="536061" y="0"/>
                  </a:moveTo>
                  <a:lnTo>
                    <a:pt x="544232" y="61368"/>
                  </a:lnTo>
                  <a:lnTo>
                    <a:pt x="605702" y="69526"/>
                  </a:lnTo>
                  <a:lnTo>
                    <a:pt x="524361" y="150732"/>
                  </a:lnTo>
                  <a:lnTo>
                    <a:pt x="498361" y="147302"/>
                  </a:lnTo>
                  <a:lnTo>
                    <a:pt x="337721" y="307767"/>
                  </a:lnTo>
                  <a:cubicBezTo>
                    <a:pt x="339021" y="312588"/>
                    <a:pt x="339764" y="317779"/>
                    <a:pt x="339764" y="323063"/>
                  </a:cubicBezTo>
                  <a:cubicBezTo>
                    <a:pt x="339764" y="354859"/>
                    <a:pt x="313950" y="380630"/>
                    <a:pt x="282101" y="380630"/>
                  </a:cubicBezTo>
                  <a:cubicBezTo>
                    <a:pt x="250251" y="380630"/>
                    <a:pt x="224437" y="354859"/>
                    <a:pt x="224437" y="323063"/>
                  </a:cubicBezTo>
                  <a:cubicBezTo>
                    <a:pt x="224437" y="291266"/>
                    <a:pt x="250251" y="265495"/>
                    <a:pt x="282101" y="265495"/>
                  </a:cubicBezTo>
                  <a:cubicBezTo>
                    <a:pt x="287393" y="265495"/>
                    <a:pt x="292500" y="266237"/>
                    <a:pt x="297422" y="267535"/>
                  </a:cubicBezTo>
                  <a:lnTo>
                    <a:pt x="458155" y="107162"/>
                  </a:lnTo>
                  <a:lnTo>
                    <a:pt x="454719" y="81206"/>
                  </a:lnTo>
                  <a:close/>
                </a:path>
              </a:pathLst>
            </a:custGeom>
            <a:solidFill>
              <a:srgbClr val="000000">
                <a:lumMod val="50000"/>
                <a:lumOff val="50000"/>
              </a:srgbClr>
            </a:solidFill>
            <a:ln cap="flat">
              <a:prstDash val="solid"/>
            </a:ln>
          </p:spPr>
          <p:txBody>
            <a:bodyPr vert="horz" wrap="square" lIns="91440" tIns="45720" rIns="91440" bIns="45720" anchor="t">
              <a:prstTxWarp prst="textNoShape">
                <a:avLst/>
              </a:prstTxWarp>
              <a:normAutofit/>
            </a:bodyPr>
            <a:lstStyle/>
            <a:p>
              <a:pPr marL="0" algn="l"/>
              <a:endParaRPr/>
            </a:p>
          </p:txBody>
        </p:sp>
        <p:sp>
          <p:nvSpPr>
            <p:cNvPr id="27" name="Freeform 27"/>
            <p:cNvSpPr/>
            <p:nvPr/>
          </p:nvSpPr>
          <p:spPr>
            <a:xfrm>
              <a:off x="3588805" y="3161113"/>
              <a:ext cx="523894" cy="424046"/>
            </a:xfrm>
            <a:custGeom>
              <a:avLst/>
              <a:gdLst/>
              <a:ahLst/>
              <a:cxnLst/>
              <a:rect l="l" t="t" r="r" b="b"/>
              <a:pathLst>
                <a:path w="607568" h="491771">
                  <a:moveTo>
                    <a:pt x="355420" y="250307"/>
                  </a:moveTo>
                  <a:cubicBezTo>
                    <a:pt x="354290" y="250307"/>
                    <a:pt x="353160" y="250871"/>
                    <a:pt x="352312" y="251812"/>
                  </a:cubicBezTo>
                  <a:lnTo>
                    <a:pt x="321042" y="289814"/>
                  </a:lnTo>
                  <a:cubicBezTo>
                    <a:pt x="319723" y="291507"/>
                    <a:pt x="319912" y="293953"/>
                    <a:pt x="321513" y="295364"/>
                  </a:cubicBezTo>
                  <a:lnTo>
                    <a:pt x="369736" y="338257"/>
                  </a:lnTo>
                  <a:cubicBezTo>
                    <a:pt x="370396" y="338822"/>
                    <a:pt x="371149" y="339104"/>
                    <a:pt x="371997" y="339104"/>
                  </a:cubicBezTo>
                  <a:cubicBezTo>
                    <a:pt x="372374" y="339104"/>
                    <a:pt x="372750" y="339010"/>
                    <a:pt x="373127" y="338916"/>
                  </a:cubicBezTo>
                  <a:cubicBezTo>
                    <a:pt x="374257" y="338539"/>
                    <a:pt x="375105" y="337505"/>
                    <a:pt x="375293" y="336282"/>
                  </a:cubicBezTo>
                  <a:lnTo>
                    <a:pt x="383676" y="279467"/>
                  </a:lnTo>
                  <a:cubicBezTo>
                    <a:pt x="384618" y="273164"/>
                    <a:pt x="381792" y="266768"/>
                    <a:pt x="376424" y="263287"/>
                  </a:cubicBezTo>
                  <a:lnTo>
                    <a:pt x="357681" y="250965"/>
                  </a:lnTo>
                  <a:cubicBezTo>
                    <a:pt x="357021" y="250495"/>
                    <a:pt x="356174" y="250307"/>
                    <a:pt x="355420" y="250307"/>
                  </a:cubicBezTo>
                  <a:close/>
                  <a:moveTo>
                    <a:pt x="258879" y="250307"/>
                  </a:moveTo>
                  <a:cubicBezTo>
                    <a:pt x="258125" y="250307"/>
                    <a:pt x="257372" y="250495"/>
                    <a:pt x="256712" y="250965"/>
                  </a:cubicBezTo>
                  <a:lnTo>
                    <a:pt x="237969" y="263287"/>
                  </a:lnTo>
                  <a:cubicBezTo>
                    <a:pt x="232601" y="266768"/>
                    <a:pt x="229775" y="273164"/>
                    <a:pt x="230717" y="279467"/>
                  </a:cubicBezTo>
                  <a:lnTo>
                    <a:pt x="239100" y="336282"/>
                  </a:lnTo>
                  <a:cubicBezTo>
                    <a:pt x="239288" y="337505"/>
                    <a:pt x="240136" y="338539"/>
                    <a:pt x="241266" y="338916"/>
                  </a:cubicBezTo>
                  <a:cubicBezTo>
                    <a:pt x="241643" y="339010"/>
                    <a:pt x="242019" y="339104"/>
                    <a:pt x="242396" y="339104"/>
                  </a:cubicBezTo>
                  <a:cubicBezTo>
                    <a:pt x="243244" y="339104"/>
                    <a:pt x="243997" y="338822"/>
                    <a:pt x="244657" y="338257"/>
                  </a:cubicBezTo>
                  <a:lnTo>
                    <a:pt x="292880" y="295364"/>
                  </a:lnTo>
                  <a:cubicBezTo>
                    <a:pt x="294481" y="293953"/>
                    <a:pt x="294670" y="291507"/>
                    <a:pt x="293351" y="289814"/>
                  </a:cubicBezTo>
                  <a:lnTo>
                    <a:pt x="261987" y="251812"/>
                  </a:lnTo>
                  <a:cubicBezTo>
                    <a:pt x="261233" y="250871"/>
                    <a:pt x="260103" y="250307"/>
                    <a:pt x="258879" y="250307"/>
                  </a:cubicBezTo>
                  <a:close/>
                  <a:moveTo>
                    <a:pt x="500465" y="66049"/>
                  </a:moveTo>
                  <a:cubicBezTo>
                    <a:pt x="548129" y="66049"/>
                    <a:pt x="562447" y="93516"/>
                    <a:pt x="565743" y="130673"/>
                  </a:cubicBezTo>
                  <a:cubicBezTo>
                    <a:pt x="565932" y="130673"/>
                    <a:pt x="566026" y="130673"/>
                    <a:pt x="566120" y="130673"/>
                  </a:cubicBezTo>
                  <a:cubicBezTo>
                    <a:pt x="577141" y="133118"/>
                    <a:pt x="583358" y="146664"/>
                    <a:pt x="580250" y="160962"/>
                  </a:cubicBezTo>
                  <a:cubicBezTo>
                    <a:pt x="577706" y="172532"/>
                    <a:pt x="569700" y="180904"/>
                    <a:pt x="560939" y="182503"/>
                  </a:cubicBezTo>
                  <a:cubicBezTo>
                    <a:pt x="554628" y="199529"/>
                    <a:pt x="543796" y="214016"/>
                    <a:pt x="531927" y="223799"/>
                  </a:cubicBezTo>
                  <a:cubicBezTo>
                    <a:pt x="528913" y="226338"/>
                    <a:pt x="527500" y="230383"/>
                    <a:pt x="528253" y="234240"/>
                  </a:cubicBezTo>
                  <a:lnTo>
                    <a:pt x="530797" y="246281"/>
                  </a:lnTo>
                  <a:cubicBezTo>
                    <a:pt x="532304" y="253806"/>
                    <a:pt x="538238" y="259732"/>
                    <a:pt x="545868" y="261143"/>
                  </a:cubicBezTo>
                  <a:lnTo>
                    <a:pt x="558961" y="263777"/>
                  </a:lnTo>
                  <a:cubicBezTo>
                    <a:pt x="578366" y="267634"/>
                    <a:pt x="593437" y="282684"/>
                    <a:pt x="597299" y="301968"/>
                  </a:cubicBezTo>
                  <a:lnTo>
                    <a:pt x="607002" y="350788"/>
                  </a:lnTo>
                  <a:cubicBezTo>
                    <a:pt x="608697" y="358972"/>
                    <a:pt x="606531" y="367438"/>
                    <a:pt x="601256" y="373835"/>
                  </a:cubicBezTo>
                  <a:cubicBezTo>
                    <a:pt x="595981" y="380325"/>
                    <a:pt x="588068" y="384088"/>
                    <a:pt x="579685" y="384088"/>
                  </a:cubicBezTo>
                  <a:lnTo>
                    <a:pt x="490386" y="384088"/>
                  </a:lnTo>
                  <a:lnTo>
                    <a:pt x="467685" y="310058"/>
                  </a:lnTo>
                  <a:cubicBezTo>
                    <a:pt x="461845" y="291150"/>
                    <a:pt x="448563" y="276194"/>
                    <a:pt x="431702" y="267445"/>
                  </a:cubicBezTo>
                  <a:cubicBezTo>
                    <a:pt x="434999" y="265940"/>
                    <a:pt x="438295" y="264529"/>
                    <a:pt x="441969" y="263777"/>
                  </a:cubicBezTo>
                  <a:lnTo>
                    <a:pt x="455157" y="261237"/>
                  </a:lnTo>
                  <a:cubicBezTo>
                    <a:pt x="462692" y="259732"/>
                    <a:pt x="468627" y="253806"/>
                    <a:pt x="470228" y="246281"/>
                  </a:cubicBezTo>
                  <a:lnTo>
                    <a:pt x="472677" y="234240"/>
                  </a:lnTo>
                  <a:cubicBezTo>
                    <a:pt x="473525" y="230383"/>
                    <a:pt x="472112" y="226338"/>
                    <a:pt x="469098" y="223893"/>
                  </a:cubicBezTo>
                  <a:cubicBezTo>
                    <a:pt x="457229" y="214016"/>
                    <a:pt x="446302" y="199529"/>
                    <a:pt x="439991" y="182503"/>
                  </a:cubicBezTo>
                  <a:cubicBezTo>
                    <a:pt x="434716" y="181563"/>
                    <a:pt x="429818" y="177894"/>
                    <a:pt x="426144" y="172720"/>
                  </a:cubicBezTo>
                  <a:cubicBezTo>
                    <a:pt x="433303" y="164725"/>
                    <a:pt x="438861" y="154754"/>
                    <a:pt x="441404" y="143278"/>
                  </a:cubicBezTo>
                  <a:cubicBezTo>
                    <a:pt x="444324" y="130485"/>
                    <a:pt x="443476" y="118068"/>
                    <a:pt x="439708" y="107438"/>
                  </a:cubicBezTo>
                  <a:cubicBezTo>
                    <a:pt x="447244" y="82699"/>
                    <a:pt x="464200" y="66049"/>
                    <a:pt x="500465" y="66049"/>
                  </a:cubicBezTo>
                  <a:close/>
                  <a:moveTo>
                    <a:pt x="107100" y="66049"/>
                  </a:moveTo>
                  <a:cubicBezTo>
                    <a:pt x="151561" y="66049"/>
                    <a:pt x="166820" y="90130"/>
                    <a:pt x="171341" y="123618"/>
                  </a:cubicBezTo>
                  <a:cubicBezTo>
                    <a:pt x="170965" y="129920"/>
                    <a:pt x="171436" y="136505"/>
                    <a:pt x="172849" y="143278"/>
                  </a:cubicBezTo>
                  <a:cubicBezTo>
                    <a:pt x="174921" y="152590"/>
                    <a:pt x="178971" y="161056"/>
                    <a:pt x="184246" y="168205"/>
                  </a:cubicBezTo>
                  <a:cubicBezTo>
                    <a:pt x="180573" y="175919"/>
                    <a:pt x="174356" y="181281"/>
                    <a:pt x="167574" y="182503"/>
                  </a:cubicBezTo>
                  <a:cubicBezTo>
                    <a:pt x="161263" y="199529"/>
                    <a:pt x="150336" y="214016"/>
                    <a:pt x="138468" y="223799"/>
                  </a:cubicBezTo>
                  <a:cubicBezTo>
                    <a:pt x="135453" y="226338"/>
                    <a:pt x="134040" y="230383"/>
                    <a:pt x="134794" y="234240"/>
                  </a:cubicBezTo>
                  <a:lnTo>
                    <a:pt x="137337" y="246281"/>
                  </a:lnTo>
                  <a:cubicBezTo>
                    <a:pt x="138939" y="253806"/>
                    <a:pt x="144873" y="259732"/>
                    <a:pt x="152408" y="261143"/>
                  </a:cubicBezTo>
                  <a:lnTo>
                    <a:pt x="165596" y="263777"/>
                  </a:lnTo>
                  <a:cubicBezTo>
                    <a:pt x="170494" y="264812"/>
                    <a:pt x="175203" y="266505"/>
                    <a:pt x="179442" y="268856"/>
                  </a:cubicBezTo>
                  <a:cubicBezTo>
                    <a:pt x="164088" y="277793"/>
                    <a:pt x="152126" y="292279"/>
                    <a:pt x="146662" y="310058"/>
                  </a:cubicBezTo>
                  <a:lnTo>
                    <a:pt x="123867" y="384088"/>
                  </a:lnTo>
                  <a:lnTo>
                    <a:pt x="27883" y="384088"/>
                  </a:lnTo>
                  <a:cubicBezTo>
                    <a:pt x="19499" y="384088"/>
                    <a:pt x="11587" y="380325"/>
                    <a:pt x="6312" y="373835"/>
                  </a:cubicBezTo>
                  <a:cubicBezTo>
                    <a:pt x="1037" y="367438"/>
                    <a:pt x="-1129" y="358972"/>
                    <a:pt x="566" y="350788"/>
                  </a:cubicBezTo>
                  <a:lnTo>
                    <a:pt x="10268" y="301968"/>
                  </a:lnTo>
                  <a:cubicBezTo>
                    <a:pt x="14130" y="282684"/>
                    <a:pt x="29202" y="267634"/>
                    <a:pt x="48606" y="263777"/>
                  </a:cubicBezTo>
                  <a:lnTo>
                    <a:pt x="61699" y="261237"/>
                  </a:lnTo>
                  <a:cubicBezTo>
                    <a:pt x="69328" y="259732"/>
                    <a:pt x="75263" y="253806"/>
                    <a:pt x="76770" y="246281"/>
                  </a:cubicBezTo>
                  <a:lnTo>
                    <a:pt x="79313" y="234240"/>
                  </a:lnTo>
                  <a:cubicBezTo>
                    <a:pt x="80067" y="230383"/>
                    <a:pt x="78654" y="226338"/>
                    <a:pt x="75639" y="223893"/>
                  </a:cubicBezTo>
                  <a:cubicBezTo>
                    <a:pt x="63771" y="214016"/>
                    <a:pt x="52939" y="199623"/>
                    <a:pt x="46628" y="182503"/>
                  </a:cubicBezTo>
                  <a:cubicBezTo>
                    <a:pt x="37867" y="180904"/>
                    <a:pt x="29861" y="172532"/>
                    <a:pt x="27318" y="160962"/>
                  </a:cubicBezTo>
                  <a:cubicBezTo>
                    <a:pt x="24115" y="146664"/>
                    <a:pt x="30426" y="133118"/>
                    <a:pt x="41447" y="130673"/>
                  </a:cubicBezTo>
                  <a:cubicBezTo>
                    <a:pt x="41541" y="130673"/>
                    <a:pt x="41729" y="130673"/>
                    <a:pt x="41824" y="130673"/>
                  </a:cubicBezTo>
                  <a:cubicBezTo>
                    <a:pt x="45403" y="93516"/>
                    <a:pt x="60192" y="66049"/>
                    <a:pt x="107100" y="66049"/>
                  </a:cubicBezTo>
                  <a:close/>
                  <a:moveTo>
                    <a:pt x="298626" y="0"/>
                  </a:moveTo>
                  <a:lnTo>
                    <a:pt x="315956" y="0"/>
                  </a:lnTo>
                  <a:cubicBezTo>
                    <a:pt x="363426" y="0"/>
                    <a:pt x="401854" y="38378"/>
                    <a:pt x="401854" y="85787"/>
                  </a:cubicBezTo>
                  <a:lnTo>
                    <a:pt x="401854" y="95476"/>
                  </a:lnTo>
                  <a:cubicBezTo>
                    <a:pt x="417301" y="99238"/>
                    <a:pt x="426154" y="118522"/>
                    <a:pt x="421633" y="138840"/>
                  </a:cubicBezTo>
                  <a:cubicBezTo>
                    <a:pt x="420880" y="142602"/>
                    <a:pt x="419467" y="146083"/>
                    <a:pt x="417960" y="149281"/>
                  </a:cubicBezTo>
                  <a:cubicBezTo>
                    <a:pt x="417677" y="149939"/>
                    <a:pt x="417395" y="150504"/>
                    <a:pt x="417112" y="151068"/>
                  </a:cubicBezTo>
                  <a:cubicBezTo>
                    <a:pt x="415417" y="154172"/>
                    <a:pt x="413533" y="157088"/>
                    <a:pt x="411273" y="159534"/>
                  </a:cubicBezTo>
                  <a:cubicBezTo>
                    <a:pt x="411179" y="159628"/>
                    <a:pt x="410990" y="159816"/>
                    <a:pt x="410896" y="159910"/>
                  </a:cubicBezTo>
                  <a:cubicBezTo>
                    <a:pt x="406092" y="165084"/>
                    <a:pt x="400159" y="168658"/>
                    <a:pt x="394037" y="169787"/>
                  </a:cubicBezTo>
                  <a:cubicBezTo>
                    <a:pt x="391494" y="176654"/>
                    <a:pt x="388385" y="183332"/>
                    <a:pt x="384900" y="189541"/>
                  </a:cubicBezTo>
                  <a:cubicBezTo>
                    <a:pt x="384806" y="189635"/>
                    <a:pt x="384806" y="189729"/>
                    <a:pt x="384712" y="189823"/>
                  </a:cubicBezTo>
                  <a:cubicBezTo>
                    <a:pt x="381227" y="196031"/>
                    <a:pt x="377460" y="201769"/>
                    <a:pt x="373316" y="207131"/>
                  </a:cubicBezTo>
                  <a:cubicBezTo>
                    <a:pt x="373127" y="207413"/>
                    <a:pt x="372939" y="207601"/>
                    <a:pt x="372750" y="207789"/>
                  </a:cubicBezTo>
                  <a:cubicBezTo>
                    <a:pt x="368700" y="213057"/>
                    <a:pt x="364368" y="217948"/>
                    <a:pt x="359847" y="222275"/>
                  </a:cubicBezTo>
                  <a:cubicBezTo>
                    <a:pt x="359658" y="222463"/>
                    <a:pt x="359376" y="222651"/>
                    <a:pt x="359188" y="222934"/>
                  </a:cubicBezTo>
                  <a:cubicBezTo>
                    <a:pt x="354667" y="227261"/>
                    <a:pt x="349957" y="231211"/>
                    <a:pt x="345154" y="234598"/>
                  </a:cubicBezTo>
                  <a:lnTo>
                    <a:pt x="345625" y="236855"/>
                  </a:lnTo>
                  <a:cubicBezTo>
                    <a:pt x="346567" y="236385"/>
                    <a:pt x="347603" y="235915"/>
                    <a:pt x="348639" y="235538"/>
                  </a:cubicBezTo>
                  <a:cubicBezTo>
                    <a:pt x="350899" y="234786"/>
                    <a:pt x="353065" y="234033"/>
                    <a:pt x="355514" y="234033"/>
                  </a:cubicBezTo>
                  <a:cubicBezTo>
                    <a:pt x="359470" y="234033"/>
                    <a:pt x="363238" y="235162"/>
                    <a:pt x="366628" y="237326"/>
                  </a:cubicBezTo>
                  <a:cubicBezTo>
                    <a:pt x="366628" y="237326"/>
                    <a:pt x="380756" y="246450"/>
                    <a:pt x="385371" y="249648"/>
                  </a:cubicBezTo>
                  <a:cubicBezTo>
                    <a:pt x="401854" y="261030"/>
                    <a:pt x="399876" y="279373"/>
                    <a:pt x="399876" y="279373"/>
                  </a:cubicBezTo>
                  <a:cubicBezTo>
                    <a:pt x="410990" y="279655"/>
                    <a:pt x="421822" y="283041"/>
                    <a:pt x="430016" y="289814"/>
                  </a:cubicBezTo>
                  <a:cubicBezTo>
                    <a:pt x="445180" y="302324"/>
                    <a:pt x="447535" y="313330"/>
                    <a:pt x="448382" y="316058"/>
                  </a:cubicBezTo>
                  <a:lnTo>
                    <a:pt x="481630" y="424515"/>
                  </a:lnTo>
                  <a:cubicBezTo>
                    <a:pt x="482855" y="428371"/>
                    <a:pt x="483608" y="432416"/>
                    <a:pt x="483891" y="436461"/>
                  </a:cubicBezTo>
                  <a:cubicBezTo>
                    <a:pt x="484644" y="448595"/>
                    <a:pt x="481159" y="460730"/>
                    <a:pt x="473718" y="470700"/>
                  </a:cubicBezTo>
                  <a:cubicBezTo>
                    <a:pt x="466372" y="480671"/>
                    <a:pt x="455823" y="487538"/>
                    <a:pt x="443956" y="490360"/>
                  </a:cubicBezTo>
                  <a:cubicBezTo>
                    <a:pt x="440000" y="491301"/>
                    <a:pt x="435950" y="491771"/>
                    <a:pt x="431805" y="491771"/>
                  </a:cubicBezTo>
                  <a:lnTo>
                    <a:pt x="325375" y="491771"/>
                  </a:lnTo>
                  <a:lnTo>
                    <a:pt x="337430" y="415296"/>
                  </a:lnTo>
                  <a:cubicBezTo>
                    <a:pt x="338749" y="406454"/>
                    <a:pt x="337807" y="397424"/>
                    <a:pt x="334605" y="389052"/>
                  </a:cubicBezTo>
                  <a:lnTo>
                    <a:pt x="323962" y="360927"/>
                  </a:lnTo>
                  <a:lnTo>
                    <a:pt x="337430" y="347476"/>
                  </a:lnTo>
                  <a:lnTo>
                    <a:pt x="307196" y="317281"/>
                  </a:lnTo>
                  <a:lnTo>
                    <a:pt x="276868" y="347476"/>
                  </a:lnTo>
                  <a:lnTo>
                    <a:pt x="290337" y="360927"/>
                  </a:lnTo>
                  <a:lnTo>
                    <a:pt x="279694" y="389052"/>
                  </a:lnTo>
                  <a:cubicBezTo>
                    <a:pt x="276586" y="397424"/>
                    <a:pt x="275644" y="406454"/>
                    <a:pt x="276963" y="415296"/>
                  </a:cubicBezTo>
                  <a:lnTo>
                    <a:pt x="288736" y="491771"/>
                  </a:lnTo>
                  <a:lnTo>
                    <a:pt x="182493" y="491771"/>
                  </a:lnTo>
                  <a:cubicBezTo>
                    <a:pt x="178443" y="491771"/>
                    <a:pt x="174299" y="491301"/>
                    <a:pt x="170437" y="490360"/>
                  </a:cubicBezTo>
                  <a:cubicBezTo>
                    <a:pt x="158570" y="487538"/>
                    <a:pt x="148021" y="480671"/>
                    <a:pt x="140675" y="470700"/>
                  </a:cubicBezTo>
                  <a:cubicBezTo>
                    <a:pt x="130785" y="457343"/>
                    <a:pt x="127865" y="440223"/>
                    <a:pt x="132669" y="424515"/>
                  </a:cubicBezTo>
                  <a:lnTo>
                    <a:pt x="166011" y="316058"/>
                  </a:lnTo>
                  <a:cubicBezTo>
                    <a:pt x="166858" y="313330"/>
                    <a:pt x="170908" y="300631"/>
                    <a:pt x="184377" y="289814"/>
                  </a:cubicBezTo>
                  <a:cubicBezTo>
                    <a:pt x="192666" y="283229"/>
                    <a:pt x="203403" y="279655"/>
                    <a:pt x="214517" y="279373"/>
                  </a:cubicBezTo>
                  <a:lnTo>
                    <a:pt x="214517" y="279279"/>
                  </a:lnTo>
                  <a:cubicBezTo>
                    <a:pt x="214140" y="273447"/>
                    <a:pt x="211880" y="260654"/>
                    <a:pt x="229022" y="249648"/>
                  </a:cubicBezTo>
                  <a:cubicBezTo>
                    <a:pt x="233731" y="246638"/>
                    <a:pt x="247765" y="237326"/>
                    <a:pt x="247765" y="237326"/>
                  </a:cubicBezTo>
                  <a:cubicBezTo>
                    <a:pt x="251061" y="235162"/>
                    <a:pt x="254923" y="234033"/>
                    <a:pt x="258879" y="234033"/>
                  </a:cubicBezTo>
                  <a:cubicBezTo>
                    <a:pt x="261328" y="234033"/>
                    <a:pt x="263494" y="234786"/>
                    <a:pt x="265754" y="235538"/>
                  </a:cubicBezTo>
                  <a:cubicBezTo>
                    <a:pt x="266790" y="236009"/>
                    <a:pt x="267826" y="236385"/>
                    <a:pt x="268768" y="236855"/>
                  </a:cubicBezTo>
                  <a:lnTo>
                    <a:pt x="269239" y="234598"/>
                  </a:lnTo>
                  <a:cubicBezTo>
                    <a:pt x="264436" y="231211"/>
                    <a:pt x="259726" y="227261"/>
                    <a:pt x="255205" y="222934"/>
                  </a:cubicBezTo>
                  <a:cubicBezTo>
                    <a:pt x="254923" y="222651"/>
                    <a:pt x="254735" y="222463"/>
                    <a:pt x="254546" y="222275"/>
                  </a:cubicBezTo>
                  <a:cubicBezTo>
                    <a:pt x="250025" y="217948"/>
                    <a:pt x="245693" y="213057"/>
                    <a:pt x="241548" y="207789"/>
                  </a:cubicBezTo>
                  <a:cubicBezTo>
                    <a:pt x="241454" y="207601"/>
                    <a:pt x="241266" y="207413"/>
                    <a:pt x="241077" y="207225"/>
                  </a:cubicBezTo>
                  <a:cubicBezTo>
                    <a:pt x="236933" y="201769"/>
                    <a:pt x="233072" y="196031"/>
                    <a:pt x="229681" y="189823"/>
                  </a:cubicBezTo>
                  <a:cubicBezTo>
                    <a:pt x="229587" y="189729"/>
                    <a:pt x="229587" y="189635"/>
                    <a:pt x="229493" y="189635"/>
                  </a:cubicBezTo>
                  <a:cubicBezTo>
                    <a:pt x="226008" y="183332"/>
                    <a:pt x="222899" y="176654"/>
                    <a:pt x="220356" y="169787"/>
                  </a:cubicBezTo>
                  <a:cubicBezTo>
                    <a:pt x="214140" y="168658"/>
                    <a:pt x="208301" y="165084"/>
                    <a:pt x="203497" y="159910"/>
                  </a:cubicBezTo>
                  <a:cubicBezTo>
                    <a:pt x="203309" y="159722"/>
                    <a:pt x="203214" y="159628"/>
                    <a:pt x="203120" y="159534"/>
                  </a:cubicBezTo>
                  <a:cubicBezTo>
                    <a:pt x="200860" y="157088"/>
                    <a:pt x="198976" y="154172"/>
                    <a:pt x="197281" y="151068"/>
                  </a:cubicBezTo>
                  <a:cubicBezTo>
                    <a:pt x="196998" y="150504"/>
                    <a:pt x="196716" y="149939"/>
                    <a:pt x="196433" y="149281"/>
                  </a:cubicBezTo>
                  <a:cubicBezTo>
                    <a:pt x="194832" y="146083"/>
                    <a:pt x="193513" y="142602"/>
                    <a:pt x="192666" y="138840"/>
                  </a:cubicBezTo>
                  <a:cubicBezTo>
                    <a:pt x="188145" y="118428"/>
                    <a:pt x="197092" y="99050"/>
                    <a:pt x="212727" y="95476"/>
                  </a:cubicBezTo>
                  <a:lnTo>
                    <a:pt x="212727" y="85787"/>
                  </a:lnTo>
                  <a:cubicBezTo>
                    <a:pt x="212727" y="38378"/>
                    <a:pt x="251155" y="0"/>
                    <a:pt x="298626" y="0"/>
                  </a:cubicBezTo>
                  <a:close/>
                </a:path>
              </a:pathLst>
            </a:custGeom>
            <a:solidFill>
              <a:srgbClr val="FFFFFF">
                <a:lumMod val="65000"/>
              </a:srgbClr>
            </a:solidFill>
            <a:ln cap="flat">
              <a:prstDash val="solid"/>
            </a:ln>
          </p:spPr>
          <p:txBody>
            <a:bodyPr vert="horz" wrap="square" lIns="91440" tIns="45720" rIns="91440" bIns="45720" anchor="t">
              <a:prstTxWarp prst="textNoShape">
                <a:avLst/>
              </a:prstTxWarp>
              <a:normAutofit/>
            </a:bodyPr>
            <a:lstStyle/>
            <a:p>
              <a:pPr marL="0" algn="l"/>
              <a:endParaRPr/>
            </a:p>
          </p:txBody>
        </p:sp>
        <p:sp>
          <p:nvSpPr>
            <p:cNvPr id="28" name="Freeform 28"/>
            <p:cNvSpPr/>
            <p:nvPr/>
          </p:nvSpPr>
          <p:spPr>
            <a:xfrm>
              <a:off x="5887109" y="2920347"/>
              <a:ext cx="654983" cy="484560"/>
            </a:xfrm>
            <a:custGeom>
              <a:avLst/>
              <a:gdLst/>
              <a:ahLst/>
              <a:cxnLst/>
              <a:rect l="l" t="t" r="r" b="b"/>
              <a:pathLst>
                <a:path w="6608" h="4896">
                  <a:moveTo>
                    <a:pt x="6608" y="638"/>
                  </a:moveTo>
                  <a:lnTo>
                    <a:pt x="6608" y="2638"/>
                  </a:lnTo>
                  <a:cubicBezTo>
                    <a:pt x="6608" y="2638"/>
                    <a:pt x="6180" y="2723"/>
                    <a:pt x="6092" y="2734"/>
                  </a:cubicBezTo>
                  <a:cubicBezTo>
                    <a:pt x="6004" y="2745"/>
                    <a:pt x="5728" y="2834"/>
                    <a:pt x="5528" y="2642"/>
                  </a:cubicBezTo>
                  <a:cubicBezTo>
                    <a:pt x="5219" y="2346"/>
                    <a:pt x="4122" y="1254"/>
                    <a:pt x="4122" y="1254"/>
                  </a:cubicBezTo>
                  <a:cubicBezTo>
                    <a:pt x="4122" y="1254"/>
                    <a:pt x="3932" y="1069"/>
                    <a:pt x="3629" y="1229"/>
                  </a:cubicBezTo>
                  <a:cubicBezTo>
                    <a:pt x="3350" y="1376"/>
                    <a:pt x="2936" y="1592"/>
                    <a:pt x="2764" y="1675"/>
                  </a:cubicBezTo>
                  <a:cubicBezTo>
                    <a:pt x="2437" y="1849"/>
                    <a:pt x="2167" y="1574"/>
                    <a:pt x="2167" y="1364"/>
                  </a:cubicBezTo>
                  <a:cubicBezTo>
                    <a:pt x="2167" y="1201"/>
                    <a:pt x="2269" y="1090"/>
                    <a:pt x="2414" y="1009"/>
                  </a:cubicBezTo>
                  <a:cubicBezTo>
                    <a:pt x="2808" y="770"/>
                    <a:pt x="3637" y="305"/>
                    <a:pt x="3983" y="121"/>
                  </a:cubicBezTo>
                  <a:cubicBezTo>
                    <a:pt x="4193" y="9"/>
                    <a:pt x="4344" y="0"/>
                    <a:pt x="4633" y="243"/>
                  </a:cubicBezTo>
                  <a:cubicBezTo>
                    <a:pt x="4988" y="541"/>
                    <a:pt x="5304" y="814"/>
                    <a:pt x="5304" y="814"/>
                  </a:cubicBezTo>
                  <a:cubicBezTo>
                    <a:pt x="5304" y="814"/>
                    <a:pt x="5407" y="900"/>
                    <a:pt x="5571" y="865"/>
                  </a:cubicBezTo>
                  <a:cubicBezTo>
                    <a:pt x="5975" y="780"/>
                    <a:pt x="6608" y="638"/>
                    <a:pt x="6608" y="638"/>
                  </a:cubicBezTo>
                  <a:close/>
                  <a:moveTo>
                    <a:pt x="2241" y="4027"/>
                  </a:moveTo>
                  <a:cubicBezTo>
                    <a:pt x="2294" y="3891"/>
                    <a:pt x="2277" y="3738"/>
                    <a:pt x="2175" y="3633"/>
                  </a:cubicBezTo>
                  <a:cubicBezTo>
                    <a:pt x="2083" y="3540"/>
                    <a:pt x="1950" y="3515"/>
                    <a:pt x="1822" y="3544"/>
                  </a:cubicBezTo>
                  <a:cubicBezTo>
                    <a:pt x="1858" y="3418"/>
                    <a:pt x="1838" y="3283"/>
                    <a:pt x="1746" y="3188"/>
                  </a:cubicBezTo>
                  <a:cubicBezTo>
                    <a:pt x="1654" y="3095"/>
                    <a:pt x="1521" y="3070"/>
                    <a:pt x="1394" y="3099"/>
                  </a:cubicBezTo>
                  <a:cubicBezTo>
                    <a:pt x="1429" y="2973"/>
                    <a:pt x="1409" y="2838"/>
                    <a:pt x="1317" y="2744"/>
                  </a:cubicBezTo>
                  <a:cubicBezTo>
                    <a:pt x="1173" y="2596"/>
                    <a:pt x="924" y="2602"/>
                    <a:pt x="760" y="2758"/>
                  </a:cubicBezTo>
                  <a:cubicBezTo>
                    <a:pt x="597" y="2915"/>
                    <a:pt x="492" y="3198"/>
                    <a:pt x="638" y="3365"/>
                  </a:cubicBezTo>
                  <a:cubicBezTo>
                    <a:pt x="783" y="3531"/>
                    <a:pt x="950" y="3430"/>
                    <a:pt x="1077" y="3401"/>
                  </a:cubicBezTo>
                  <a:cubicBezTo>
                    <a:pt x="1042" y="3527"/>
                    <a:pt x="936" y="3645"/>
                    <a:pt x="1066" y="3810"/>
                  </a:cubicBezTo>
                  <a:cubicBezTo>
                    <a:pt x="1197" y="3975"/>
                    <a:pt x="1378" y="3875"/>
                    <a:pt x="1506" y="3846"/>
                  </a:cubicBezTo>
                  <a:cubicBezTo>
                    <a:pt x="1470" y="3972"/>
                    <a:pt x="1369" y="4101"/>
                    <a:pt x="1494" y="4254"/>
                  </a:cubicBezTo>
                  <a:cubicBezTo>
                    <a:pt x="1621" y="4408"/>
                    <a:pt x="1829" y="4326"/>
                    <a:pt x="1966" y="4283"/>
                  </a:cubicBezTo>
                  <a:cubicBezTo>
                    <a:pt x="1913" y="4419"/>
                    <a:pt x="1799" y="4566"/>
                    <a:pt x="1945" y="4730"/>
                  </a:cubicBezTo>
                  <a:cubicBezTo>
                    <a:pt x="2090" y="4896"/>
                    <a:pt x="2426" y="4819"/>
                    <a:pt x="2590" y="4663"/>
                  </a:cubicBezTo>
                  <a:cubicBezTo>
                    <a:pt x="2753" y="4506"/>
                    <a:pt x="2769" y="4258"/>
                    <a:pt x="2625" y="4110"/>
                  </a:cubicBezTo>
                  <a:cubicBezTo>
                    <a:pt x="2526" y="4008"/>
                    <a:pt x="2378" y="3985"/>
                    <a:pt x="2241" y="4027"/>
                  </a:cubicBezTo>
                  <a:close/>
                  <a:moveTo>
                    <a:pt x="5233" y="2987"/>
                  </a:moveTo>
                  <a:cubicBezTo>
                    <a:pt x="4047" y="1802"/>
                    <a:pt x="4605" y="2359"/>
                    <a:pt x="3967" y="1720"/>
                  </a:cubicBezTo>
                  <a:cubicBezTo>
                    <a:pt x="3967" y="1720"/>
                    <a:pt x="3775" y="1529"/>
                    <a:pt x="3523" y="1640"/>
                  </a:cubicBezTo>
                  <a:cubicBezTo>
                    <a:pt x="3346" y="1718"/>
                    <a:pt x="3117" y="1824"/>
                    <a:pt x="2945" y="1905"/>
                  </a:cubicBezTo>
                  <a:cubicBezTo>
                    <a:pt x="2757" y="2004"/>
                    <a:pt x="2621" y="2034"/>
                    <a:pt x="2557" y="2034"/>
                  </a:cubicBezTo>
                  <a:cubicBezTo>
                    <a:pt x="2192" y="2031"/>
                    <a:pt x="1896" y="1738"/>
                    <a:pt x="1896" y="1373"/>
                  </a:cubicBezTo>
                  <a:cubicBezTo>
                    <a:pt x="1896" y="1137"/>
                    <a:pt x="2022" y="931"/>
                    <a:pt x="2209" y="814"/>
                  </a:cubicBezTo>
                  <a:cubicBezTo>
                    <a:pt x="2472" y="632"/>
                    <a:pt x="3078" y="310"/>
                    <a:pt x="3078" y="310"/>
                  </a:cubicBezTo>
                  <a:cubicBezTo>
                    <a:pt x="3078" y="310"/>
                    <a:pt x="2894" y="76"/>
                    <a:pt x="2489" y="76"/>
                  </a:cubicBezTo>
                  <a:cubicBezTo>
                    <a:pt x="2085" y="76"/>
                    <a:pt x="1240" y="629"/>
                    <a:pt x="1240" y="629"/>
                  </a:cubicBezTo>
                  <a:cubicBezTo>
                    <a:pt x="1240" y="629"/>
                    <a:pt x="1000" y="783"/>
                    <a:pt x="659" y="644"/>
                  </a:cubicBezTo>
                  <a:lnTo>
                    <a:pt x="0" y="415"/>
                  </a:lnTo>
                  <a:lnTo>
                    <a:pt x="0" y="2704"/>
                  </a:lnTo>
                  <a:cubicBezTo>
                    <a:pt x="0" y="2704"/>
                    <a:pt x="188" y="2758"/>
                    <a:pt x="357" y="2827"/>
                  </a:cubicBezTo>
                  <a:cubicBezTo>
                    <a:pt x="395" y="2719"/>
                    <a:pt x="457" y="2618"/>
                    <a:pt x="542" y="2535"/>
                  </a:cubicBezTo>
                  <a:cubicBezTo>
                    <a:pt x="822" y="2268"/>
                    <a:pt x="1287" y="2265"/>
                    <a:pt x="1542" y="2528"/>
                  </a:cubicBezTo>
                  <a:cubicBezTo>
                    <a:pt x="1619" y="2608"/>
                    <a:pt x="1673" y="2703"/>
                    <a:pt x="1700" y="2808"/>
                  </a:cubicBezTo>
                  <a:cubicBezTo>
                    <a:pt x="1803" y="2840"/>
                    <a:pt x="1896" y="2896"/>
                    <a:pt x="1971" y="2973"/>
                  </a:cubicBezTo>
                  <a:cubicBezTo>
                    <a:pt x="2048" y="3053"/>
                    <a:pt x="2101" y="3148"/>
                    <a:pt x="2129" y="3253"/>
                  </a:cubicBezTo>
                  <a:cubicBezTo>
                    <a:pt x="2231" y="3285"/>
                    <a:pt x="2324" y="3341"/>
                    <a:pt x="2399" y="3418"/>
                  </a:cubicBezTo>
                  <a:cubicBezTo>
                    <a:pt x="2484" y="3505"/>
                    <a:pt x="2540" y="3611"/>
                    <a:pt x="2566" y="3725"/>
                  </a:cubicBezTo>
                  <a:cubicBezTo>
                    <a:pt x="2674" y="3756"/>
                    <a:pt x="2771" y="3814"/>
                    <a:pt x="2849" y="3894"/>
                  </a:cubicBezTo>
                  <a:cubicBezTo>
                    <a:pt x="3002" y="4051"/>
                    <a:pt x="3056" y="4265"/>
                    <a:pt x="3023" y="4471"/>
                  </a:cubicBezTo>
                  <a:cubicBezTo>
                    <a:pt x="3024" y="4471"/>
                    <a:pt x="3024" y="4471"/>
                    <a:pt x="3024" y="4472"/>
                  </a:cubicBezTo>
                  <a:cubicBezTo>
                    <a:pt x="3027" y="4475"/>
                    <a:pt x="3119" y="4578"/>
                    <a:pt x="3177" y="4636"/>
                  </a:cubicBezTo>
                  <a:cubicBezTo>
                    <a:pt x="3290" y="4749"/>
                    <a:pt x="3475" y="4749"/>
                    <a:pt x="3588" y="4636"/>
                  </a:cubicBezTo>
                  <a:cubicBezTo>
                    <a:pt x="3700" y="4523"/>
                    <a:pt x="3701" y="4339"/>
                    <a:pt x="3588" y="4225"/>
                  </a:cubicBezTo>
                  <a:cubicBezTo>
                    <a:pt x="3584" y="4221"/>
                    <a:pt x="3180" y="3799"/>
                    <a:pt x="3213" y="3766"/>
                  </a:cubicBezTo>
                  <a:cubicBezTo>
                    <a:pt x="3245" y="3734"/>
                    <a:pt x="3759" y="4269"/>
                    <a:pt x="3769" y="4279"/>
                  </a:cubicBezTo>
                  <a:cubicBezTo>
                    <a:pt x="3882" y="4391"/>
                    <a:pt x="4066" y="4391"/>
                    <a:pt x="4179" y="4279"/>
                  </a:cubicBezTo>
                  <a:cubicBezTo>
                    <a:pt x="4292" y="4166"/>
                    <a:pt x="4292" y="3981"/>
                    <a:pt x="4179" y="3868"/>
                  </a:cubicBezTo>
                  <a:cubicBezTo>
                    <a:pt x="4174" y="3863"/>
                    <a:pt x="4151" y="3841"/>
                    <a:pt x="4142" y="3832"/>
                  </a:cubicBezTo>
                  <a:cubicBezTo>
                    <a:pt x="4142" y="3832"/>
                    <a:pt x="3632" y="3378"/>
                    <a:pt x="3671" y="3339"/>
                  </a:cubicBezTo>
                  <a:cubicBezTo>
                    <a:pt x="3710" y="3300"/>
                    <a:pt x="4343" y="3891"/>
                    <a:pt x="4345" y="3891"/>
                  </a:cubicBezTo>
                  <a:cubicBezTo>
                    <a:pt x="4458" y="3993"/>
                    <a:pt x="4634" y="3992"/>
                    <a:pt x="4743" y="3883"/>
                  </a:cubicBezTo>
                  <a:cubicBezTo>
                    <a:pt x="4850" y="3776"/>
                    <a:pt x="4852" y="3608"/>
                    <a:pt x="4758" y="3494"/>
                  </a:cubicBezTo>
                  <a:cubicBezTo>
                    <a:pt x="4756" y="3488"/>
                    <a:pt x="4275" y="2986"/>
                    <a:pt x="4312" y="2948"/>
                  </a:cubicBezTo>
                  <a:cubicBezTo>
                    <a:pt x="4351" y="2910"/>
                    <a:pt x="4826" y="3400"/>
                    <a:pt x="4827" y="3401"/>
                  </a:cubicBezTo>
                  <a:cubicBezTo>
                    <a:pt x="4940" y="3513"/>
                    <a:pt x="5124" y="3513"/>
                    <a:pt x="5238" y="3401"/>
                  </a:cubicBezTo>
                  <a:cubicBezTo>
                    <a:pt x="5350" y="3288"/>
                    <a:pt x="5350" y="3103"/>
                    <a:pt x="5238" y="2990"/>
                  </a:cubicBezTo>
                  <a:cubicBezTo>
                    <a:pt x="5236" y="2989"/>
                    <a:pt x="5234" y="2988"/>
                    <a:pt x="5233" y="2987"/>
                  </a:cubicBezTo>
                  <a:close/>
                </a:path>
              </a:pathLst>
            </a:custGeom>
            <a:solidFill>
              <a:schemeClr val="accent1"/>
            </a:solidFill>
            <a:ln cap="flat">
              <a:prstDash val="solid"/>
            </a:ln>
          </p:spPr>
          <p:txBody>
            <a:bodyPr vert="horz" wrap="square" lIns="91440" tIns="45720" rIns="91440" bIns="45720" anchor="t">
              <a:prstTxWarp prst="textNoShape">
                <a:avLst/>
              </a:prstTxWarp>
              <a:normAutofit/>
            </a:bodyPr>
            <a:lstStyle/>
            <a:p>
              <a:pPr marL="0" algn="l"/>
              <a:endParaRPr/>
            </a:p>
          </p:txBody>
        </p:sp>
      </p:grpSp>
      <p:pic>
        <p:nvPicPr>
          <p:cNvPr id="30" name="Picture 29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18701" y="235917"/>
            <a:ext cx="1752598" cy="53279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>
            <a:spLocks noGrp="1"/>
          </p:cNvSpPr>
          <p:nvPr>
            <p:ph type="title"/>
          </p:nvPr>
        </p:nvSpPr>
        <p:spPr>
          <a:xfrm>
            <a:off x="669924" y="1"/>
            <a:ext cx="10850563" cy="1028699"/>
          </a:xfrm>
        </p:spPr>
        <p:txBody>
          <a:bodyPr vert="horz" lIns="91440" tIns="45720" rIns="91440" bIns="45720" anchor="b">
            <a:normAutofit/>
          </a:bodyPr>
          <a:lstStyle/>
          <a:p>
            <a:pPr algn="l">
              <a:lnSpc>
                <a:spcPct val="90000"/>
              </a:lnSpc>
              <a:spcBef>
                <a:spcPct val="0"/>
              </a:spcBef>
            </a:pPr>
            <a:r>
              <a:rPr lang="zh-CN" altLang="en-US" sz="2800" b="1" i="0" u="none" baseline="0">
                <a:solidFill>
                  <a:srgbClr val="000000"/>
                </a:solidFill>
                <a:latin typeface="微软雅黑"/>
                <a:ea typeface="微软雅黑"/>
              </a:rPr>
              <a:t>Advanced Measures</a:t>
            </a:r>
          </a:p>
        </p:txBody>
      </p:sp>
      <p:grpSp>
        <p:nvGrpSpPr>
          <p:cNvPr id="3" name="Group 3"/>
          <p:cNvGrpSpPr/>
          <p:nvPr/>
        </p:nvGrpSpPr>
        <p:grpSpPr>
          <a:xfrm rot="21412315">
            <a:off x="3789299" y="1394914"/>
            <a:ext cx="3853586" cy="3477329"/>
            <a:chOff x="-12700" y="0"/>
            <a:chExt cx="7707170" cy="6954654"/>
          </a:xfrm>
        </p:grpSpPr>
        <p:sp>
          <p:nvSpPr>
            <p:cNvPr id="4" name="Freeform 4"/>
            <p:cNvSpPr/>
            <p:nvPr/>
          </p:nvSpPr>
          <p:spPr>
            <a:xfrm rot="21600000" flipH="1">
              <a:off x="3974166" y="0"/>
              <a:ext cx="3733003" cy="6954654"/>
            </a:xfrm>
            <a:custGeom>
              <a:avLst/>
              <a:gdLst/>
              <a:ahLst/>
              <a:cxnLst/>
              <a:rect l="l" t="t" r="r" b="b"/>
              <a:pathLst>
                <a:path w="21600" h="21600" extrusionOk="0">
                  <a:moveTo>
                    <a:pt x="19642" y="0"/>
                  </a:moveTo>
                  <a:lnTo>
                    <a:pt x="0" y="21117"/>
                  </a:lnTo>
                  <a:lnTo>
                    <a:pt x="1654" y="21600"/>
                  </a:lnTo>
                  <a:lnTo>
                    <a:pt x="21600" y="156"/>
                  </a:lnTo>
                  <a:lnTo>
                    <a:pt x="19642" y="0"/>
                  </a:lnTo>
                  <a:close/>
                </a:path>
              </a:pathLst>
            </a:custGeom>
            <a:solidFill>
              <a:srgbClr val="768394">
                <a:lumMod val="20000"/>
                <a:lumOff val="80000"/>
              </a:srgbClr>
            </a:solidFill>
            <a:ln w="6350" cap="flat">
              <a:solidFill>
                <a:srgbClr val="CFCFCF"/>
              </a:solidFill>
              <a:prstDash val="solid"/>
            </a:ln>
          </p:spPr>
          <p:txBody>
            <a:bodyPr vert="horz" wrap="square" lIns="91440" tIns="45720" rIns="91440" bIns="45720" anchor="ctr">
              <a:normAutofit/>
            </a:bodyPr>
            <a:lstStyle/>
            <a:p>
              <a:pPr marL="0" algn="ctr"/>
              <a:endParaRPr/>
            </a:p>
          </p:txBody>
        </p:sp>
        <p:sp>
          <p:nvSpPr>
            <p:cNvPr id="5" name="Freeform 5"/>
            <p:cNvSpPr/>
            <p:nvPr/>
          </p:nvSpPr>
          <p:spPr>
            <a:xfrm rot="21600000" flipH="1">
              <a:off x="550459" y="46118"/>
              <a:ext cx="6870387" cy="6904480"/>
            </a:xfrm>
            <a:custGeom>
              <a:avLst/>
              <a:gdLst/>
              <a:ahLst/>
              <a:cxnLst/>
              <a:rect l="l" t="t" r="r" b="b"/>
              <a:pathLst>
                <a:path w="21600" h="21600" extrusionOk="0">
                  <a:moveTo>
                    <a:pt x="10838" y="0"/>
                  </a:moveTo>
                  <a:lnTo>
                    <a:pt x="0" y="21600"/>
                  </a:lnTo>
                  <a:lnTo>
                    <a:pt x="21600" y="18579"/>
                  </a:lnTo>
                  <a:cubicBezTo>
                    <a:pt x="21600" y="18579"/>
                    <a:pt x="10838" y="0"/>
                    <a:pt x="10838" y="0"/>
                  </a:cubicBezTo>
                  <a:close/>
                </a:path>
              </a:pathLst>
            </a:custGeom>
            <a:solidFill>
              <a:schemeClr val="accent1">
                <a:lumMod val="100000"/>
              </a:schemeClr>
            </a:solidFill>
            <a:ln cap="flat"/>
          </p:spPr>
          <p:txBody>
            <a:bodyPr vert="horz" wrap="square" lIns="91440" tIns="45720" rIns="91440" bIns="45720" anchor="ctr">
              <a:normAutofit/>
            </a:bodyPr>
            <a:lstStyle/>
            <a:p>
              <a:pPr marL="0" algn="ctr"/>
              <a:endParaRPr/>
            </a:p>
          </p:txBody>
        </p:sp>
        <p:sp>
          <p:nvSpPr>
            <p:cNvPr id="6" name="Freeform 6"/>
            <p:cNvSpPr/>
            <p:nvPr/>
          </p:nvSpPr>
          <p:spPr>
            <a:xfrm rot="21600000" flipH="1">
              <a:off x="2561014" y="2080599"/>
              <a:ext cx="2584782" cy="4760997"/>
            </a:xfrm>
            <a:custGeom>
              <a:avLst/>
              <a:gdLst/>
              <a:ahLst/>
              <a:cxnLst/>
              <a:rect l="l" t="t" r="r" b="b"/>
              <a:pathLst>
                <a:path w="21600" h="21600" extrusionOk="0">
                  <a:moveTo>
                    <a:pt x="19211" y="0"/>
                  </a:moveTo>
                  <a:lnTo>
                    <a:pt x="0" y="20894"/>
                  </a:lnTo>
                  <a:lnTo>
                    <a:pt x="2389" y="21600"/>
                  </a:lnTo>
                  <a:lnTo>
                    <a:pt x="21600" y="706"/>
                  </a:lnTo>
                  <a:cubicBezTo>
                    <a:pt x="21600" y="706"/>
                    <a:pt x="19211" y="0"/>
                    <a:pt x="19211" y="0"/>
                  </a:cubicBezTo>
                  <a:close/>
                </a:path>
              </a:pathLst>
            </a:custGeom>
            <a:solidFill>
              <a:srgbClr val="768394">
                <a:lumMod val="20000"/>
                <a:lumOff val="80000"/>
              </a:srgbClr>
            </a:solidFill>
            <a:ln w="6350" cap="flat">
              <a:solidFill>
                <a:srgbClr val="CFCFCF"/>
              </a:solidFill>
              <a:prstDash val="solid"/>
            </a:ln>
          </p:spPr>
          <p:txBody>
            <a:bodyPr vert="horz" wrap="square" lIns="91440" tIns="45720" rIns="91440" bIns="45720" anchor="ctr">
              <a:normAutofit/>
            </a:bodyPr>
            <a:lstStyle/>
            <a:p>
              <a:pPr marL="0" algn="ctr"/>
              <a:endParaRPr/>
            </a:p>
          </p:txBody>
        </p:sp>
        <p:sp>
          <p:nvSpPr>
            <p:cNvPr id="7" name="Freeform 7"/>
            <p:cNvSpPr/>
            <p:nvPr/>
          </p:nvSpPr>
          <p:spPr>
            <a:xfrm rot="21600000" flipH="1">
              <a:off x="276703" y="2235067"/>
              <a:ext cx="4582419" cy="4605470"/>
            </a:xfrm>
            <a:custGeom>
              <a:avLst/>
              <a:gdLst/>
              <a:ahLst/>
              <a:cxnLst/>
              <a:rect l="l" t="t" r="r" b="b"/>
              <a:pathLst>
                <a:path w="21600" h="21600" extrusionOk="0">
                  <a:moveTo>
                    <a:pt x="10836" y="0"/>
                  </a:moveTo>
                  <a:lnTo>
                    <a:pt x="0" y="21600"/>
                  </a:lnTo>
                  <a:lnTo>
                    <a:pt x="21600" y="18579"/>
                  </a:lnTo>
                  <a:cubicBezTo>
                    <a:pt x="21600" y="18579"/>
                    <a:pt x="10836" y="0"/>
                    <a:pt x="10836" y="0"/>
                  </a:cubicBezTo>
                  <a:close/>
                </a:path>
              </a:pathLst>
            </a:custGeom>
            <a:solidFill>
              <a:srgbClr val="FFFFFF">
                <a:lumMod val="75000"/>
              </a:srgbClr>
            </a:solidFill>
            <a:ln cap="flat"/>
          </p:spPr>
          <p:txBody>
            <a:bodyPr vert="horz" wrap="square" lIns="91440" tIns="45720" rIns="91440" bIns="45720" anchor="ctr">
              <a:normAutofit/>
            </a:bodyPr>
            <a:lstStyle/>
            <a:p>
              <a:pPr marL="0" algn="ctr"/>
              <a:endParaRPr/>
            </a:p>
          </p:txBody>
        </p:sp>
        <p:sp>
          <p:nvSpPr>
            <p:cNvPr id="8" name="Freeform 8"/>
            <p:cNvSpPr/>
            <p:nvPr/>
          </p:nvSpPr>
          <p:spPr>
            <a:xfrm rot="21600000" flipH="1">
              <a:off x="1143529" y="4216886"/>
              <a:ext cx="1447101" cy="2481906"/>
            </a:xfrm>
            <a:custGeom>
              <a:avLst/>
              <a:gdLst/>
              <a:ahLst/>
              <a:cxnLst/>
              <a:rect l="l" t="t" r="r" b="b"/>
              <a:pathLst>
                <a:path w="21600" h="21600" extrusionOk="0">
                  <a:moveTo>
                    <a:pt x="17332" y="0"/>
                  </a:moveTo>
                  <a:lnTo>
                    <a:pt x="0" y="20246"/>
                  </a:lnTo>
                  <a:lnTo>
                    <a:pt x="4266" y="21600"/>
                  </a:lnTo>
                  <a:lnTo>
                    <a:pt x="21600" y="1354"/>
                  </a:lnTo>
                  <a:cubicBezTo>
                    <a:pt x="21600" y="1354"/>
                    <a:pt x="17332" y="0"/>
                    <a:pt x="17332" y="0"/>
                  </a:cubicBezTo>
                  <a:close/>
                </a:path>
              </a:pathLst>
            </a:custGeom>
            <a:solidFill>
              <a:srgbClr val="768394">
                <a:lumMod val="20000"/>
                <a:lumOff val="80000"/>
              </a:srgbClr>
            </a:solidFill>
            <a:ln w="6350" cap="flat">
              <a:solidFill>
                <a:srgbClr val="CFCFCF"/>
              </a:solidFill>
              <a:prstDash val="solid"/>
            </a:ln>
          </p:spPr>
          <p:txBody>
            <a:bodyPr vert="horz" wrap="square" lIns="91440" tIns="45720" rIns="91440" bIns="45720" anchor="ctr">
              <a:normAutofit/>
            </a:bodyPr>
            <a:lstStyle/>
            <a:p>
              <a:pPr marL="0" algn="ctr"/>
              <a:endParaRPr/>
            </a:p>
          </p:txBody>
        </p:sp>
        <p:sp>
          <p:nvSpPr>
            <p:cNvPr id="9" name="Freeform 9"/>
            <p:cNvSpPr/>
            <p:nvPr/>
          </p:nvSpPr>
          <p:spPr>
            <a:xfrm rot="21600000" flipH="1">
              <a:off x="-12700" y="4363523"/>
              <a:ext cx="2314559" cy="2326380"/>
            </a:xfrm>
            <a:custGeom>
              <a:avLst/>
              <a:gdLst/>
              <a:ahLst/>
              <a:cxnLst/>
              <a:rect l="l" t="t" r="r" b="b"/>
              <a:pathLst>
                <a:path w="21600" h="21600" extrusionOk="0">
                  <a:moveTo>
                    <a:pt x="10838" y="0"/>
                  </a:moveTo>
                  <a:lnTo>
                    <a:pt x="0" y="21600"/>
                  </a:lnTo>
                  <a:lnTo>
                    <a:pt x="21600" y="18579"/>
                  </a:lnTo>
                  <a:cubicBezTo>
                    <a:pt x="21600" y="18579"/>
                    <a:pt x="10838" y="0"/>
                    <a:pt x="10838" y="0"/>
                  </a:cubicBezTo>
                  <a:close/>
                </a:path>
              </a:pathLst>
            </a:custGeom>
            <a:solidFill>
              <a:srgbClr val="FFFFFF">
                <a:lumMod val="75000"/>
              </a:srgbClr>
            </a:solidFill>
            <a:ln cap="flat"/>
          </p:spPr>
          <p:txBody>
            <a:bodyPr vert="horz" wrap="square" lIns="91440" tIns="45720" rIns="91440" bIns="45720" anchor="ctr">
              <a:normAutofit/>
            </a:bodyPr>
            <a:lstStyle/>
            <a:p>
              <a:pPr marL="0" algn="ctr"/>
              <a:endParaRPr/>
            </a:p>
          </p:txBody>
        </p:sp>
      </p:grpSp>
      <p:sp>
        <p:nvSpPr>
          <p:cNvPr id="10" name="AutoShape 10"/>
          <p:cNvSpPr/>
          <p:nvPr/>
        </p:nvSpPr>
        <p:spPr>
          <a:xfrm>
            <a:off x="7474649" y="3133980"/>
            <a:ext cx="4045839" cy="585610"/>
          </a:xfrm>
          <a:prstGeom prst="rect">
            <a:avLst/>
          </a:prstGeom>
          <a:noFill/>
          <a:ln cap="flat"/>
        </p:spPr>
        <p:txBody>
          <a:bodyPr vert="horz" wrap="square" lIns="91440" tIns="45720" rIns="91440" bIns="45720" anchor="t">
            <a:spAutoFit/>
          </a:bodyPr>
          <a:lstStyle/>
          <a:p>
            <a:pPr marL="0" algn="l">
              <a:lnSpc>
                <a:spcPct val="120000"/>
              </a:lnSpc>
            </a:pPr>
            <a:r>
              <a:rPr lang="en-US" sz="1400" b="0" i="0" u="none" baseline="0">
                <a:solidFill>
                  <a:srgbClr val="000000"/>
                </a:solidFill>
                <a:latin typeface="Arial"/>
                <a:ea typeface="Arial"/>
              </a:rPr>
              <a:t>State Rank and District Rank measures use `RANKX` to provide performance rankings across geographic levels.</a:t>
            </a:r>
          </a:p>
        </p:txBody>
      </p:sp>
      <p:sp>
        <p:nvSpPr>
          <p:cNvPr id="11" name="AutoShape 11"/>
          <p:cNvSpPr/>
          <p:nvPr/>
        </p:nvSpPr>
        <p:spPr>
          <a:xfrm>
            <a:off x="669926" y="2684488"/>
            <a:ext cx="3713336" cy="585610"/>
          </a:xfrm>
          <a:prstGeom prst="rect">
            <a:avLst/>
          </a:prstGeom>
          <a:noFill/>
          <a:ln cap="flat"/>
        </p:spPr>
        <p:txBody>
          <a:bodyPr vert="horz" wrap="square" lIns="91440" tIns="45720" rIns="91440" bIns="45720" anchor="t">
            <a:spAutoFit/>
          </a:bodyPr>
          <a:lstStyle/>
          <a:p>
            <a:pPr marL="0" algn="l">
              <a:lnSpc>
                <a:spcPct val="120000"/>
              </a:lnSpc>
            </a:pPr>
            <a:r>
              <a:rPr lang="en-US" sz="1400" b="0" i="0" u="none" baseline="0">
                <a:solidFill>
                  <a:srgbClr val="000000"/>
                </a:solidFill>
                <a:latin typeface="Arial"/>
                <a:ea typeface="Arial"/>
              </a:rPr>
              <a:t>Extracted maximum transaction and user values for top-performing districts.</a:t>
            </a:r>
          </a:p>
        </p:txBody>
      </p:sp>
      <p:sp>
        <p:nvSpPr>
          <p:cNvPr id="12" name="AutoShape 12"/>
          <p:cNvSpPr/>
          <p:nvPr/>
        </p:nvSpPr>
        <p:spPr>
          <a:xfrm>
            <a:off x="5817485" y="5691807"/>
            <a:ext cx="5187587" cy="327077"/>
          </a:xfrm>
          <a:prstGeom prst="rect">
            <a:avLst/>
          </a:prstGeom>
          <a:noFill/>
          <a:ln cap="flat"/>
        </p:spPr>
        <p:txBody>
          <a:bodyPr vert="horz" wrap="square" lIns="91440" tIns="45720" rIns="91440" bIns="45720" anchor="t">
            <a:spAutoFit/>
          </a:bodyPr>
          <a:lstStyle/>
          <a:p>
            <a:pPr marL="0" algn="l">
              <a:lnSpc>
                <a:spcPct val="120000"/>
              </a:lnSpc>
            </a:pPr>
            <a:r>
              <a:rPr lang="en-US" sz="1400" b="0" i="0" u="none" baseline="0">
                <a:solidFill>
                  <a:srgbClr val="000000"/>
                </a:solidFill>
                <a:latin typeface="Arial"/>
                <a:ea typeface="Arial"/>
              </a:rPr>
              <a:t>Calculated as `DIVIDE([Brand Users], [Total Brand Users])` to analyze mobile brand adoption.</a:t>
            </a:r>
          </a:p>
        </p:txBody>
      </p:sp>
      <p:sp>
        <p:nvSpPr>
          <p:cNvPr id="13" name="AutoShape 13"/>
          <p:cNvSpPr/>
          <p:nvPr/>
        </p:nvSpPr>
        <p:spPr>
          <a:xfrm>
            <a:off x="6350682" y="2730803"/>
            <a:ext cx="887206" cy="887204"/>
          </a:xfrm>
          <a:prstGeom prst="ellipse">
            <a:avLst/>
          </a:prstGeom>
          <a:solidFill>
            <a:srgbClr val="FFFFFF"/>
          </a:solidFill>
          <a:ln w="9525" cap="flat">
            <a:solidFill>
              <a:srgbClr val="CFCFCF"/>
            </a:solidFill>
            <a:prstDash val="solid"/>
          </a:ln>
        </p:spPr>
        <p:txBody>
          <a:bodyPr vert="horz" wrap="square" lIns="91440" tIns="45720" rIns="91440" bIns="45720" anchor="ctr">
            <a:normAutofit/>
          </a:bodyPr>
          <a:lstStyle/>
          <a:p>
            <a:pPr marL="0" algn="ctr"/>
            <a:r>
              <a:rPr lang="en-US" sz="2800" b="1" i="0" u="none" baseline="0">
                <a:solidFill>
                  <a:schemeClr val="accent1">
                    <a:lumMod val="100000"/>
                  </a:schemeClr>
                </a:solidFill>
                <a:latin typeface="Arial"/>
                <a:ea typeface="Arial"/>
              </a:rPr>
              <a:t>1</a:t>
            </a:r>
          </a:p>
        </p:txBody>
      </p:sp>
      <p:sp>
        <p:nvSpPr>
          <p:cNvPr id="14" name="AutoShape 14"/>
          <p:cNvSpPr/>
          <p:nvPr/>
        </p:nvSpPr>
        <p:spPr>
          <a:xfrm>
            <a:off x="3562348" y="4372252"/>
            <a:ext cx="887206" cy="887204"/>
          </a:xfrm>
          <a:prstGeom prst="ellipse">
            <a:avLst/>
          </a:prstGeom>
          <a:solidFill>
            <a:srgbClr val="FFFFFF"/>
          </a:solidFill>
          <a:ln w="9525" cap="flat">
            <a:solidFill>
              <a:srgbClr val="CFCFCF"/>
            </a:solidFill>
            <a:prstDash val="solid"/>
          </a:ln>
        </p:spPr>
        <p:txBody>
          <a:bodyPr vert="horz" wrap="square" lIns="91440" tIns="45720" rIns="91440" bIns="45720" anchor="ctr">
            <a:normAutofit/>
          </a:bodyPr>
          <a:lstStyle/>
          <a:p>
            <a:pPr marL="0" algn="ctr"/>
            <a:r>
              <a:rPr lang="en-US" sz="2800" b="1" i="0" u="none" baseline="0">
                <a:solidFill>
                  <a:srgbClr val="FFFFFF">
                    <a:lumMod val="75000"/>
                  </a:srgbClr>
                </a:solidFill>
                <a:latin typeface="Arial"/>
                <a:ea typeface="Arial"/>
              </a:rPr>
              <a:t>3</a:t>
            </a:r>
          </a:p>
        </p:txBody>
      </p:sp>
      <p:sp>
        <p:nvSpPr>
          <p:cNvPr id="15" name="AutoShape 15"/>
          <p:cNvSpPr/>
          <p:nvPr/>
        </p:nvSpPr>
        <p:spPr>
          <a:xfrm>
            <a:off x="5756742" y="4374669"/>
            <a:ext cx="887206" cy="887204"/>
          </a:xfrm>
          <a:prstGeom prst="ellipse">
            <a:avLst/>
          </a:prstGeom>
          <a:solidFill>
            <a:srgbClr val="FFFFFF"/>
          </a:solidFill>
          <a:ln w="9525" cap="flat">
            <a:solidFill>
              <a:srgbClr val="CFCFCF"/>
            </a:solidFill>
            <a:prstDash val="solid"/>
          </a:ln>
        </p:spPr>
        <p:txBody>
          <a:bodyPr vert="horz" wrap="square" lIns="91440" tIns="45720" rIns="91440" bIns="45720" anchor="ctr">
            <a:normAutofit/>
          </a:bodyPr>
          <a:lstStyle/>
          <a:p>
            <a:pPr marL="0" algn="ctr"/>
            <a:r>
              <a:rPr lang="en-US" sz="2800" b="1" i="0" u="none" baseline="0">
                <a:solidFill>
                  <a:srgbClr val="FFFFFF">
                    <a:lumMod val="75000"/>
                  </a:srgbClr>
                </a:solidFill>
                <a:latin typeface="Arial"/>
                <a:ea typeface="Arial"/>
              </a:rPr>
              <a:t>2</a:t>
            </a:r>
          </a:p>
        </p:txBody>
      </p:sp>
      <p:sp>
        <p:nvSpPr>
          <p:cNvPr id="16" name="AutoShape 16"/>
          <p:cNvSpPr/>
          <p:nvPr/>
        </p:nvSpPr>
        <p:spPr>
          <a:xfrm>
            <a:off x="7475690" y="2783302"/>
            <a:ext cx="4045839" cy="338554"/>
          </a:xfrm>
          <a:prstGeom prst="rect">
            <a:avLst/>
          </a:prstGeom>
          <a:noFill/>
          <a:ln cap="flat"/>
        </p:spPr>
        <p:txBody>
          <a:bodyPr vert="horz" wrap="square" lIns="91440" tIns="45720" rIns="91440" bIns="45720" anchor="ctr">
            <a:spAutoFit/>
          </a:bodyPr>
          <a:lstStyle/>
          <a:p>
            <a:pPr marL="0" algn="l">
              <a:spcBef>
                <a:spcPct val="0"/>
              </a:spcBef>
            </a:pPr>
            <a:r>
              <a:rPr lang="en-US" sz="1600" b="1" i="0" u="none" baseline="0">
                <a:solidFill>
                  <a:srgbClr val="000000"/>
                </a:solidFill>
                <a:latin typeface="Arial"/>
                <a:ea typeface="Arial"/>
              </a:rPr>
              <a:t>State &amp; District Rankings</a:t>
            </a:r>
          </a:p>
        </p:txBody>
      </p:sp>
      <p:sp>
        <p:nvSpPr>
          <p:cNvPr id="17" name="AutoShape 17"/>
          <p:cNvSpPr/>
          <p:nvPr/>
        </p:nvSpPr>
        <p:spPr>
          <a:xfrm>
            <a:off x="670967" y="2333811"/>
            <a:ext cx="3713336" cy="338554"/>
          </a:xfrm>
          <a:prstGeom prst="rect">
            <a:avLst/>
          </a:prstGeom>
          <a:noFill/>
          <a:ln cap="flat"/>
        </p:spPr>
        <p:txBody>
          <a:bodyPr vert="horz" wrap="square" lIns="91440" tIns="45720" rIns="91440" bIns="45720" anchor="ctr">
            <a:spAutoFit/>
          </a:bodyPr>
          <a:lstStyle/>
          <a:p>
            <a:pPr marL="0" algn="l">
              <a:spcBef>
                <a:spcPct val="0"/>
              </a:spcBef>
            </a:pPr>
            <a:r>
              <a:rPr lang="en-US" sz="1600" b="1" i="0" u="none" baseline="0">
                <a:solidFill>
                  <a:srgbClr val="000000"/>
                </a:solidFill>
                <a:latin typeface="Arial"/>
                <a:ea typeface="Arial"/>
              </a:rPr>
              <a:t>Top Transaction &amp; Users</a:t>
            </a:r>
          </a:p>
        </p:txBody>
      </p:sp>
      <p:sp>
        <p:nvSpPr>
          <p:cNvPr id="18" name="AutoShape 18"/>
          <p:cNvSpPr/>
          <p:nvPr/>
        </p:nvSpPr>
        <p:spPr>
          <a:xfrm>
            <a:off x="5818526" y="5341129"/>
            <a:ext cx="5187587" cy="338554"/>
          </a:xfrm>
          <a:prstGeom prst="rect">
            <a:avLst/>
          </a:prstGeom>
          <a:noFill/>
          <a:ln cap="flat"/>
        </p:spPr>
        <p:txBody>
          <a:bodyPr vert="horz" wrap="square" lIns="91440" tIns="45720" rIns="91440" bIns="45720" anchor="ctr">
            <a:spAutoFit/>
          </a:bodyPr>
          <a:lstStyle/>
          <a:p>
            <a:pPr marL="0" algn="l">
              <a:spcBef>
                <a:spcPct val="0"/>
              </a:spcBef>
            </a:pPr>
            <a:r>
              <a:rPr lang="en-US" sz="1600" b="1" i="0" u="none" baseline="0">
                <a:solidFill>
                  <a:srgbClr val="000000"/>
                </a:solidFill>
                <a:latin typeface="Arial"/>
                <a:ea typeface="Arial"/>
              </a:rPr>
              <a:t>Brand Market Share</a:t>
            </a:r>
          </a:p>
        </p:txBody>
      </p:sp>
      <p:pic>
        <p:nvPicPr>
          <p:cNvPr id="20" name="Picture 19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18701" y="235917"/>
            <a:ext cx="1752598" cy="53279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>
            <a:spLocks noGrp="1"/>
          </p:cNvSpPr>
          <p:nvPr>
            <p:ph type="title"/>
          </p:nvPr>
        </p:nvSpPr>
        <p:spPr>
          <a:xfrm>
            <a:off x="805844" y="294280"/>
            <a:ext cx="7119766" cy="895350"/>
          </a:xfrm>
        </p:spPr>
        <p:txBody>
          <a:bodyPr vert="horz" lIns="91440" tIns="45720" rIns="91440" bIns="45720" anchor="t">
            <a:normAutofit/>
          </a:bodyPr>
          <a:lstStyle/>
          <a:p>
            <a:pPr algn="l">
              <a:lnSpc>
                <a:spcPct val="90000"/>
              </a:lnSpc>
            </a:pPr>
            <a:r>
              <a:rPr lang="en-US" altLang="zh-CN" sz="2400" b="1" dirty="0" smtClean="0">
                <a:solidFill>
                  <a:srgbClr val="000000"/>
                </a:solidFill>
                <a:latin typeface="微软雅黑"/>
                <a:ea typeface="微软雅黑"/>
              </a:rPr>
              <a:t>Relationship Screenshot</a:t>
            </a:r>
            <a:endParaRPr lang="en-US" sz="2400" b="1" i="0" u="none" baseline="0" dirty="0">
              <a:solidFill>
                <a:schemeClr val="accent1"/>
              </a:solidFill>
              <a:latin typeface="Arial"/>
              <a:ea typeface="Arial"/>
            </a:endParaRPr>
          </a:p>
        </p:txBody>
      </p:sp>
      <p:sp>
        <p:nvSpPr>
          <p:cNvPr id="3" name="TextBox 3"/>
          <p:cNvSpPr txBox="1"/>
          <p:nvPr/>
        </p:nvSpPr>
        <p:spPr>
          <a:xfrm>
            <a:off x="381000" y="235917"/>
            <a:ext cx="156976" cy="1015623"/>
          </a:xfrm>
          <a:prstGeom prst="rect">
            <a:avLst/>
          </a:prstGeom>
          <a:noFill/>
        </p:spPr>
        <p:txBody>
          <a:bodyPr vert="horz" wrap="none" lIns="91440" tIns="45720" rIns="91440" bIns="45720" rtlCol="0" anchor="t">
            <a:prstTxWarp prst="textPlain">
              <a:avLst/>
            </a:prstTxWarp>
            <a:spAutoFit/>
          </a:bodyPr>
          <a:lstStyle/>
          <a:p>
            <a:pPr marL="0" algn="l">
              <a:defRPr/>
            </a:pPr>
            <a:r>
              <a:rPr lang="en-US" b="0" i="0" u="none" spc="100" baseline="0" dirty="0">
                <a:solidFill>
                  <a:schemeClr val="accent1"/>
                </a:solidFill>
                <a:latin typeface="Impact"/>
                <a:ea typeface="Impact"/>
              </a:rPr>
              <a:t>/</a:t>
            </a:r>
            <a:endParaRPr lang="en-US" sz="1100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18701" y="235917"/>
            <a:ext cx="1752598" cy="532790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74346" y="1222627"/>
            <a:ext cx="9614707" cy="54056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7160279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>
            <a:spLocks noGrp="1"/>
          </p:cNvSpPr>
          <p:nvPr>
            <p:ph type="title"/>
          </p:nvPr>
        </p:nvSpPr>
        <p:spPr>
          <a:xfrm>
            <a:off x="805844" y="294280"/>
            <a:ext cx="7119766" cy="895350"/>
          </a:xfrm>
        </p:spPr>
        <p:txBody>
          <a:bodyPr vert="horz" lIns="91440" tIns="45720" rIns="91440" bIns="45720" anchor="t">
            <a:normAutofit/>
          </a:bodyPr>
          <a:lstStyle/>
          <a:p>
            <a:pPr algn="l">
              <a:lnSpc>
                <a:spcPct val="90000"/>
              </a:lnSpc>
            </a:pPr>
            <a:r>
              <a:rPr lang="en-US" altLang="zh-CN" sz="2400" b="1" dirty="0" smtClean="0">
                <a:solidFill>
                  <a:srgbClr val="000000"/>
                </a:solidFill>
                <a:latin typeface="微软雅黑"/>
                <a:ea typeface="微软雅黑"/>
              </a:rPr>
              <a:t>Model View Screenshot</a:t>
            </a:r>
            <a:endParaRPr lang="en-US" sz="2400" b="1" i="0" u="none" baseline="0" dirty="0">
              <a:solidFill>
                <a:schemeClr val="accent1"/>
              </a:solidFill>
              <a:latin typeface="Arial"/>
              <a:ea typeface="Arial"/>
            </a:endParaRPr>
          </a:p>
        </p:txBody>
      </p:sp>
      <p:sp>
        <p:nvSpPr>
          <p:cNvPr id="3" name="TextBox 3"/>
          <p:cNvSpPr txBox="1"/>
          <p:nvPr/>
        </p:nvSpPr>
        <p:spPr>
          <a:xfrm>
            <a:off x="381000" y="235917"/>
            <a:ext cx="156976" cy="1015623"/>
          </a:xfrm>
          <a:prstGeom prst="rect">
            <a:avLst/>
          </a:prstGeom>
          <a:noFill/>
        </p:spPr>
        <p:txBody>
          <a:bodyPr vert="horz" wrap="none" lIns="91440" tIns="45720" rIns="91440" bIns="45720" rtlCol="0" anchor="t">
            <a:prstTxWarp prst="textPlain">
              <a:avLst/>
            </a:prstTxWarp>
            <a:spAutoFit/>
          </a:bodyPr>
          <a:lstStyle/>
          <a:p>
            <a:pPr marL="0" algn="l">
              <a:defRPr/>
            </a:pPr>
            <a:r>
              <a:rPr lang="en-US" b="0" i="0" u="none" spc="100" baseline="0" dirty="0">
                <a:solidFill>
                  <a:schemeClr val="accent1"/>
                </a:solidFill>
                <a:latin typeface="Impact"/>
                <a:ea typeface="Impact"/>
              </a:rPr>
              <a:t>/</a:t>
            </a:r>
            <a:endParaRPr lang="en-US" sz="1100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18701" y="235917"/>
            <a:ext cx="1752598" cy="532790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74346" y="1222627"/>
            <a:ext cx="9614707" cy="54056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7160279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>
            <a:spLocks noGrp="1"/>
          </p:cNvSpPr>
          <p:nvPr>
            <p:ph type="title"/>
          </p:nvPr>
        </p:nvSpPr>
        <p:spPr>
          <a:xfrm>
            <a:off x="3794704" y="2914650"/>
            <a:ext cx="7119766" cy="895350"/>
          </a:xfrm>
        </p:spPr>
        <p:txBody>
          <a:bodyPr vert="horz" lIns="91440" tIns="45720" rIns="91440" bIns="45720" anchor="t">
            <a:normAutofit/>
          </a:bodyPr>
          <a:lstStyle/>
          <a:p>
            <a:pPr algn="l">
              <a:lnSpc>
                <a:spcPct val="90000"/>
              </a:lnSpc>
              <a:spcBef>
                <a:spcPct val="0"/>
              </a:spcBef>
            </a:pPr>
            <a:r>
              <a:rPr lang="en-US" sz="2400" b="1" i="0" u="none" baseline="0">
                <a:solidFill>
                  <a:schemeClr val="accent1"/>
                </a:solidFill>
                <a:latin typeface="Arial"/>
                <a:ea typeface="Arial"/>
              </a:rPr>
              <a:t>Interactive Dashboards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2499727" y="2794377"/>
            <a:ext cx="156976" cy="1015623"/>
          </a:xfrm>
          <a:prstGeom prst="rect">
            <a:avLst/>
          </a:prstGeom>
          <a:noFill/>
        </p:spPr>
        <p:txBody>
          <a:bodyPr vert="horz" wrap="none" lIns="91440" tIns="45720" rIns="91440" bIns="45720" rtlCol="0" anchor="t">
            <a:prstTxWarp prst="textPlain">
              <a:avLst/>
            </a:prstTxWarp>
            <a:spAutoFit/>
          </a:bodyPr>
          <a:lstStyle/>
          <a:p>
            <a:pPr marL="0" algn="l">
              <a:defRPr/>
            </a:pPr>
            <a:r>
              <a:rPr lang="en-US" b="0" i="0" u="none" spc="100" baseline="0">
                <a:solidFill>
                  <a:schemeClr val="accent1"/>
                </a:solidFill>
                <a:latin typeface="Impact"/>
                <a:ea typeface="Impact"/>
              </a:rPr>
              <a:t>/</a:t>
            </a:r>
            <a:endParaRPr lang="en-US" sz="1100"/>
          </a:p>
        </p:txBody>
      </p:sp>
      <p:sp>
        <p:nvSpPr>
          <p:cNvPr id="4" name="TextBox 4"/>
          <p:cNvSpPr txBox="1"/>
          <p:nvPr/>
        </p:nvSpPr>
        <p:spPr>
          <a:xfrm>
            <a:off x="2721210" y="2840523"/>
            <a:ext cx="1073494" cy="923330"/>
          </a:xfrm>
          <a:prstGeom prst="rect">
            <a:avLst/>
          </a:prstGeom>
          <a:noFill/>
        </p:spPr>
        <p:txBody>
          <a:bodyPr vert="horz" wrap="square" lIns="91440" tIns="45720" rIns="91440" bIns="45720" rtlCol="0" anchor="t">
            <a:spAutoFit/>
          </a:bodyPr>
          <a:lstStyle/>
          <a:p>
            <a:pPr marL="0" algn="l">
              <a:defRPr/>
            </a:pPr>
            <a:r>
              <a:rPr lang="en-US" sz="5400" b="0" i="0" u="none" spc="100" baseline="0">
                <a:solidFill>
                  <a:schemeClr val="accent1"/>
                </a:solidFill>
                <a:latin typeface="Impact"/>
                <a:ea typeface="Impact"/>
              </a:rPr>
              <a:t>04</a:t>
            </a:r>
            <a:endParaRPr lang="en-US" sz="110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18701" y="235917"/>
            <a:ext cx="1752598" cy="53279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>
            <a:spLocks noGrp="1"/>
          </p:cNvSpPr>
          <p:nvPr>
            <p:ph type="title"/>
          </p:nvPr>
        </p:nvSpPr>
        <p:spPr>
          <a:xfrm>
            <a:off x="669924" y="1"/>
            <a:ext cx="10850563" cy="1028699"/>
          </a:xfrm>
        </p:spPr>
        <p:txBody>
          <a:bodyPr vert="horz" lIns="91440" tIns="45720" rIns="91440" bIns="45720" anchor="b">
            <a:normAutofit/>
          </a:bodyPr>
          <a:lstStyle/>
          <a:p>
            <a:pPr algn="l">
              <a:lnSpc>
                <a:spcPct val="90000"/>
              </a:lnSpc>
              <a:spcBef>
                <a:spcPct val="0"/>
              </a:spcBef>
            </a:pPr>
            <a:r>
              <a:rPr lang="zh-CN" altLang="en-US" sz="2800" b="1" i="0" u="none" baseline="0" dirty="0">
                <a:solidFill>
                  <a:srgbClr val="000000"/>
                </a:solidFill>
                <a:latin typeface="微软雅黑"/>
                <a:ea typeface="微软雅黑"/>
              </a:rPr>
              <a:t>Executive Overview Dashboard</a:t>
            </a:r>
          </a:p>
        </p:txBody>
      </p:sp>
      <p:grpSp>
        <p:nvGrpSpPr>
          <p:cNvPr id="3" name="Group 3"/>
          <p:cNvGrpSpPr/>
          <p:nvPr/>
        </p:nvGrpSpPr>
        <p:grpSpPr>
          <a:xfrm>
            <a:off x="997501" y="3644989"/>
            <a:ext cx="538679" cy="538676"/>
            <a:chOff x="6200669" y="2235779"/>
            <a:chExt cx="410200" cy="410198"/>
          </a:xfrm>
        </p:grpSpPr>
        <p:sp>
          <p:nvSpPr>
            <p:cNvPr id="4" name="AutoShape 4"/>
            <p:cNvSpPr/>
            <p:nvPr/>
          </p:nvSpPr>
          <p:spPr>
            <a:xfrm>
              <a:off x="6200669" y="2235779"/>
              <a:ext cx="410200" cy="410198"/>
            </a:xfrm>
            <a:prstGeom prst="ellipse">
              <a:avLst/>
            </a:prstGeom>
            <a:solidFill>
              <a:schemeClr val="accent2"/>
            </a:solidFill>
            <a:ln cap="flat">
              <a:prstDash val="solid"/>
            </a:ln>
          </p:spPr>
          <p:txBody>
            <a:bodyPr rot="0" vert="horz" wrap="square" lIns="91440" tIns="45720" rIns="91440" bIns="45720" anchor="ctr">
              <a:prstTxWarp prst="textNoShape">
                <a:avLst/>
              </a:prstTxWarp>
              <a:noAutofit/>
            </a:bodyPr>
            <a:lstStyle/>
            <a:p>
              <a:pPr marL="0" algn="l"/>
              <a:endParaRPr/>
            </a:p>
          </p:txBody>
        </p:sp>
        <p:sp>
          <p:nvSpPr>
            <p:cNvPr id="5" name="Freeform 5"/>
            <p:cNvSpPr/>
            <p:nvPr/>
          </p:nvSpPr>
          <p:spPr>
            <a:xfrm>
              <a:off x="6316768" y="2376356"/>
              <a:ext cx="178001" cy="141741"/>
            </a:xfrm>
            <a:custGeom>
              <a:avLst/>
              <a:gdLst/>
              <a:ahLst/>
              <a:cxnLst/>
              <a:rect l="l" t="t" r="r" b="b"/>
              <a:pathLst>
                <a:path w="514350" h="409575">
                  <a:moveTo>
                    <a:pt x="486767" y="621"/>
                  </a:moveTo>
                  <a:cubicBezTo>
                    <a:pt x="502579" y="621"/>
                    <a:pt x="515342" y="13385"/>
                    <a:pt x="515342" y="29196"/>
                  </a:cubicBezTo>
                  <a:lnTo>
                    <a:pt x="515342" y="324471"/>
                  </a:lnTo>
                  <a:cubicBezTo>
                    <a:pt x="515342" y="340282"/>
                    <a:pt x="502579" y="353046"/>
                    <a:pt x="486767" y="353046"/>
                  </a:cubicBezTo>
                  <a:lnTo>
                    <a:pt x="192159" y="353046"/>
                  </a:lnTo>
                  <a:lnTo>
                    <a:pt x="115387" y="410196"/>
                  </a:lnTo>
                  <a:lnTo>
                    <a:pt x="115387" y="353046"/>
                  </a:lnTo>
                  <a:lnTo>
                    <a:pt x="29567" y="353046"/>
                  </a:lnTo>
                  <a:cubicBezTo>
                    <a:pt x="13755" y="353046"/>
                    <a:pt x="992" y="340282"/>
                    <a:pt x="992" y="324471"/>
                  </a:cubicBezTo>
                  <a:lnTo>
                    <a:pt x="992" y="29196"/>
                  </a:lnTo>
                  <a:cubicBezTo>
                    <a:pt x="992" y="13385"/>
                    <a:pt x="13755" y="621"/>
                    <a:pt x="29567" y="621"/>
                  </a:cubicBezTo>
                  <a:lnTo>
                    <a:pt x="486767" y="621"/>
                  </a:lnTo>
                  <a:close/>
                  <a:moveTo>
                    <a:pt x="124817" y="143496"/>
                  </a:moveTo>
                  <a:cubicBezTo>
                    <a:pt x="106434" y="143496"/>
                    <a:pt x="91480" y="158450"/>
                    <a:pt x="91480" y="176834"/>
                  </a:cubicBezTo>
                  <a:cubicBezTo>
                    <a:pt x="91480" y="195217"/>
                    <a:pt x="106434" y="210171"/>
                    <a:pt x="124817" y="210171"/>
                  </a:cubicBezTo>
                  <a:cubicBezTo>
                    <a:pt x="143200" y="210171"/>
                    <a:pt x="158155" y="195217"/>
                    <a:pt x="158155" y="176834"/>
                  </a:cubicBezTo>
                  <a:cubicBezTo>
                    <a:pt x="158155" y="158450"/>
                    <a:pt x="143200" y="143496"/>
                    <a:pt x="124817" y="143496"/>
                  </a:cubicBezTo>
                  <a:close/>
                  <a:moveTo>
                    <a:pt x="258167" y="143496"/>
                  </a:moveTo>
                  <a:cubicBezTo>
                    <a:pt x="239784" y="143496"/>
                    <a:pt x="224830" y="158450"/>
                    <a:pt x="224830" y="176834"/>
                  </a:cubicBezTo>
                  <a:cubicBezTo>
                    <a:pt x="224830" y="195217"/>
                    <a:pt x="239784" y="210171"/>
                    <a:pt x="258167" y="210171"/>
                  </a:cubicBezTo>
                  <a:cubicBezTo>
                    <a:pt x="276550" y="210171"/>
                    <a:pt x="291505" y="195217"/>
                    <a:pt x="291505" y="176834"/>
                  </a:cubicBezTo>
                  <a:cubicBezTo>
                    <a:pt x="291505" y="158450"/>
                    <a:pt x="276550" y="143496"/>
                    <a:pt x="258167" y="143496"/>
                  </a:cubicBezTo>
                  <a:close/>
                  <a:moveTo>
                    <a:pt x="391517" y="143496"/>
                  </a:moveTo>
                  <a:cubicBezTo>
                    <a:pt x="373134" y="143496"/>
                    <a:pt x="358180" y="158450"/>
                    <a:pt x="358180" y="176834"/>
                  </a:cubicBezTo>
                  <a:cubicBezTo>
                    <a:pt x="358180" y="195217"/>
                    <a:pt x="373134" y="210171"/>
                    <a:pt x="391517" y="210171"/>
                  </a:cubicBezTo>
                  <a:cubicBezTo>
                    <a:pt x="409900" y="210171"/>
                    <a:pt x="424855" y="195217"/>
                    <a:pt x="424855" y="176834"/>
                  </a:cubicBezTo>
                  <a:cubicBezTo>
                    <a:pt x="424855" y="158450"/>
                    <a:pt x="409900" y="143496"/>
                    <a:pt x="391517" y="143496"/>
                  </a:cubicBezTo>
                  <a:close/>
                </a:path>
              </a:pathLst>
            </a:custGeom>
            <a:solidFill>
              <a:srgbClr val="FFFFFF"/>
            </a:solidFill>
            <a:ln cap="rnd" cmpd="sng">
              <a:prstDash val="solid"/>
            </a:ln>
          </p:spPr>
          <p:txBody>
            <a:bodyPr rot="0" vert="horz" wrap="square" lIns="91440" tIns="45720" rIns="91440" bIns="45720" anchor="ctr">
              <a:prstTxWarp prst="textNoShape">
                <a:avLst/>
              </a:prstTxWarp>
              <a:normAutofit fontScale="40000" lnSpcReduction="20000"/>
            </a:bodyPr>
            <a:lstStyle/>
            <a:p>
              <a:pPr marL="0" algn="ctr"/>
              <a:endParaRPr/>
            </a:p>
          </p:txBody>
        </p:sp>
      </p:grpSp>
      <p:sp>
        <p:nvSpPr>
          <p:cNvPr id="6" name="TextBox 6"/>
          <p:cNvSpPr txBox="1"/>
          <p:nvPr/>
        </p:nvSpPr>
        <p:spPr>
          <a:xfrm>
            <a:off x="1604203" y="4055073"/>
            <a:ext cx="4362339" cy="815340"/>
          </a:xfrm>
          <a:prstGeom prst="rect">
            <a:avLst/>
          </a:prstGeom>
          <a:noFill/>
        </p:spPr>
        <p:txBody>
          <a:bodyPr vert="horz" wrap="square" lIns="91440" tIns="45720" rIns="91440" bIns="45720" rtlCol="0" anchor="t">
            <a:spAutoFit/>
          </a:bodyPr>
          <a:lstStyle/>
          <a:p>
            <a:pPr marL="0" marR="0" indent="0" algn="l" fontAlgn="auto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zh-CN" altLang="en-US" sz="1400" b="0" i="0" u="none" baseline="0">
                <a:ln/>
                <a:solidFill>
                  <a:srgbClr val="000000"/>
                </a:solidFill>
                <a:latin typeface="Arial"/>
                <a:ea typeface="Arial"/>
              </a:rPr>
              <a:t>Transaction Value = 121.41T, Transactions = 72 Billion, Users = 5 Billion, Brands = 3 Billion. These provide an instant view of platform performance.</a:t>
            </a:r>
            <a:endParaRPr lang="en-US" sz="1100"/>
          </a:p>
        </p:txBody>
      </p:sp>
      <p:sp>
        <p:nvSpPr>
          <p:cNvPr id="7" name="TextBox 7"/>
          <p:cNvSpPr txBox="1"/>
          <p:nvPr/>
        </p:nvSpPr>
        <p:spPr>
          <a:xfrm>
            <a:off x="1604203" y="3629542"/>
            <a:ext cx="4362339" cy="338554"/>
          </a:xfrm>
          <a:prstGeom prst="rect">
            <a:avLst/>
          </a:prstGeom>
          <a:noFill/>
        </p:spPr>
        <p:txBody>
          <a:bodyPr vert="horz" wrap="square" lIns="91440" tIns="45720" rIns="91440" bIns="45720" rtlCol="0" anchor="t">
            <a:spAutoFit/>
          </a:bodyPr>
          <a:lstStyle/>
          <a:p>
            <a:pPr marL="0" algn="l">
              <a:defRPr/>
            </a:pPr>
            <a:r>
              <a:rPr lang="en-US" sz="1600" b="1" i="0" u="none" baseline="0">
                <a:solidFill>
                  <a:srgbClr val="000000"/>
                </a:solidFill>
                <a:latin typeface="Arial"/>
                <a:ea typeface="Arial"/>
              </a:rPr>
              <a:t>Key KPIs</a:t>
            </a:r>
            <a:endParaRPr lang="en-US" sz="1100"/>
          </a:p>
        </p:txBody>
      </p:sp>
      <p:grpSp>
        <p:nvGrpSpPr>
          <p:cNvPr id="8" name="Group 8"/>
          <p:cNvGrpSpPr/>
          <p:nvPr/>
        </p:nvGrpSpPr>
        <p:grpSpPr>
          <a:xfrm>
            <a:off x="997501" y="1818596"/>
            <a:ext cx="538679" cy="538676"/>
            <a:chOff x="5255471" y="2235779"/>
            <a:chExt cx="410200" cy="410198"/>
          </a:xfrm>
        </p:grpSpPr>
        <p:sp>
          <p:nvSpPr>
            <p:cNvPr id="9" name="AutoShape 9"/>
            <p:cNvSpPr/>
            <p:nvPr/>
          </p:nvSpPr>
          <p:spPr>
            <a:xfrm>
              <a:off x="5255471" y="2235779"/>
              <a:ext cx="410200" cy="410198"/>
            </a:xfrm>
            <a:prstGeom prst="ellipse">
              <a:avLst/>
            </a:prstGeom>
            <a:solidFill>
              <a:schemeClr val="accent1"/>
            </a:solidFill>
            <a:ln cap="flat">
              <a:prstDash val="solid"/>
            </a:ln>
          </p:spPr>
          <p:txBody>
            <a:bodyPr rot="0" vert="horz" wrap="square" lIns="91440" tIns="45720" rIns="91440" bIns="45720" anchor="ctr">
              <a:prstTxWarp prst="textNoShape">
                <a:avLst/>
              </a:prstTxWarp>
              <a:noAutofit/>
            </a:bodyPr>
            <a:lstStyle/>
            <a:p>
              <a:pPr marL="0" algn="l"/>
              <a:endParaRPr/>
            </a:p>
          </p:txBody>
        </p:sp>
        <p:sp>
          <p:nvSpPr>
            <p:cNvPr id="10" name="Freeform 10"/>
            <p:cNvSpPr/>
            <p:nvPr/>
          </p:nvSpPr>
          <p:spPr>
            <a:xfrm>
              <a:off x="5371574" y="2369958"/>
              <a:ext cx="178001" cy="148188"/>
            </a:xfrm>
            <a:custGeom>
              <a:avLst/>
              <a:gdLst/>
              <a:ahLst/>
              <a:cxnLst/>
              <a:rect l="l" t="t" r="r" b="b"/>
              <a:pathLst>
                <a:path w="526297" h="438150">
                  <a:moveTo>
                    <a:pt x="483573" y="133971"/>
                  </a:moveTo>
                  <a:cubicBezTo>
                    <a:pt x="507957" y="133971"/>
                    <a:pt x="527674" y="153688"/>
                    <a:pt x="527674" y="178072"/>
                  </a:cubicBezTo>
                  <a:cubicBezTo>
                    <a:pt x="527674" y="179215"/>
                    <a:pt x="527674" y="180358"/>
                    <a:pt x="527579" y="181501"/>
                  </a:cubicBezTo>
                  <a:lnTo>
                    <a:pt x="514244" y="355237"/>
                  </a:lnTo>
                  <a:cubicBezTo>
                    <a:pt x="513101" y="370096"/>
                    <a:pt x="500718" y="381621"/>
                    <a:pt x="485764" y="381621"/>
                  </a:cubicBezTo>
                  <a:lnTo>
                    <a:pt x="454998" y="381621"/>
                  </a:lnTo>
                  <a:lnTo>
                    <a:pt x="454998" y="438771"/>
                  </a:lnTo>
                  <a:lnTo>
                    <a:pt x="435948" y="438771"/>
                  </a:lnTo>
                  <a:lnTo>
                    <a:pt x="435948" y="381621"/>
                  </a:lnTo>
                  <a:lnTo>
                    <a:pt x="93048" y="381621"/>
                  </a:lnTo>
                  <a:lnTo>
                    <a:pt x="93048" y="438771"/>
                  </a:lnTo>
                  <a:lnTo>
                    <a:pt x="73998" y="438771"/>
                  </a:lnTo>
                  <a:lnTo>
                    <a:pt x="73998" y="381621"/>
                  </a:lnTo>
                  <a:lnTo>
                    <a:pt x="43328" y="381621"/>
                  </a:lnTo>
                  <a:cubicBezTo>
                    <a:pt x="28373" y="381621"/>
                    <a:pt x="15991" y="370096"/>
                    <a:pt x="14848" y="355237"/>
                  </a:cubicBezTo>
                  <a:lnTo>
                    <a:pt x="1513" y="181501"/>
                  </a:lnTo>
                  <a:cubicBezTo>
                    <a:pt x="-392" y="157212"/>
                    <a:pt x="17801" y="135971"/>
                    <a:pt x="42089" y="134162"/>
                  </a:cubicBezTo>
                  <a:cubicBezTo>
                    <a:pt x="43232" y="134066"/>
                    <a:pt x="44375" y="134066"/>
                    <a:pt x="45518" y="134066"/>
                  </a:cubicBezTo>
                  <a:cubicBezTo>
                    <a:pt x="73141" y="134066"/>
                    <a:pt x="96858" y="153688"/>
                    <a:pt x="101906" y="180834"/>
                  </a:cubicBezTo>
                  <a:lnTo>
                    <a:pt x="121623" y="286371"/>
                  </a:lnTo>
                  <a:lnTo>
                    <a:pt x="407373" y="286371"/>
                  </a:lnTo>
                  <a:lnTo>
                    <a:pt x="427185" y="180739"/>
                  </a:lnTo>
                  <a:cubicBezTo>
                    <a:pt x="432233" y="153592"/>
                    <a:pt x="455951" y="133971"/>
                    <a:pt x="483573" y="133971"/>
                  </a:cubicBezTo>
                  <a:close/>
                  <a:moveTo>
                    <a:pt x="416898" y="621"/>
                  </a:moveTo>
                  <a:cubicBezTo>
                    <a:pt x="453760" y="621"/>
                    <a:pt x="483573" y="30434"/>
                    <a:pt x="483573" y="67296"/>
                  </a:cubicBezTo>
                  <a:lnTo>
                    <a:pt x="483573" y="115397"/>
                  </a:lnTo>
                  <a:cubicBezTo>
                    <a:pt x="481192" y="115112"/>
                    <a:pt x="478811" y="114921"/>
                    <a:pt x="476429" y="114921"/>
                  </a:cubicBezTo>
                  <a:cubicBezTo>
                    <a:pt x="445473" y="114921"/>
                    <a:pt x="418803" y="136448"/>
                    <a:pt x="412040" y="166451"/>
                  </a:cubicBezTo>
                  <a:lnTo>
                    <a:pt x="411564" y="168737"/>
                  </a:lnTo>
                  <a:lnTo>
                    <a:pt x="393086" y="267321"/>
                  </a:lnTo>
                  <a:lnTo>
                    <a:pt x="135911" y="267321"/>
                  </a:lnTo>
                  <a:lnTo>
                    <a:pt x="117432" y="168737"/>
                  </a:lnTo>
                  <a:cubicBezTo>
                    <a:pt x="111622" y="137495"/>
                    <a:pt x="84285" y="114921"/>
                    <a:pt x="52567" y="114921"/>
                  </a:cubicBezTo>
                  <a:lnTo>
                    <a:pt x="54948" y="67296"/>
                  </a:lnTo>
                  <a:cubicBezTo>
                    <a:pt x="54948" y="30434"/>
                    <a:pt x="84761" y="621"/>
                    <a:pt x="121623" y="621"/>
                  </a:cubicBezTo>
                  <a:lnTo>
                    <a:pt x="416898" y="621"/>
                  </a:lnTo>
                  <a:close/>
                </a:path>
              </a:pathLst>
            </a:custGeom>
            <a:solidFill>
              <a:srgbClr val="FFFFFF"/>
            </a:solidFill>
            <a:ln cap="rnd" cmpd="sng">
              <a:prstDash val="solid"/>
            </a:ln>
          </p:spPr>
          <p:txBody>
            <a:bodyPr rot="0" vert="horz" wrap="square" lIns="91440" tIns="45720" rIns="91440" bIns="45720" anchor="ctr">
              <a:prstTxWarp prst="textNoShape">
                <a:avLst/>
              </a:prstTxWarp>
              <a:normAutofit fontScale="40000" lnSpcReduction="20000"/>
            </a:bodyPr>
            <a:lstStyle/>
            <a:p>
              <a:pPr marL="0" algn="ctr"/>
              <a:endParaRPr/>
            </a:p>
          </p:txBody>
        </p:sp>
      </p:grpSp>
      <p:sp>
        <p:nvSpPr>
          <p:cNvPr id="11" name="TextBox 11"/>
          <p:cNvSpPr txBox="1"/>
          <p:nvPr/>
        </p:nvSpPr>
        <p:spPr>
          <a:xfrm>
            <a:off x="1655003" y="2220277"/>
            <a:ext cx="4362339" cy="700192"/>
          </a:xfrm>
          <a:prstGeom prst="rect">
            <a:avLst/>
          </a:prstGeom>
          <a:noFill/>
        </p:spPr>
        <p:txBody>
          <a:bodyPr vert="horz" wrap="square" lIns="91440" tIns="45720" rIns="91440" bIns="45720" rtlCol="0" anchor="t">
            <a:spAutoFit/>
          </a:bodyPr>
          <a:lstStyle/>
          <a:p>
            <a:pPr marL="0" marR="0" indent="0" algn="l" fontAlgn="auto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zh-CN" altLang="en-US" sz="1400" b="0" i="0" u="none" baseline="0">
                <a:ln/>
                <a:solidFill>
                  <a:srgbClr val="000000"/>
                </a:solidFill>
                <a:latin typeface="Arial"/>
                <a:ea typeface="Arial"/>
              </a:rPr>
              <a:t>KPI cards, India map, navigation buttons, and an executive summary section.</a:t>
            </a:r>
            <a:endParaRPr lang="en-US" sz="1100"/>
          </a:p>
        </p:txBody>
      </p:sp>
      <p:sp>
        <p:nvSpPr>
          <p:cNvPr id="12" name="TextBox 12"/>
          <p:cNvSpPr txBox="1"/>
          <p:nvPr/>
        </p:nvSpPr>
        <p:spPr>
          <a:xfrm>
            <a:off x="1655003" y="1794746"/>
            <a:ext cx="4362339" cy="338554"/>
          </a:xfrm>
          <a:prstGeom prst="rect">
            <a:avLst/>
          </a:prstGeom>
          <a:noFill/>
        </p:spPr>
        <p:txBody>
          <a:bodyPr vert="horz" wrap="square" lIns="91440" tIns="45720" rIns="91440" bIns="45720" rtlCol="0" anchor="t">
            <a:spAutoFit/>
          </a:bodyPr>
          <a:lstStyle/>
          <a:p>
            <a:pPr marL="0" algn="l">
              <a:defRPr/>
            </a:pPr>
            <a:r>
              <a:rPr lang="en-US" sz="1600" b="1" i="0" u="none" baseline="0">
                <a:solidFill>
                  <a:srgbClr val="000000"/>
                </a:solidFill>
                <a:latin typeface="Arial"/>
                <a:ea typeface="Arial"/>
              </a:rPr>
              <a:t>Visual Components</a:t>
            </a:r>
            <a:endParaRPr lang="en-US" sz="1100"/>
          </a:p>
        </p:txBody>
      </p:sp>
      <p:pic>
        <p:nvPicPr>
          <p:cNvPr id="15" name="Picture 14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18701" y="235917"/>
            <a:ext cx="1752598" cy="53279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>
            <a:spLocks noGrp="1"/>
          </p:cNvSpPr>
          <p:nvPr>
            <p:ph type="title"/>
          </p:nvPr>
        </p:nvSpPr>
        <p:spPr>
          <a:xfrm>
            <a:off x="805844" y="294280"/>
            <a:ext cx="7119766" cy="895350"/>
          </a:xfrm>
        </p:spPr>
        <p:txBody>
          <a:bodyPr vert="horz" lIns="91440" tIns="45720" rIns="91440" bIns="45720" anchor="t">
            <a:normAutofit/>
          </a:bodyPr>
          <a:lstStyle/>
          <a:p>
            <a:pPr algn="l">
              <a:lnSpc>
                <a:spcPct val="90000"/>
              </a:lnSpc>
            </a:pPr>
            <a:r>
              <a:rPr lang="zh-CN" altLang="en-US" sz="2400" b="1" dirty="0">
                <a:solidFill>
                  <a:srgbClr val="000000"/>
                </a:solidFill>
                <a:latin typeface="微软雅黑"/>
                <a:ea typeface="微软雅黑"/>
              </a:rPr>
              <a:t>Executive </a:t>
            </a:r>
            <a:r>
              <a:rPr lang="zh-CN" altLang="en-US" sz="2400" b="1" dirty="0" smtClean="0">
                <a:solidFill>
                  <a:srgbClr val="000000"/>
                </a:solidFill>
                <a:latin typeface="微软雅黑"/>
                <a:ea typeface="微软雅黑"/>
              </a:rPr>
              <a:t>Overview </a:t>
            </a:r>
            <a:r>
              <a:rPr lang="en-US" altLang="zh-CN" sz="2400" b="1" dirty="0" smtClean="0">
                <a:solidFill>
                  <a:srgbClr val="000000"/>
                </a:solidFill>
                <a:latin typeface="微软雅黑"/>
                <a:ea typeface="微软雅黑"/>
              </a:rPr>
              <a:t>Screenshot</a:t>
            </a:r>
            <a:endParaRPr lang="en-US" sz="2400" b="1" i="0" u="none" baseline="0" dirty="0">
              <a:solidFill>
                <a:schemeClr val="accent1"/>
              </a:solidFill>
              <a:latin typeface="Arial"/>
              <a:ea typeface="Arial"/>
            </a:endParaRPr>
          </a:p>
        </p:txBody>
      </p:sp>
      <p:sp>
        <p:nvSpPr>
          <p:cNvPr id="3" name="TextBox 3"/>
          <p:cNvSpPr txBox="1"/>
          <p:nvPr/>
        </p:nvSpPr>
        <p:spPr>
          <a:xfrm>
            <a:off x="381000" y="235917"/>
            <a:ext cx="156976" cy="1015623"/>
          </a:xfrm>
          <a:prstGeom prst="rect">
            <a:avLst/>
          </a:prstGeom>
          <a:noFill/>
        </p:spPr>
        <p:txBody>
          <a:bodyPr vert="horz" wrap="none" lIns="91440" tIns="45720" rIns="91440" bIns="45720" rtlCol="0" anchor="t">
            <a:prstTxWarp prst="textPlain">
              <a:avLst/>
            </a:prstTxWarp>
            <a:spAutoFit/>
          </a:bodyPr>
          <a:lstStyle/>
          <a:p>
            <a:pPr marL="0" algn="l">
              <a:defRPr/>
            </a:pPr>
            <a:r>
              <a:rPr lang="en-US" b="0" i="0" u="none" spc="100" baseline="0" dirty="0">
                <a:solidFill>
                  <a:schemeClr val="accent1"/>
                </a:solidFill>
                <a:latin typeface="Impact"/>
                <a:ea typeface="Impact"/>
              </a:rPr>
              <a:t>/</a:t>
            </a:r>
            <a:endParaRPr lang="en-US" sz="1100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18701" y="235917"/>
            <a:ext cx="1752598" cy="532790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74346" y="1145287"/>
            <a:ext cx="9614707" cy="55603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4875415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>
            <a:spLocks noGrp="1"/>
          </p:cNvSpPr>
          <p:nvPr>
            <p:ph type="title"/>
          </p:nvPr>
        </p:nvSpPr>
        <p:spPr>
          <a:xfrm>
            <a:off x="669924" y="1"/>
            <a:ext cx="10850563" cy="1028699"/>
          </a:xfrm>
        </p:spPr>
        <p:txBody>
          <a:bodyPr vert="horz" lIns="91440" tIns="45720" rIns="91440" bIns="45720" anchor="b">
            <a:normAutofit/>
          </a:bodyPr>
          <a:lstStyle/>
          <a:p>
            <a:pPr algn="l">
              <a:lnSpc>
                <a:spcPct val="90000"/>
              </a:lnSpc>
              <a:spcBef>
                <a:spcPct val="0"/>
              </a:spcBef>
            </a:pPr>
            <a:r>
              <a:rPr lang="zh-CN" altLang="en-US" sz="2800" b="1" i="0" u="none" baseline="0" dirty="0">
                <a:solidFill>
                  <a:srgbClr val="000000"/>
                </a:solidFill>
                <a:latin typeface="微软雅黑"/>
                <a:ea typeface="微软雅黑"/>
              </a:rPr>
              <a:t>Transaction Analysis Page</a:t>
            </a:r>
          </a:p>
        </p:txBody>
      </p:sp>
      <p:sp>
        <p:nvSpPr>
          <p:cNvPr id="3" name="Freeform 3"/>
          <p:cNvSpPr/>
          <p:nvPr/>
        </p:nvSpPr>
        <p:spPr>
          <a:xfrm>
            <a:off x="1175171" y="1947399"/>
            <a:ext cx="2982351" cy="3829457"/>
          </a:xfrm>
          <a:custGeom>
            <a:avLst/>
            <a:gdLst/>
            <a:ahLst/>
            <a:cxnLst/>
            <a:rect l="l" t="t" r="r" b="b"/>
            <a:pathLst>
              <a:path w="2982351" h="3938954">
                <a:moveTo>
                  <a:pt x="0" y="0"/>
                </a:moveTo>
                <a:lnTo>
                  <a:pt x="2982351" y="0"/>
                </a:lnTo>
                <a:lnTo>
                  <a:pt x="2982351" y="511466"/>
                </a:lnTo>
                <a:lnTo>
                  <a:pt x="2704514" y="672611"/>
                </a:lnTo>
                <a:lnTo>
                  <a:pt x="2982351" y="833757"/>
                </a:lnTo>
                <a:lnTo>
                  <a:pt x="2982351" y="3938954"/>
                </a:lnTo>
                <a:lnTo>
                  <a:pt x="0" y="3938954"/>
                </a:lnTo>
                <a:lnTo>
                  <a:pt x="0" y="833757"/>
                </a:lnTo>
                <a:lnTo>
                  <a:pt x="277837" y="672611"/>
                </a:lnTo>
                <a:lnTo>
                  <a:pt x="0" y="511466"/>
                </a:lnTo>
                <a:close/>
              </a:path>
            </a:pathLst>
          </a:custGeom>
          <a:noFill/>
          <a:ln w="25400" cap="flat" cmpd="sng">
            <a:solidFill>
              <a:schemeClr val="accent1"/>
            </a:solidFill>
            <a:prstDash val="solid"/>
          </a:ln>
        </p:spPr>
        <p:txBody>
          <a:bodyPr vert="horz" wrap="square" lIns="91440" tIns="45720" rIns="91440" bIns="45720" anchor="ctr">
            <a:noAutofit/>
          </a:bodyPr>
          <a:lstStyle/>
          <a:p>
            <a:pPr marL="0" algn="ctr"/>
            <a:endParaRPr/>
          </a:p>
        </p:txBody>
      </p:sp>
      <p:sp>
        <p:nvSpPr>
          <p:cNvPr id="4" name="TextBox 4"/>
          <p:cNvSpPr txBox="1"/>
          <p:nvPr/>
        </p:nvSpPr>
        <p:spPr>
          <a:xfrm>
            <a:off x="2317532" y="2058025"/>
            <a:ext cx="697627" cy="646331"/>
          </a:xfrm>
          <a:prstGeom prst="rect">
            <a:avLst/>
          </a:prstGeom>
          <a:noFill/>
        </p:spPr>
        <p:txBody>
          <a:bodyPr vert="horz" wrap="none" lIns="91440" tIns="45720" rIns="91440" bIns="45720" rtlCol="0" anchor="ctr">
            <a:spAutoFit/>
          </a:bodyPr>
          <a:lstStyle/>
          <a:p>
            <a:pPr marL="0" algn="ctr">
              <a:defRPr/>
            </a:pPr>
            <a:r>
              <a:rPr lang="en-US" sz="3600" b="1" i="0" u="none" baseline="0">
                <a:solidFill>
                  <a:schemeClr val="accent1"/>
                </a:solidFill>
                <a:latin typeface="Arial"/>
                <a:ea typeface="Arial"/>
              </a:rPr>
              <a:t>01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1377556" y="3210510"/>
            <a:ext cx="2575597" cy="338554"/>
          </a:xfrm>
          <a:prstGeom prst="rect">
            <a:avLst/>
          </a:prstGeom>
          <a:noFill/>
          <a:ln cap="flat" cmpd="sng">
            <a:prstDash val="solid"/>
          </a:ln>
        </p:spPr>
        <p:txBody>
          <a:bodyPr vert="horz" wrap="square" lIns="91440" tIns="45720" rIns="91440" bIns="45720" anchor="b">
            <a:spAutoFit/>
          </a:bodyPr>
          <a:lstStyle/>
          <a:p>
            <a:pPr marL="0" algn="ctr"/>
            <a:r>
              <a:rPr lang="en-US" sz="1600" b="1" i="0" u="none" baseline="0">
                <a:solidFill>
                  <a:srgbClr val="000000"/>
                </a:solidFill>
                <a:latin typeface="Arial"/>
                <a:ea typeface="Arial"/>
              </a:rPr>
              <a:t>Key Metrics</a:t>
            </a:r>
          </a:p>
        </p:txBody>
      </p:sp>
      <p:sp>
        <p:nvSpPr>
          <p:cNvPr id="6" name="AutoShape 6"/>
          <p:cNvSpPr/>
          <p:nvPr/>
        </p:nvSpPr>
        <p:spPr>
          <a:xfrm>
            <a:off x="1377552" y="3694731"/>
            <a:ext cx="2573695" cy="843514"/>
          </a:xfrm>
          <a:prstGeom prst="rect">
            <a:avLst/>
          </a:prstGeom>
          <a:noFill/>
          <a:ln cap="flat" cmpd="sng">
            <a:prstDash val="solid"/>
          </a:ln>
        </p:spPr>
        <p:txBody>
          <a:bodyPr vert="horz" wrap="square" lIns="91440" tIns="45720" rIns="91440" bIns="45720" anchor="t">
            <a:spAutoFit/>
          </a:bodyPr>
          <a:lstStyle/>
          <a:p>
            <a:pPr marL="0" algn="ctr">
              <a:lnSpc>
                <a:spcPct val="120000"/>
              </a:lnSpc>
            </a:pPr>
            <a:r>
              <a:rPr lang="pt-BR" sz="1400" b="0" i="0" u="none" baseline="0">
                <a:solidFill>
                  <a:srgbClr val="000000"/>
                </a:solidFill>
                <a:latin typeface="Arial"/>
                <a:ea typeface="Arial"/>
              </a:rPr>
              <a:t>Total Transaction Value = 121.41T, Total Transactions = 72B, Average Transaction Value = 1.69K, Active States = 36.</a:t>
            </a:r>
          </a:p>
        </p:txBody>
      </p:sp>
      <p:sp>
        <p:nvSpPr>
          <p:cNvPr id="7" name="Freeform 7"/>
          <p:cNvSpPr/>
          <p:nvPr/>
        </p:nvSpPr>
        <p:spPr>
          <a:xfrm>
            <a:off x="4496709" y="1947399"/>
            <a:ext cx="2982351" cy="3829457"/>
          </a:xfrm>
          <a:custGeom>
            <a:avLst/>
            <a:gdLst/>
            <a:ahLst/>
            <a:cxnLst/>
            <a:rect l="l" t="t" r="r" b="b"/>
            <a:pathLst>
              <a:path w="2982351" h="3938954">
                <a:moveTo>
                  <a:pt x="0" y="0"/>
                </a:moveTo>
                <a:lnTo>
                  <a:pt x="2982351" y="0"/>
                </a:lnTo>
                <a:lnTo>
                  <a:pt x="2982351" y="511466"/>
                </a:lnTo>
                <a:lnTo>
                  <a:pt x="2704514" y="672611"/>
                </a:lnTo>
                <a:lnTo>
                  <a:pt x="2982351" y="833757"/>
                </a:lnTo>
                <a:lnTo>
                  <a:pt x="2982351" y="3938954"/>
                </a:lnTo>
                <a:lnTo>
                  <a:pt x="0" y="3938954"/>
                </a:lnTo>
                <a:lnTo>
                  <a:pt x="0" y="833757"/>
                </a:lnTo>
                <a:lnTo>
                  <a:pt x="277837" y="672611"/>
                </a:lnTo>
                <a:lnTo>
                  <a:pt x="0" y="511466"/>
                </a:lnTo>
                <a:close/>
              </a:path>
            </a:pathLst>
          </a:custGeom>
          <a:noFill/>
          <a:ln w="25400" cap="flat" cmpd="sng">
            <a:solidFill>
              <a:schemeClr val="accent1"/>
            </a:solidFill>
            <a:prstDash val="solid"/>
          </a:ln>
        </p:spPr>
        <p:txBody>
          <a:bodyPr vert="horz" wrap="square" lIns="91440" tIns="45720" rIns="91440" bIns="45720" anchor="ctr">
            <a:noAutofit/>
          </a:bodyPr>
          <a:lstStyle/>
          <a:p>
            <a:pPr marL="0" algn="ctr"/>
            <a:endParaRPr/>
          </a:p>
        </p:txBody>
      </p:sp>
      <p:sp>
        <p:nvSpPr>
          <p:cNvPr id="8" name="TextBox 8"/>
          <p:cNvSpPr txBox="1"/>
          <p:nvPr/>
        </p:nvSpPr>
        <p:spPr>
          <a:xfrm>
            <a:off x="5639071" y="2058024"/>
            <a:ext cx="697628" cy="646331"/>
          </a:xfrm>
          <a:prstGeom prst="rect">
            <a:avLst/>
          </a:prstGeom>
          <a:noFill/>
        </p:spPr>
        <p:txBody>
          <a:bodyPr vert="horz" wrap="none" lIns="91440" tIns="45720" rIns="91440" bIns="45720" rtlCol="0" anchor="ctr">
            <a:spAutoFit/>
          </a:bodyPr>
          <a:lstStyle/>
          <a:p>
            <a:pPr marL="0" algn="ctr">
              <a:defRPr/>
            </a:pPr>
            <a:r>
              <a:rPr lang="en-US" sz="3600" b="1" i="0" u="none" baseline="0">
                <a:solidFill>
                  <a:schemeClr val="accent2"/>
                </a:solidFill>
                <a:latin typeface="Arial"/>
                <a:ea typeface="Arial"/>
              </a:rPr>
              <a:t>02</a:t>
            </a:r>
            <a:endParaRPr lang="en-US" sz="1100"/>
          </a:p>
        </p:txBody>
      </p:sp>
      <p:sp>
        <p:nvSpPr>
          <p:cNvPr id="9" name="AutoShape 9"/>
          <p:cNvSpPr/>
          <p:nvPr/>
        </p:nvSpPr>
        <p:spPr>
          <a:xfrm>
            <a:off x="4706438" y="3210510"/>
            <a:ext cx="2575597" cy="338554"/>
          </a:xfrm>
          <a:prstGeom prst="rect">
            <a:avLst/>
          </a:prstGeom>
          <a:noFill/>
          <a:ln cap="flat" cmpd="sng">
            <a:prstDash val="solid"/>
          </a:ln>
        </p:spPr>
        <p:txBody>
          <a:bodyPr vert="horz" wrap="square" lIns="91440" tIns="45720" rIns="91440" bIns="45720" anchor="b">
            <a:spAutoFit/>
          </a:bodyPr>
          <a:lstStyle/>
          <a:p>
            <a:pPr marL="0" algn="ctr"/>
            <a:r>
              <a:rPr lang="en-US" sz="1600" b="1" i="0" u="none" baseline="0">
                <a:solidFill>
                  <a:srgbClr val="000000"/>
                </a:solidFill>
                <a:latin typeface="Arial"/>
                <a:ea typeface="Arial"/>
              </a:rPr>
              <a:t>Visualizations</a:t>
            </a:r>
          </a:p>
        </p:txBody>
      </p:sp>
      <p:sp>
        <p:nvSpPr>
          <p:cNvPr id="10" name="AutoShape 10"/>
          <p:cNvSpPr/>
          <p:nvPr/>
        </p:nvSpPr>
        <p:spPr>
          <a:xfrm>
            <a:off x="4706434" y="3694731"/>
            <a:ext cx="2573695" cy="843514"/>
          </a:xfrm>
          <a:prstGeom prst="rect">
            <a:avLst/>
          </a:prstGeom>
          <a:noFill/>
          <a:ln cap="flat" cmpd="sng">
            <a:prstDash val="solid"/>
          </a:ln>
        </p:spPr>
        <p:txBody>
          <a:bodyPr vert="horz" wrap="square" lIns="91440" tIns="45720" rIns="91440" bIns="45720" anchor="t">
            <a:spAutoFit/>
          </a:bodyPr>
          <a:lstStyle/>
          <a:p>
            <a:pPr marL="0" algn="ctr">
              <a:lnSpc>
                <a:spcPct val="120000"/>
              </a:lnSpc>
            </a:pPr>
            <a:r>
              <a:rPr lang="pt-BR" sz="1400" b="0" i="0" u="none" baseline="0">
                <a:solidFill>
                  <a:srgbClr val="000000"/>
                </a:solidFill>
                <a:latin typeface="Arial"/>
                <a:ea typeface="Arial"/>
              </a:rPr>
              <a:t>State-wise transaction map, quarterly trend analysis, transaction type distribution, top 10 states, top 10 districts.</a:t>
            </a:r>
          </a:p>
        </p:txBody>
      </p:sp>
      <p:sp>
        <p:nvSpPr>
          <p:cNvPr id="11" name="Freeform 11"/>
          <p:cNvSpPr/>
          <p:nvPr/>
        </p:nvSpPr>
        <p:spPr>
          <a:xfrm>
            <a:off x="7818248" y="1945166"/>
            <a:ext cx="2982351" cy="3829457"/>
          </a:xfrm>
          <a:custGeom>
            <a:avLst/>
            <a:gdLst/>
            <a:ahLst/>
            <a:cxnLst/>
            <a:rect l="l" t="t" r="r" b="b"/>
            <a:pathLst>
              <a:path w="2982351" h="3938954">
                <a:moveTo>
                  <a:pt x="0" y="0"/>
                </a:moveTo>
                <a:lnTo>
                  <a:pt x="2982351" y="0"/>
                </a:lnTo>
                <a:lnTo>
                  <a:pt x="2982351" y="511466"/>
                </a:lnTo>
                <a:lnTo>
                  <a:pt x="2704514" y="672611"/>
                </a:lnTo>
                <a:lnTo>
                  <a:pt x="2982351" y="833757"/>
                </a:lnTo>
                <a:lnTo>
                  <a:pt x="2982351" y="3938954"/>
                </a:lnTo>
                <a:lnTo>
                  <a:pt x="0" y="3938954"/>
                </a:lnTo>
                <a:lnTo>
                  <a:pt x="0" y="833757"/>
                </a:lnTo>
                <a:lnTo>
                  <a:pt x="277837" y="672611"/>
                </a:lnTo>
                <a:lnTo>
                  <a:pt x="0" y="511466"/>
                </a:lnTo>
                <a:close/>
              </a:path>
            </a:pathLst>
          </a:custGeom>
          <a:noFill/>
          <a:ln w="25400" cap="flat" cmpd="sng">
            <a:solidFill>
              <a:schemeClr val="accent3"/>
            </a:solidFill>
            <a:prstDash val="solid"/>
          </a:ln>
        </p:spPr>
        <p:txBody>
          <a:bodyPr vert="horz" wrap="square" lIns="91440" tIns="45720" rIns="91440" bIns="45720" anchor="ctr">
            <a:noAutofit/>
          </a:bodyPr>
          <a:lstStyle/>
          <a:p>
            <a:pPr marL="0" algn="ctr"/>
            <a:endParaRPr/>
          </a:p>
        </p:txBody>
      </p:sp>
      <p:sp>
        <p:nvSpPr>
          <p:cNvPr id="12" name="TextBox 12"/>
          <p:cNvSpPr txBox="1"/>
          <p:nvPr/>
        </p:nvSpPr>
        <p:spPr>
          <a:xfrm>
            <a:off x="8960608" y="2058023"/>
            <a:ext cx="697628" cy="646331"/>
          </a:xfrm>
          <a:prstGeom prst="rect">
            <a:avLst/>
          </a:prstGeom>
          <a:noFill/>
        </p:spPr>
        <p:txBody>
          <a:bodyPr vert="horz" wrap="none" lIns="91440" tIns="45720" rIns="91440" bIns="45720" rtlCol="0" anchor="ctr">
            <a:spAutoFit/>
          </a:bodyPr>
          <a:lstStyle/>
          <a:p>
            <a:pPr marL="0" algn="ctr">
              <a:defRPr/>
            </a:pPr>
            <a:r>
              <a:rPr lang="en-US" sz="3600" b="1" i="0" u="none" baseline="0">
                <a:solidFill>
                  <a:schemeClr val="accent3"/>
                </a:solidFill>
                <a:latin typeface="Arial"/>
                <a:ea typeface="Arial"/>
              </a:rPr>
              <a:t>03</a:t>
            </a:r>
            <a:endParaRPr lang="en-US" sz="1100"/>
          </a:p>
        </p:txBody>
      </p:sp>
      <p:sp>
        <p:nvSpPr>
          <p:cNvPr id="13" name="AutoShape 13"/>
          <p:cNvSpPr/>
          <p:nvPr/>
        </p:nvSpPr>
        <p:spPr>
          <a:xfrm>
            <a:off x="8021625" y="3210510"/>
            <a:ext cx="2575597" cy="338554"/>
          </a:xfrm>
          <a:prstGeom prst="rect">
            <a:avLst/>
          </a:prstGeom>
          <a:noFill/>
          <a:ln cap="flat" cmpd="sng">
            <a:prstDash val="solid"/>
          </a:ln>
        </p:spPr>
        <p:txBody>
          <a:bodyPr vert="horz" wrap="square" lIns="91440" tIns="45720" rIns="91440" bIns="45720" anchor="b">
            <a:spAutoFit/>
          </a:bodyPr>
          <a:lstStyle/>
          <a:p>
            <a:pPr marL="0" algn="ctr"/>
            <a:r>
              <a:rPr lang="en-US" sz="1600" b="1" i="0" u="none" baseline="0">
                <a:solidFill>
                  <a:srgbClr val="000000"/>
                </a:solidFill>
                <a:latin typeface="Arial"/>
                <a:ea typeface="Arial"/>
              </a:rPr>
              <a:t>Business Questions</a:t>
            </a:r>
          </a:p>
        </p:txBody>
      </p:sp>
      <p:sp>
        <p:nvSpPr>
          <p:cNvPr id="14" name="AutoShape 14"/>
          <p:cNvSpPr/>
          <p:nvPr/>
        </p:nvSpPr>
        <p:spPr>
          <a:xfrm>
            <a:off x="8021621" y="3694731"/>
            <a:ext cx="2573695" cy="843514"/>
          </a:xfrm>
          <a:prstGeom prst="rect">
            <a:avLst/>
          </a:prstGeom>
          <a:noFill/>
          <a:ln cap="flat" cmpd="sng">
            <a:prstDash val="solid"/>
          </a:ln>
        </p:spPr>
        <p:txBody>
          <a:bodyPr vert="horz" wrap="square" lIns="91440" tIns="45720" rIns="91440" bIns="45720" anchor="t">
            <a:spAutoFit/>
          </a:bodyPr>
          <a:lstStyle/>
          <a:p>
            <a:pPr marL="0" algn="ctr">
              <a:lnSpc>
                <a:spcPct val="120000"/>
              </a:lnSpc>
            </a:pPr>
            <a:r>
              <a:rPr lang="pt-BR" sz="1400" b="0" i="0" u="none" baseline="0">
                <a:solidFill>
                  <a:srgbClr val="000000"/>
                </a:solidFill>
                <a:latin typeface="Arial"/>
                <a:ea typeface="Arial"/>
              </a:rPr>
              <a:t>Which states contribute most value? Which districts lead? How have transactions grown over time?</a:t>
            </a:r>
          </a:p>
        </p:txBody>
      </p:sp>
      <p:pic>
        <p:nvPicPr>
          <p:cNvPr id="16" name="Picture 15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18701" y="235917"/>
            <a:ext cx="1752598" cy="53279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>
            <a:spLocks noGrp="1"/>
          </p:cNvSpPr>
          <p:nvPr>
            <p:ph type="title"/>
          </p:nvPr>
        </p:nvSpPr>
        <p:spPr>
          <a:xfrm>
            <a:off x="805844" y="294280"/>
            <a:ext cx="7119766" cy="895350"/>
          </a:xfrm>
        </p:spPr>
        <p:txBody>
          <a:bodyPr vert="horz" lIns="91440" tIns="45720" rIns="91440" bIns="45720" anchor="t">
            <a:normAutofit/>
          </a:bodyPr>
          <a:lstStyle/>
          <a:p>
            <a:pPr algn="l">
              <a:lnSpc>
                <a:spcPct val="90000"/>
              </a:lnSpc>
            </a:pPr>
            <a:r>
              <a:rPr lang="zh-CN" altLang="en-US" sz="2400" b="1" dirty="0">
                <a:solidFill>
                  <a:srgbClr val="000000"/>
                </a:solidFill>
                <a:latin typeface="微软雅黑"/>
                <a:ea typeface="微软雅黑"/>
              </a:rPr>
              <a:t>Transaction Analysis </a:t>
            </a:r>
            <a:r>
              <a:rPr lang="en-US" altLang="zh-CN" sz="2400" b="1" dirty="0" smtClean="0">
                <a:solidFill>
                  <a:srgbClr val="000000"/>
                </a:solidFill>
                <a:latin typeface="微软雅黑"/>
                <a:ea typeface="微软雅黑"/>
              </a:rPr>
              <a:t>Screenshot</a:t>
            </a:r>
            <a:endParaRPr lang="en-US" sz="2400" b="1" i="0" u="none" baseline="0" dirty="0">
              <a:solidFill>
                <a:schemeClr val="accent1"/>
              </a:solidFill>
              <a:latin typeface="Arial"/>
              <a:ea typeface="Arial"/>
            </a:endParaRPr>
          </a:p>
        </p:txBody>
      </p:sp>
      <p:sp>
        <p:nvSpPr>
          <p:cNvPr id="3" name="TextBox 3"/>
          <p:cNvSpPr txBox="1"/>
          <p:nvPr/>
        </p:nvSpPr>
        <p:spPr>
          <a:xfrm>
            <a:off x="381000" y="235917"/>
            <a:ext cx="156976" cy="1015623"/>
          </a:xfrm>
          <a:prstGeom prst="rect">
            <a:avLst/>
          </a:prstGeom>
          <a:noFill/>
        </p:spPr>
        <p:txBody>
          <a:bodyPr vert="horz" wrap="none" lIns="91440" tIns="45720" rIns="91440" bIns="45720" rtlCol="0" anchor="t">
            <a:prstTxWarp prst="textPlain">
              <a:avLst/>
            </a:prstTxWarp>
            <a:spAutoFit/>
          </a:bodyPr>
          <a:lstStyle/>
          <a:p>
            <a:pPr marL="0" algn="l">
              <a:defRPr/>
            </a:pPr>
            <a:r>
              <a:rPr lang="en-US" b="0" i="0" u="none" spc="100" baseline="0" dirty="0">
                <a:solidFill>
                  <a:schemeClr val="accent1"/>
                </a:solidFill>
                <a:latin typeface="Impact"/>
                <a:ea typeface="Impact"/>
              </a:rPr>
              <a:t>/</a:t>
            </a:r>
            <a:endParaRPr lang="en-US" sz="1100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18701" y="235917"/>
            <a:ext cx="1752598" cy="532790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74346" y="1145287"/>
            <a:ext cx="9614707" cy="55603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346696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>
            <a:spLocks noGrp="1"/>
          </p:cNvSpPr>
          <p:nvPr>
            <p:ph type="title"/>
          </p:nvPr>
        </p:nvSpPr>
        <p:spPr>
          <a:xfrm>
            <a:off x="669925" y="1"/>
            <a:ext cx="10850563" cy="1028699"/>
          </a:xfrm>
        </p:spPr>
        <p:txBody>
          <a:bodyPr vert="horz" lIns="91440" tIns="45720" rIns="91440" bIns="45720" anchor="b">
            <a:normAutofit/>
          </a:bodyPr>
          <a:lstStyle/>
          <a:p>
            <a:pPr algn="l">
              <a:lnSpc>
                <a:spcPct val="90000"/>
              </a:lnSpc>
              <a:spcBef>
                <a:spcPct val="0"/>
              </a:spcBef>
            </a:pPr>
            <a:r>
              <a:rPr lang="zh-CN" altLang="en-US" sz="2800" b="1" i="0" u="none" baseline="0" dirty="0">
                <a:solidFill>
                  <a:srgbClr val="000000"/>
                </a:solidFill>
                <a:latin typeface="微软雅黑"/>
                <a:ea typeface="微软雅黑"/>
              </a:rPr>
              <a:t>User Analysis Page</a:t>
            </a:r>
          </a:p>
        </p:txBody>
      </p:sp>
      <p:grpSp>
        <p:nvGrpSpPr>
          <p:cNvPr id="3" name="Group 3"/>
          <p:cNvGrpSpPr/>
          <p:nvPr/>
        </p:nvGrpSpPr>
        <p:grpSpPr>
          <a:xfrm>
            <a:off x="660399" y="1801637"/>
            <a:ext cx="10858498" cy="3508751"/>
            <a:chOff x="660399" y="2625351"/>
            <a:chExt cx="10858498" cy="3508751"/>
          </a:xfrm>
        </p:grpSpPr>
        <p:grpSp>
          <p:nvGrpSpPr>
            <p:cNvPr id="4" name="Group 4"/>
            <p:cNvGrpSpPr/>
            <p:nvPr/>
          </p:nvGrpSpPr>
          <p:grpSpPr>
            <a:xfrm>
              <a:off x="4002083" y="2625351"/>
              <a:ext cx="4187822" cy="3508751"/>
              <a:chOff x="3962995" y="1641872"/>
              <a:chExt cx="4266009" cy="3574256"/>
            </a:xfrm>
          </p:grpSpPr>
          <p:sp>
            <p:nvSpPr>
              <p:cNvPr id="5" name="Freeform 5"/>
              <p:cNvSpPr/>
              <p:nvPr/>
            </p:nvSpPr>
            <p:spPr>
              <a:xfrm>
                <a:off x="4521052" y="2945938"/>
                <a:ext cx="525758" cy="655702"/>
              </a:xfrm>
              <a:custGeom>
                <a:avLst/>
                <a:gdLst/>
                <a:ahLst/>
                <a:cxnLst/>
                <a:rect l="l" t="t" r="r" b="b"/>
                <a:pathLst>
                  <a:path w="525758" h="655702">
                    <a:moveTo>
                      <a:pt x="247416" y="280530"/>
                    </a:moveTo>
                    <a:cubicBezTo>
                      <a:pt x="247416" y="280530"/>
                      <a:pt x="247416" y="280530"/>
                      <a:pt x="247416" y="317737"/>
                    </a:cubicBezTo>
                    <a:cubicBezTo>
                      <a:pt x="207211" y="323938"/>
                      <a:pt x="182469" y="345643"/>
                      <a:pt x="182469" y="373548"/>
                    </a:cubicBezTo>
                    <a:cubicBezTo>
                      <a:pt x="182469" y="404554"/>
                      <a:pt x="201025" y="420057"/>
                      <a:pt x="247416" y="435560"/>
                    </a:cubicBezTo>
                    <a:cubicBezTo>
                      <a:pt x="278343" y="444862"/>
                      <a:pt x="284528" y="451063"/>
                      <a:pt x="284528" y="460365"/>
                    </a:cubicBezTo>
                    <a:cubicBezTo>
                      <a:pt x="284528" y="469667"/>
                      <a:pt x="269065" y="475868"/>
                      <a:pt x="250508" y="475868"/>
                    </a:cubicBezTo>
                    <a:cubicBezTo>
                      <a:pt x="231952" y="475868"/>
                      <a:pt x="204118" y="466566"/>
                      <a:pt x="191747" y="460365"/>
                    </a:cubicBezTo>
                    <a:cubicBezTo>
                      <a:pt x="191747" y="460365"/>
                      <a:pt x="191747" y="460365"/>
                      <a:pt x="179377" y="500672"/>
                    </a:cubicBezTo>
                    <a:cubicBezTo>
                      <a:pt x="194840" y="509974"/>
                      <a:pt x="219582" y="516175"/>
                      <a:pt x="244323" y="519276"/>
                    </a:cubicBezTo>
                    <a:cubicBezTo>
                      <a:pt x="244323" y="519276"/>
                      <a:pt x="244323" y="519276"/>
                      <a:pt x="244323" y="553383"/>
                    </a:cubicBezTo>
                    <a:cubicBezTo>
                      <a:pt x="244323" y="553383"/>
                      <a:pt x="244323" y="553383"/>
                      <a:pt x="281435" y="553383"/>
                    </a:cubicBezTo>
                    <a:lnTo>
                      <a:pt x="281435" y="516175"/>
                    </a:lnTo>
                    <a:cubicBezTo>
                      <a:pt x="324733" y="509974"/>
                      <a:pt x="346382" y="485169"/>
                      <a:pt x="346382" y="457264"/>
                    </a:cubicBezTo>
                    <a:cubicBezTo>
                      <a:pt x="346382" y="429359"/>
                      <a:pt x="330919" y="410755"/>
                      <a:pt x="284528" y="395252"/>
                    </a:cubicBezTo>
                    <a:cubicBezTo>
                      <a:pt x="250508" y="385950"/>
                      <a:pt x="247416" y="379749"/>
                      <a:pt x="247416" y="370447"/>
                    </a:cubicBezTo>
                    <a:cubicBezTo>
                      <a:pt x="247416" y="361146"/>
                      <a:pt x="259787" y="358045"/>
                      <a:pt x="275250" y="358045"/>
                    </a:cubicBezTo>
                    <a:cubicBezTo>
                      <a:pt x="296899" y="358045"/>
                      <a:pt x="315455" y="364246"/>
                      <a:pt x="324733" y="370447"/>
                    </a:cubicBezTo>
                    <a:cubicBezTo>
                      <a:pt x="324733" y="370447"/>
                      <a:pt x="324733" y="370447"/>
                      <a:pt x="337104" y="330140"/>
                    </a:cubicBezTo>
                    <a:cubicBezTo>
                      <a:pt x="327826" y="323938"/>
                      <a:pt x="306177" y="317737"/>
                      <a:pt x="284528" y="317737"/>
                    </a:cubicBezTo>
                    <a:cubicBezTo>
                      <a:pt x="284528" y="317737"/>
                      <a:pt x="284528" y="317737"/>
                      <a:pt x="284528" y="280530"/>
                    </a:cubicBezTo>
                    <a:cubicBezTo>
                      <a:pt x="284528" y="280530"/>
                      <a:pt x="284528" y="280530"/>
                      <a:pt x="247416" y="280530"/>
                    </a:cubicBezTo>
                    <a:close/>
                    <a:moveTo>
                      <a:pt x="117523" y="203015"/>
                    </a:moveTo>
                    <a:cubicBezTo>
                      <a:pt x="117523" y="203015"/>
                      <a:pt x="117523" y="203015"/>
                      <a:pt x="408236" y="203015"/>
                    </a:cubicBezTo>
                    <a:cubicBezTo>
                      <a:pt x="479368" y="246423"/>
                      <a:pt x="525758" y="323938"/>
                      <a:pt x="525758" y="407655"/>
                    </a:cubicBezTo>
                    <a:cubicBezTo>
                      <a:pt x="525758" y="438661"/>
                      <a:pt x="519573" y="469667"/>
                      <a:pt x="510295" y="497572"/>
                    </a:cubicBezTo>
                    <a:cubicBezTo>
                      <a:pt x="510295" y="497572"/>
                      <a:pt x="504109" y="509974"/>
                      <a:pt x="501017" y="516175"/>
                    </a:cubicBezTo>
                    <a:cubicBezTo>
                      <a:pt x="494831" y="531678"/>
                      <a:pt x="485553" y="553383"/>
                      <a:pt x="488646" y="559584"/>
                    </a:cubicBezTo>
                    <a:cubicBezTo>
                      <a:pt x="504109" y="581288"/>
                      <a:pt x="504109" y="606093"/>
                      <a:pt x="494831" y="624696"/>
                    </a:cubicBezTo>
                    <a:cubicBezTo>
                      <a:pt x="476275" y="655702"/>
                      <a:pt x="432977" y="665004"/>
                      <a:pt x="392772" y="643300"/>
                    </a:cubicBezTo>
                    <a:cubicBezTo>
                      <a:pt x="386587" y="640199"/>
                      <a:pt x="368031" y="637099"/>
                      <a:pt x="340197" y="643300"/>
                    </a:cubicBezTo>
                    <a:cubicBezTo>
                      <a:pt x="315455" y="649501"/>
                      <a:pt x="290713" y="655702"/>
                      <a:pt x="262879" y="655702"/>
                    </a:cubicBezTo>
                    <a:cubicBezTo>
                      <a:pt x="238138" y="655702"/>
                      <a:pt x="213396" y="649501"/>
                      <a:pt x="188655" y="643300"/>
                    </a:cubicBezTo>
                    <a:cubicBezTo>
                      <a:pt x="154635" y="633998"/>
                      <a:pt x="132986" y="643300"/>
                      <a:pt x="132986" y="643300"/>
                    </a:cubicBezTo>
                    <a:cubicBezTo>
                      <a:pt x="92781" y="661904"/>
                      <a:pt x="49483" y="655702"/>
                      <a:pt x="30927" y="624696"/>
                    </a:cubicBezTo>
                    <a:cubicBezTo>
                      <a:pt x="21649" y="602992"/>
                      <a:pt x="24742" y="578187"/>
                      <a:pt x="37113" y="556483"/>
                    </a:cubicBezTo>
                    <a:cubicBezTo>
                      <a:pt x="40205" y="550282"/>
                      <a:pt x="34020" y="531678"/>
                      <a:pt x="27834" y="516175"/>
                    </a:cubicBezTo>
                    <a:cubicBezTo>
                      <a:pt x="9278" y="485169"/>
                      <a:pt x="0" y="447962"/>
                      <a:pt x="0" y="407655"/>
                    </a:cubicBezTo>
                    <a:cubicBezTo>
                      <a:pt x="0" y="323938"/>
                      <a:pt x="46391" y="246423"/>
                      <a:pt x="117523" y="203015"/>
                    </a:cubicBezTo>
                    <a:close/>
                    <a:moveTo>
                      <a:pt x="262879" y="0"/>
                    </a:moveTo>
                    <a:cubicBezTo>
                      <a:pt x="296939" y="0"/>
                      <a:pt x="324807" y="28155"/>
                      <a:pt x="334096" y="68823"/>
                    </a:cubicBezTo>
                    <a:cubicBezTo>
                      <a:pt x="371252" y="43796"/>
                      <a:pt x="405313" y="37540"/>
                      <a:pt x="423891" y="53181"/>
                    </a:cubicBezTo>
                    <a:cubicBezTo>
                      <a:pt x="442469" y="75079"/>
                      <a:pt x="426987" y="125132"/>
                      <a:pt x="386734" y="162672"/>
                    </a:cubicBezTo>
                    <a:lnTo>
                      <a:pt x="139023" y="162672"/>
                    </a:lnTo>
                    <a:cubicBezTo>
                      <a:pt x="98770" y="125132"/>
                      <a:pt x="83288" y="75079"/>
                      <a:pt x="104963" y="53181"/>
                    </a:cubicBezTo>
                    <a:cubicBezTo>
                      <a:pt x="120445" y="37540"/>
                      <a:pt x="157602" y="43796"/>
                      <a:pt x="191662" y="68823"/>
                    </a:cubicBezTo>
                    <a:cubicBezTo>
                      <a:pt x="200951" y="28155"/>
                      <a:pt x="228818" y="0"/>
                      <a:pt x="262879" y="0"/>
                    </a:cubicBezTo>
                    <a:close/>
                  </a:path>
                </a:pathLst>
              </a:custGeom>
              <a:solidFill>
                <a:schemeClr val="accent1"/>
              </a:solidFill>
            </p:spPr>
            <p:txBody>
              <a:bodyPr vert="horz" wrap="square" lIns="91440" tIns="45720" rIns="91440" bIns="45720" anchor="t">
                <a:prstTxWarp prst="textNoShape">
                  <a:avLst/>
                </a:prstTxWarp>
                <a:normAutofit/>
              </a:bodyPr>
              <a:lstStyle/>
              <a:p>
                <a:pPr marL="0" algn="l"/>
                <a:endParaRPr/>
              </a:p>
            </p:txBody>
          </p:sp>
          <p:sp>
            <p:nvSpPr>
              <p:cNvPr id="6" name="Freeform 6"/>
              <p:cNvSpPr/>
              <p:nvPr/>
            </p:nvSpPr>
            <p:spPr>
              <a:xfrm>
                <a:off x="7146379" y="2945938"/>
                <a:ext cx="525758" cy="655702"/>
              </a:xfrm>
              <a:custGeom>
                <a:avLst/>
                <a:gdLst/>
                <a:ahLst/>
                <a:cxnLst/>
                <a:rect l="l" t="t" r="r" b="b"/>
                <a:pathLst>
                  <a:path w="755109" h="937065">
                    <a:moveTo>
                      <a:pt x="428337" y="408261"/>
                    </a:moveTo>
                    <a:cubicBezTo>
                      <a:pt x="379763" y="408261"/>
                      <a:pt x="335604" y="426036"/>
                      <a:pt x="309109" y="461586"/>
                    </a:cubicBezTo>
                    <a:cubicBezTo>
                      <a:pt x="291446" y="479361"/>
                      <a:pt x="278198" y="506023"/>
                      <a:pt x="269367" y="532685"/>
                    </a:cubicBezTo>
                    <a:cubicBezTo>
                      <a:pt x="269367" y="532685"/>
                      <a:pt x="269367" y="532685"/>
                      <a:pt x="238456" y="532685"/>
                    </a:cubicBezTo>
                    <a:cubicBezTo>
                      <a:pt x="238456" y="532685"/>
                      <a:pt x="238456" y="532685"/>
                      <a:pt x="238456" y="572679"/>
                    </a:cubicBezTo>
                    <a:cubicBezTo>
                      <a:pt x="238456" y="572679"/>
                      <a:pt x="238456" y="572679"/>
                      <a:pt x="264951" y="572679"/>
                    </a:cubicBezTo>
                    <a:cubicBezTo>
                      <a:pt x="264951" y="577123"/>
                      <a:pt x="264951" y="581566"/>
                      <a:pt x="264951" y="586010"/>
                    </a:cubicBezTo>
                    <a:cubicBezTo>
                      <a:pt x="264951" y="590454"/>
                      <a:pt x="264951" y="594898"/>
                      <a:pt x="264951" y="594898"/>
                    </a:cubicBezTo>
                    <a:cubicBezTo>
                      <a:pt x="264951" y="594898"/>
                      <a:pt x="264951" y="594898"/>
                      <a:pt x="238456" y="594898"/>
                    </a:cubicBezTo>
                    <a:cubicBezTo>
                      <a:pt x="238456" y="594898"/>
                      <a:pt x="238456" y="594898"/>
                      <a:pt x="238456" y="634891"/>
                    </a:cubicBezTo>
                    <a:cubicBezTo>
                      <a:pt x="238456" y="634891"/>
                      <a:pt x="238456" y="634891"/>
                      <a:pt x="269367" y="634891"/>
                    </a:cubicBezTo>
                    <a:cubicBezTo>
                      <a:pt x="273782" y="661554"/>
                      <a:pt x="287030" y="683772"/>
                      <a:pt x="300277" y="701547"/>
                    </a:cubicBezTo>
                    <a:cubicBezTo>
                      <a:pt x="326773" y="741541"/>
                      <a:pt x="375347" y="759316"/>
                      <a:pt x="428337" y="759316"/>
                    </a:cubicBezTo>
                    <a:cubicBezTo>
                      <a:pt x="459248" y="759316"/>
                      <a:pt x="490159" y="750428"/>
                      <a:pt x="507822" y="741541"/>
                    </a:cubicBezTo>
                    <a:cubicBezTo>
                      <a:pt x="507822" y="741541"/>
                      <a:pt x="507822" y="741541"/>
                      <a:pt x="494575" y="683772"/>
                    </a:cubicBezTo>
                    <a:cubicBezTo>
                      <a:pt x="485743" y="688216"/>
                      <a:pt x="459248" y="697103"/>
                      <a:pt x="437169" y="697103"/>
                    </a:cubicBezTo>
                    <a:cubicBezTo>
                      <a:pt x="410674" y="697103"/>
                      <a:pt x="384178" y="688216"/>
                      <a:pt x="370931" y="670441"/>
                    </a:cubicBezTo>
                    <a:cubicBezTo>
                      <a:pt x="362099" y="661554"/>
                      <a:pt x="353268" y="648222"/>
                      <a:pt x="353268" y="634891"/>
                    </a:cubicBezTo>
                    <a:cubicBezTo>
                      <a:pt x="353268" y="634891"/>
                      <a:pt x="353268" y="634891"/>
                      <a:pt x="481327" y="634891"/>
                    </a:cubicBezTo>
                    <a:cubicBezTo>
                      <a:pt x="481327" y="634891"/>
                      <a:pt x="481327" y="634891"/>
                      <a:pt x="481327" y="594898"/>
                    </a:cubicBezTo>
                    <a:cubicBezTo>
                      <a:pt x="481327" y="594898"/>
                      <a:pt x="481327" y="594898"/>
                      <a:pt x="344436" y="594898"/>
                    </a:cubicBezTo>
                    <a:cubicBezTo>
                      <a:pt x="344436" y="594898"/>
                      <a:pt x="344436" y="590454"/>
                      <a:pt x="344436" y="586010"/>
                    </a:cubicBezTo>
                    <a:cubicBezTo>
                      <a:pt x="344436" y="581566"/>
                      <a:pt x="344436" y="577123"/>
                      <a:pt x="344436" y="572679"/>
                    </a:cubicBezTo>
                    <a:cubicBezTo>
                      <a:pt x="344436" y="572679"/>
                      <a:pt x="344436" y="572679"/>
                      <a:pt x="481327" y="572679"/>
                    </a:cubicBezTo>
                    <a:cubicBezTo>
                      <a:pt x="481327" y="572679"/>
                      <a:pt x="481327" y="572679"/>
                      <a:pt x="481327" y="532685"/>
                    </a:cubicBezTo>
                    <a:cubicBezTo>
                      <a:pt x="481327" y="532685"/>
                      <a:pt x="481327" y="532685"/>
                      <a:pt x="353268" y="532685"/>
                    </a:cubicBezTo>
                    <a:cubicBezTo>
                      <a:pt x="357683" y="519354"/>
                      <a:pt x="362099" y="506023"/>
                      <a:pt x="370931" y="501579"/>
                    </a:cubicBezTo>
                    <a:cubicBezTo>
                      <a:pt x="384178" y="479361"/>
                      <a:pt x="410674" y="470473"/>
                      <a:pt x="432753" y="470473"/>
                    </a:cubicBezTo>
                    <a:cubicBezTo>
                      <a:pt x="454832" y="470473"/>
                      <a:pt x="476911" y="479361"/>
                      <a:pt x="490159" y="483804"/>
                    </a:cubicBezTo>
                    <a:cubicBezTo>
                      <a:pt x="490159" y="483804"/>
                      <a:pt x="490159" y="483804"/>
                      <a:pt x="507822" y="426036"/>
                    </a:cubicBezTo>
                    <a:cubicBezTo>
                      <a:pt x="485743" y="417148"/>
                      <a:pt x="459248" y="408261"/>
                      <a:pt x="428337" y="408261"/>
                    </a:cubicBezTo>
                    <a:close/>
                    <a:moveTo>
                      <a:pt x="167802" y="288280"/>
                    </a:moveTo>
                    <a:cubicBezTo>
                      <a:pt x="167802" y="288280"/>
                      <a:pt x="167802" y="288280"/>
                      <a:pt x="587307" y="288280"/>
                    </a:cubicBezTo>
                    <a:cubicBezTo>
                      <a:pt x="688872" y="350492"/>
                      <a:pt x="755109" y="461586"/>
                      <a:pt x="755109" y="581566"/>
                    </a:cubicBezTo>
                    <a:cubicBezTo>
                      <a:pt x="755109" y="626004"/>
                      <a:pt x="746278" y="670441"/>
                      <a:pt x="728614" y="710435"/>
                    </a:cubicBezTo>
                    <a:cubicBezTo>
                      <a:pt x="728614" y="710435"/>
                      <a:pt x="719782" y="728210"/>
                      <a:pt x="715367" y="737097"/>
                    </a:cubicBezTo>
                    <a:cubicBezTo>
                      <a:pt x="706535" y="759316"/>
                      <a:pt x="697703" y="790422"/>
                      <a:pt x="702119" y="799309"/>
                    </a:cubicBezTo>
                    <a:cubicBezTo>
                      <a:pt x="719782" y="830415"/>
                      <a:pt x="724198" y="865965"/>
                      <a:pt x="706535" y="892628"/>
                    </a:cubicBezTo>
                    <a:cubicBezTo>
                      <a:pt x="684456" y="937065"/>
                      <a:pt x="618218" y="950396"/>
                      <a:pt x="560812" y="919290"/>
                    </a:cubicBezTo>
                    <a:cubicBezTo>
                      <a:pt x="551980" y="914846"/>
                      <a:pt x="525485" y="910403"/>
                      <a:pt x="485743" y="919290"/>
                    </a:cubicBezTo>
                    <a:cubicBezTo>
                      <a:pt x="450416" y="928177"/>
                      <a:pt x="415089" y="937065"/>
                      <a:pt x="379763" y="937065"/>
                    </a:cubicBezTo>
                    <a:cubicBezTo>
                      <a:pt x="340020" y="937065"/>
                      <a:pt x="304693" y="928177"/>
                      <a:pt x="269367" y="919290"/>
                    </a:cubicBezTo>
                    <a:cubicBezTo>
                      <a:pt x="220792" y="905959"/>
                      <a:pt x="189881" y="919290"/>
                      <a:pt x="189881" y="919290"/>
                    </a:cubicBezTo>
                    <a:cubicBezTo>
                      <a:pt x="136891" y="945952"/>
                      <a:pt x="70653" y="937065"/>
                      <a:pt x="48574" y="892628"/>
                    </a:cubicBezTo>
                    <a:cubicBezTo>
                      <a:pt x="30911" y="861522"/>
                      <a:pt x="35326" y="825972"/>
                      <a:pt x="57406" y="794866"/>
                    </a:cubicBezTo>
                    <a:cubicBezTo>
                      <a:pt x="57406" y="785978"/>
                      <a:pt x="48574" y="759316"/>
                      <a:pt x="39742" y="737097"/>
                    </a:cubicBezTo>
                    <a:cubicBezTo>
                      <a:pt x="17663" y="692660"/>
                      <a:pt x="0" y="639335"/>
                      <a:pt x="0" y="581566"/>
                    </a:cubicBezTo>
                    <a:cubicBezTo>
                      <a:pt x="0" y="461586"/>
                      <a:pt x="70653" y="350492"/>
                      <a:pt x="167802" y="288280"/>
                    </a:cubicBezTo>
                    <a:close/>
                    <a:moveTo>
                      <a:pt x="380344" y="0"/>
                    </a:moveTo>
                    <a:cubicBezTo>
                      <a:pt x="424436" y="0"/>
                      <a:pt x="468527" y="39916"/>
                      <a:pt x="481755" y="97572"/>
                    </a:cubicBezTo>
                    <a:cubicBezTo>
                      <a:pt x="530256" y="62091"/>
                      <a:pt x="583166" y="53221"/>
                      <a:pt x="605212" y="75397"/>
                    </a:cubicBezTo>
                    <a:cubicBezTo>
                      <a:pt x="636076" y="106442"/>
                      <a:pt x="614030" y="177404"/>
                      <a:pt x="556711" y="230625"/>
                    </a:cubicBezTo>
                    <a:lnTo>
                      <a:pt x="199567" y="230625"/>
                    </a:lnTo>
                    <a:cubicBezTo>
                      <a:pt x="146657" y="177404"/>
                      <a:pt x="124611" y="106442"/>
                      <a:pt x="151066" y="75397"/>
                    </a:cubicBezTo>
                    <a:cubicBezTo>
                      <a:pt x="177521" y="53221"/>
                      <a:pt x="226022" y="62091"/>
                      <a:pt x="278933" y="97572"/>
                    </a:cubicBezTo>
                    <a:cubicBezTo>
                      <a:pt x="292160" y="39916"/>
                      <a:pt x="331843" y="0"/>
                      <a:pt x="380344" y="0"/>
                    </a:cubicBezTo>
                    <a:close/>
                  </a:path>
                </a:pathLst>
              </a:custGeom>
              <a:solidFill>
                <a:srgbClr val="FFFFFF">
                  <a:lumMod val="50000"/>
                </a:srgbClr>
              </a:solidFill>
            </p:spPr>
            <p:txBody>
              <a:bodyPr vert="horz" wrap="square" lIns="91440" tIns="45720" rIns="91440" bIns="45720" anchor="t">
                <a:prstTxWarp prst="textNoShape">
                  <a:avLst/>
                </a:prstTxWarp>
                <a:normAutofit/>
              </a:bodyPr>
              <a:lstStyle/>
              <a:p>
                <a:pPr marL="0" algn="l"/>
                <a:endParaRPr/>
              </a:p>
            </p:txBody>
          </p:sp>
          <p:sp>
            <p:nvSpPr>
              <p:cNvPr id="7" name="Freeform 7"/>
              <p:cNvSpPr/>
              <p:nvPr/>
            </p:nvSpPr>
            <p:spPr>
              <a:xfrm>
                <a:off x="6589513" y="2066925"/>
                <a:ext cx="1639491" cy="2115740"/>
              </a:xfrm>
              <a:custGeom>
                <a:avLst/>
                <a:gdLst/>
                <a:ahLst/>
                <a:cxnLst/>
                <a:rect l="l" t="t" r="r" b="b"/>
                <a:pathLst>
                  <a:path w="471" h="608">
                    <a:moveTo>
                      <a:pt x="417" y="440"/>
                    </a:moveTo>
                    <a:cubicBezTo>
                      <a:pt x="258" y="18"/>
                      <a:pt x="258" y="18"/>
                      <a:pt x="258" y="18"/>
                    </a:cubicBezTo>
                    <a:cubicBezTo>
                      <a:pt x="251" y="0"/>
                      <a:pt x="220" y="0"/>
                      <a:pt x="213" y="18"/>
                    </a:cubicBezTo>
                    <a:cubicBezTo>
                      <a:pt x="54" y="440"/>
                      <a:pt x="54" y="440"/>
                      <a:pt x="54" y="440"/>
                    </a:cubicBezTo>
                    <a:cubicBezTo>
                      <a:pt x="0" y="440"/>
                      <a:pt x="0" y="440"/>
                      <a:pt x="0" y="440"/>
                    </a:cubicBezTo>
                    <a:cubicBezTo>
                      <a:pt x="34" y="538"/>
                      <a:pt x="126" y="608"/>
                      <a:pt x="235" y="608"/>
                    </a:cubicBezTo>
                    <a:cubicBezTo>
                      <a:pt x="345" y="608"/>
                      <a:pt x="437" y="538"/>
                      <a:pt x="471" y="440"/>
                    </a:cubicBezTo>
                    <a:lnTo>
                      <a:pt x="417" y="440"/>
                    </a:lnTo>
                    <a:close/>
                    <a:moveTo>
                      <a:pt x="104" y="440"/>
                    </a:moveTo>
                    <a:cubicBezTo>
                      <a:pt x="235" y="93"/>
                      <a:pt x="235" y="93"/>
                      <a:pt x="235" y="93"/>
                    </a:cubicBezTo>
                    <a:cubicBezTo>
                      <a:pt x="366" y="440"/>
                      <a:pt x="366" y="440"/>
                      <a:pt x="366" y="440"/>
                    </a:cubicBezTo>
                    <a:lnTo>
                      <a:pt x="104" y="440"/>
                    </a:lnTo>
                    <a:close/>
                  </a:path>
                </a:pathLst>
              </a:custGeom>
              <a:solidFill>
                <a:srgbClr val="FFFFFF">
                  <a:lumMod val="95000"/>
                </a:srgbClr>
              </a:solidFill>
            </p:spPr>
            <p:txBody>
              <a:bodyPr vert="horz" wrap="square" lIns="91440" tIns="45720" rIns="91440" bIns="45720" anchor="t">
                <a:prstTxWarp prst="textNoShape">
                  <a:avLst/>
                </a:prstTxWarp>
                <a:normAutofit/>
              </a:bodyPr>
              <a:lstStyle/>
              <a:p>
                <a:pPr marL="0" algn="l"/>
                <a:endParaRPr/>
              </a:p>
            </p:txBody>
          </p:sp>
          <p:sp>
            <p:nvSpPr>
              <p:cNvPr id="8" name="Freeform 8"/>
              <p:cNvSpPr/>
              <p:nvPr/>
            </p:nvSpPr>
            <p:spPr>
              <a:xfrm>
                <a:off x="3962995" y="2066925"/>
                <a:ext cx="1641872" cy="2115740"/>
              </a:xfrm>
              <a:custGeom>
                <a:avLst/>
                <a:gdLst/>
                <a:ahLst/>
                <a:cxnLst/>
                <a:rect l="l" t="t" r="r" b="b"/>
                <a:pathLst>
                  <a:path w="472" h="608">
                    <a:moveTo>
                      <a:pt x="417" y="440"/>
                    </a:moveTo>
                    <a:cubicBezTo>
                      <a:pt x="258" y="18"/>
                      <a:pt x="258" y="18"/>
                      <a:pt x="258" y="18"/>
                    </a:cubicBezTo>
                    <a:cubicBezTo>
                      <a:pt x="251" y="0"/>
                      <a:pt x="221" y="0"/>
                      <a:pt x="214" y="18"/>
                    </a:cubicBezTo>
                    <a:cubicBezTo>
                      <a:pt x="54" y="440"/>
                      <a:pt x="54" y="440"/>
                      <a:pt x="54" y="440"/>
                    </a:cubicBezTo>
                    <a:cubicBezTo>
                      <a:pt x="0" y="440"/>
                      <a:pt x="0" y="440"/>
                      <a:pt x="0" y="440"/>
                    </a:cubicBezTo>
                    <a:cubicBezTo>
                      <a:pt x="35" y="538"/>
                      <a:pt x="127" y="608"/>
                      <a:pt x="236" y="608"/>
                    </a:cubicBezTo>
                    <a:cubicBezTo>
                      <a:pt x="345" y="608"/>
                      <a:pt x="437" y="538"/>
                      <a:pt x="472" y="440"/>
                    </a:cubicBezTo>
                    <a:lnTo>
                      <a:pt x="417" y="440"/>
                    </a:lnTo>
                    <a:close/>
                    <a:moveTo>
                      <a:pt x="105" y="440"/>
                    </a:moveTo>
                    <a:cubicBezTo>
                      <a:pt x="236" y="93"/>
                      <a:pt x="236" y="93"/>
                      <a:pt x="236" y="93"/>
                    </a:cubicBezTo>
                    <a:cubicBezTo>
                      <a:pt x="367" y="440"/>
                      <a:pt x="367" y="440"/>
                      <a:pt x="367" y="440"/>
                    </a:cubicBezTo>
                    <a:lnTo>
                      <a:pt x="105" y="440"/>
                    </a:lnTo>
                    <a:close/>
                  </a:path>
                </a:pathLst>
              </a:custGeom>
              <a:solidFill>
                <a:srgbClr val="FFFFFF">
                  <a:lumMod val="95000"/>
                </a:srgbClr>
              </a:solidFill>
            </p:spPr>
            <p:txBody>
              <a:bodyPr vert="horz" wrap="square" lIns="91440" tIns="45720" rIns="91440" bIns="45720" anchor="t">
                <a:prstTxWarp prst="textNoShape">
                  <a:avLst/>
                </a:prstTxWarp>
                <a:normAutofit/>
              </a:bodyPr>
              <a:lstStyle/>
              <a:p>
                <a:pPr marL="0" algn="l"/>
                <a:endParaRPr/>
              </a:p>
            </p:txBody>
          </p:sp>
          <p:sp>
            <p:nvSpPr>
              <p:cNvPr id="9" name="AutoShape 9"/>
              <p:cNvSpPr/>
              <p:nvPr/>
            </p:nvSpPr>
            <p:spPr>
              <a:xfrm>
                <a:off x="5231009" y="3782616"/>
                <a:ext cx="0" cy="0"/>
              </a:xfrm>
              <a:prstGeom prst="line">
                <a:avLst/>
              </a:prstGeom>
              <a:noFill/>
            </p:spPr>
            <p:txBody>
              <a:bodyPr vert="horz" wrap="square" lIns="91440" tIns="45720" rIns="91440" bIns="45720" anchor="t">
                <a:prstTxWarp prst="textNoShape">
                  <a:avLst/>
                </a:prstTxWarp>
                <a:normAutofit fontScale="25000" lnSpcReduction="20000"/>
              </a:bodyPr>
              <a:lstStyle/>
              <a:p>
                <a:pPr marL="0" algn="l"/>
                <a:endParaRPr/>
              </a:p>
            </p:txBody>
          </p:sp>
          <p:sp>
            <p:nvSpPr>
              <p:cNvPr id="10" name="AutoShape 10"/>
              <p:cNvSpPr/>
              <p:nvPr/>
            </p:nvSpPr>
            <p:spPr>
              <a:xfrm>
                <a:off x="5231009" y="3782616"/>
                <a:ext cx="0" cy="0"/>
              </a:xfrm>
              <a:prstGeom prst="line">
                <a:avLst/>
              </a:prstGeom>
              <a:noFill/>
            </p:spPr>
            <p:txBody>
              <a:bodyPr vert="horz" wrap="square" lIns="91440" tIns="45720" rIns="91440" bIns="45720" anchor="t">
                <a:prstTxWarp prst="textNoShape">
                  <a:avLst/>
                </a:prstTxWarp>
                <a:normAutofit fontScale="25000" lnSpcReduction="20000"/>
              </a:bodyPr>
              <a:lstStyle/>
              <a:p>
                <a:pPr marL="0" algn="l"/>
                <a:endParaRPr/>
              </a:p>
            </p:txBody>
          </p:sp>
          <p:sp>
            <p:nvSpPr>
              <p:cNvPr id="11" name="Freeform 11"/>
              <p:cNvSpPr/>
              <p:nvPr/>
            </p:nvSpPr>
            <p:spPr>
              <a:xfrm>
                <a:off x="5110757" y="2128838"/>
                <a:ext cx="1969294" cy="3087290"/>
              </a:xfrm>
              <a:custGeom>
                <a:avLst/>
                <a:gdLst/>
                <a:ahLst/>
                <a:cxnLst/>
                <a:rect l="l" t="t" r="r" b="b"/>
                <a:pathLst>
                  <a:path w="566" h="887">
                    <a:moveTo>
                      <a:pt x="519" y="793"/>
                    </a:moveTo>
                    <a:cubicBezTo>
                      <a:pt x="424" y="793"/>
                      <a:pt x="424" y="793"/>
                      <a:pt x="424" y="793"/>
                    </a:cubicBezTo>
                    <a:cubicBezTo>
                      <a:pt x="421" y="734"/>
                      <a:pt x="383" y="685"/>
                      <a:pt x="330" y="666"/>
                    </a:cubicBezTo>
                    <a:cubicBezTo>
                      <a:pt x="330" y="0"/>
                      <a:pt x="330" y="0"/>
                      <a:pt x="330" y="0"/>
                    </a:cubicBezTo>
                    <a:cubicBezTo>
                      <a:pt x="236" y="2"/>
                      <a:pt x="236" y="2"/>
                      <a:pt x="236" y="2"/>
                    </a:cubicBezTo>
                    <a:cubicBezTo>
                      <a:pt x="236" y="666"/>
                      <a:pt x="236" y="666"/>
                      <a:pt x="236" y="666"/>
                    </a:cubicBezTo>
                    <a:cubicBezTo>
                      <a:pt x="183" y="685"/>
                      <a:pt x="145" y="734"/>
                      <a:pt x="142" y="793"/>
                    </a:cubicBezTo>
                    <a:cubicBezTo>
                      <a:pt x="47" y="793"/>
                      <a:pt x="47" y="793"/>
                      <a:pt x="47" y="793"/>
                    </a:cubicBezTo>
                    <a:cubicBezTo>
                      <a:pt x="21" y="793"/>
                      <a:pt x="0" y="814"/>
                      <a:pt x="0" y="840"/>
                    </a:cubicBezTo>
                    <a:cubicBezTo>
                      <a:pt x="0" y="887"/>
                      <a:pt x="0" y="887"/>
                      <a:pt x="0" y="887"/>
                    </a:cubicBezTo>
                    <a:cubicBezTo>
                      <a:pt x="566" y="887"/>
                      <a:pt x="566" y="887"/>
                      <a:pt x="566" y="887"/>
                    </a:cubicBezTo>
                    <a:cubicBezTo>
                      <a:pt x="566" y="840"/>
                      <a:pt x="566" y="840"/>
                      <a:pt x="566" y="840"/>
                    </a:cubicBezTo>
                    <a:cubicBezTo>
                      <a:pt x="566" y="814"/>
                      <a:pt x="545" y="793"/>
                      <a:pt x="519" y="793"/>
                    </a:cubicBezTo>
                    <a:close/>
                  </a:path>
                </a:pathLst>
              </a:custGeom>
              <a:solidFill>
                <a:srgbClr val="FFFFFF">
                  <a:lumMod val="95000"/>
                </a:srgbClr>
              </a:solidFill>
            </p:spPr>
            <p:txBody>
              <a:bodyPr vert="horz" wrap="square" lIns="91440" tIns="45720" rIns="91440" bIns="45720" anchor="t">
                <a:prstTxWarp prst="textNoShape">
                  <a:avLst/>
                </a:prstTxWarp>
                <a:normAutofit/>
              </a:bodyPr>
              <a:lstStyle/>
              <a:p>
                <a:pPr marL="0" algn="l"/>
                <a:endParaRPr/>
              </a:p>
            </p:txBody>
          </p:sp>
          <p:sp>
            <p:nvSpPr>
              <p:cNvPr id="12" name="Freeform 12"/>
              <p:cNvSpPr/>
              <p:nvPr/>
            </p:nvSpPr>
            <p:spPr>
              <a:xfrm>
                <a:off x="4630934" y="1641872"/>
                <a:ext cx="2957513" cy="689372"/>
              </a:xfrm>
              <a:custGeom>
                <a:avLst/>
                <a:gdLst/>
                <a:ahLst/>
                <a:cxnLst/>
                <a:rect l="l" t="t" r="r" b="b"/>
                <a:pathLst>
                  <a:path w="850" h="198">
                    <a:moveTo>
                      <a:pt x="802" y="65"/>
                    </a:moveTo>
                    <a:cubicBezTo>
                      <a:pt x="789" y="65"/>
                      <a:pt x="777" y="71"/>
                      <a:pt x="768" y="80"/>
                    </a:cubicBezTo>
                    <a:cubicBezTo>
                      <a:pt x="756" y="75"/>
                      <a:pt x="744" y="69"/>
                      <a:pt x="731" y="62"/>
                    </a:cubicBezTo>
                    <a:cubicBezTo>
                      <a:pt x="690" y="42"/>
                      <a:pt x="644" y="18"/>
                      <a:pt x="590" y="18"/>
                    </a:cubicBezTo>
                    <a:cubicBezTo>
                      <a:pt x="554" y="18"/>
                      <a:pt x="527" y="29"/>
                      <a:pt x="506" y="42"/>
                    </a:cubicBezTo>
                    <a:cubicBezTo>
                      <a:pt x="488" y="17"/>
                      <a:pt x="459" y="0"/>
                      <a:pt x="425" y="0"/>
                    </a:cubicBezTo>
                    <a:cubicBezTo>
                      <a:pt x="392" y="0"/>
                      <a:pt x="362" y="17"/>
                      <a:pt x="344" y="42"/>
                    </a:cubicBezTo>
                    <a:cubicBezTo>
                      <a:pt x="323" y="29"/>
                      <a:pt x="296" y="18"/>
                      <a:pt x="260" y="18"/>
                    </a:cubicBezTo>
                    <a:cubicBezTo>
                      <a:pt x="206" y="18"/>
                      <a:pt x="160" y="42"/>
                      <a:pt x="119" y="62"/>
                    </a:cubicBezTo>
                    <a:cubicBezTo>
                      <a:pt x="106" y="69"/>
                      <a:pt x="94" y="75"/>
                      <a:pt x="82" y="80"/>
                    </a:cubicBezTo>
                    <a:cubicBezTo>
                      <a:pt x="74" y="71"/>
                      <a:pt x="61" y="65"/>
                      <a:pt x="48" y="65"/>
                    </a:cubicBezTo>
                    <a:cubicBezTo>
                      <a:pt x="22" y="65"/>
                      <a:pt x="0" y="86"/>
                      <a:pt x="0" y="113"/>
                    </a:cubicBezTo>
                    <a:cubicBezTo>
                      <a:pt x="0" y="139"/>
                      <a:pt x="22" y="160"/>
                      <a:pt x="48" y="160"/>
                    </a:cubicBezTo>
                    <a:cubicBezTo>
                      <a:pt x="69" y="160"/>
                      <a:pt x="86" y="146"/>
                      <a:pt x="93" y="127"/>
                    </a:cubicBezTo>
                    <a:cubicBezTo>
                      <a:pt x="108" y="121"/>
                      <a:pt x="124" y="113"/>
                      <a:pt x="141" y="105"/>
                    </a:cubicBezTo>
                    <a:cubicBezTo>
                      <a:pt x="177" y="86"/>
                      <a:pt x="217" y="66"/>
                      <a:pt x="260" y="66"/>
                    </a:cubicBezTo>
                    <a:cubicBezTo>
                      <a:pt x="290" y="66"/>
                      <a:pt x="312" y="76"/>
                      <a:pt x="327" y="88"/>
                    </a:cubicBezTo>
                    <a:cubicBezTo>
                      <a:pt x="326" y="91"/>
                      <a:pt x="326" y="95"/>
                      <a:pt x="326" y="99"/>
                    </a:cubicBezTo>
                    <a:cubicBezTo>
                      <a:pt x="326" y="148"/>
                      <a:pt x="361" y="188"/>
                      <a:pt x="407" y="196"/>
                    </a:cubicBezTo>
                    <a:cubicBezTo>
                      <a:pt x="408" y="196"/>
                      <a:pt x="408" y="197"/>
                      <a:pt x="409" y="197"/>
                    </a:cubicBezTo>
                    <a:cubicBezTo>
                      <a:pt x="410" y="197"/>
                      <a:pt x="410" y="197"/>
                      <a:pt x="411" y="197"/>
                    </a:cubicBezTo>
                    <a:cubicBezTo>
                      <a:pt x="416" y="198"/>
                      <a:pt x="420" y="198"/>
                      <a:pt x="425" y="198"/>
                    </a:cubicBezTo>
                    <a:cubicBezTo>
                      <a:pt x="429" y="198"/>
                      <a:pt x="433" y="198"/>
                      <a:pt x="437" y="197"/>
                    </a:cubicBezTo>
                    <a:cubicBezTo>
                      <a:pt x="486" y="191"/>
                      <a:pt x="524" y="150"/>
                      <a:pt x="524" y="99"/>
                    </a:cubicBezTo>
                    <a:cubicBezTo>
                      <a:pt x="524" y="95"/>
                      <a:pt x="524" y="91"/>
                      <a:pt x="523" y="87"/>
                    </a:cubicBezTo>
                    <a:cubicBezTo>
                      <a:pt x="539" y="76"/>
                      <a:pt x="560" y="66"/>
                      <a:pt x="590" y="66"/>
                    </a:cubicBezTo>
                    <a:cubicBezTo>
                      <a:pt x="633" y="66"/>
                      <a:pt x="673" y="86"/>
                      <a:pt x="710" y="105"/>
                    </a:cubicBezTo>
                    <a:cubicBezTo>
                      <a:pt x="726" y="113"/>
                      <a:pt x="742" y="121"/>
                      <a:pt x="757" y="127"/>
                    </a:cubicBezTo>
                    <a:cubicBezTo>
                      <a:pt x="763" y="146"/>
                      <a:pt x="781" y="160"/>
                      <a:pt x="802" y="160"/>
                    </a:cubicBezTo>
                    <a:cubicBezTo>
                      <a:pt x="829" y="160"/>
                      <a:pt x="850" y="139"/>
                      <a:pt x="850" y="113"/>
                    </a:cubicBezTo>
                    <a:cubicBezTo>
                      <a:pt x="850" y="86"/>
                      <a:pt x="829" y="65"/>
                      <a:pt x="802" y="65"/>
                    </a:cubicBezTo>
                    <a:close/>
                  </a:path>
                </a:pathLst>
              </a:custGeom>
              <a:solidFill>
                <a:srgbClr val="FFFFFF">
                  <a:lumMod val="95000"/>
                </a:srgbClr>
              </a:solidFill>
            </p:spPr>
            <p:txBody>
              <a:bodyPr vert="horz" wrap="square" lIns="91440" tIns="45720" rIns="91440" bIns="45720" anchor="t">
                <a:prstTxWarp prst="textNoShape">
                  <a:avLst/>
                </a:prstTxWarp>
                <a:normAutofit/>
              </a:bodyPr>
              <a:lstStyle/>
              <a:p>
                <a:pPr marL="0" algn="l"/>
                <a:endParaRPr/>
              </a:p>
            </p:txBody>
          </p:sp>
        </p:grpSp>
        <p:grpSp>
          <p:nvGrpSpPr>
            <p:cNvPr id="13" name="Group 13"/>
            <p:cNvGrpSpPr/>
            <p:nvPr/>
          </p:nvGrpSpPr>
          <p:grpSpPr>
            <a:xfrm>
              <a:off x="660399" y="3720456"/>
              <a:ext cx="3276575" cy="1182697"/>
              <a:chOff x="673100" y="1286377"/>
              <a:chExt cx="3228944" cy="1182697"/>
            </a:xfrm>
          </p:grpSpPr>
          <p:sp>
            <p:nvSpPr>
              <p:cNvPr id="14" name="AutoShape 14"/>
              <p:cNvSpPr/>
              <p:nvPr/>
            </p:nvSpPr>
            <p:spPr>
              <a:xfrm>
                <a:off x="673100" y="1624932"/>
                <a:ext cx="3228944" cy="844142"/>
              </a:xfrm>
              <a:prstGeom prst="rect">
                <a:avLst/>
              </a:prstGeom>
              <a:noFill/>
            </p:spPr>
            <p:txBody>
              <a:bodyPr vert="horz" wrap="square" lIns="91440" tIns="45720" rIns="91440" bIns="45720" anchor="t">
                <a:spAutoFit/>
              </a:bodyPr>
              <a:lstStyle/>
              <a:p>
                <a:pPr marL="0" algn="l">
                  <a:lnSpc>
                    <a:spcPct val="120000"/>
                  </a:lnSpc>
                </a:pPr>
                <a:r>
                  <a:rPr lang="en-US" sz="1400" b="0" i="0" u="none" baseline="0">
                    <a:solidFill>
                      <a:srgbClr val="000000"/>
                    </a:solidFill>
                    <a:latin typeface="Arial"/>
                    <a:ea typeface="Arial"/>
                  </a:rPr>
                  <a:t>Registered Users = 5 Billion, Brand Users = 3 Billion, Brand Market Share Analysis.</a:t>
                </a:r>
              </a:p>
            </p:txBody>
          </p:sp>
          <p:sp>
            <p:nvSpPr>
              <p:cNvPr id="15" name="TextBox 15"/>
              <p:cNvSpPr txBox="1"/>
              <p:nvPr/>
            </p:nvSpPr>
            <p:spPr>
              <a:xfrm>
                <a:off x="673100" y="1286377"/>
                <a:ext cx="3228944" cy="338554"/>
              </a:xfrm>
              <a:prstGeom prst="rect">
                <a:avLst/>
              </a:prstGeom>
              <a:noFill/>
            </p:spPr>
            <p:txBody>
              <a:bodyPr vert="horz" wrap="square" lIns="91440" tIns="45720" rIns="91440" bIns="45720" rtlCol="0" anchor="b">
                <a:spAutoFit/>
              </a:bodyPr>
              <a:lstStyle/>
              <a:p>
                <a:pPr marL="0" algn="l">
                  <a:lnSpc>
                    <a:spcPct val="100000"/>
                  </a:lnSpc>
                  <a:spcBef>
                    <a:spcPct val="0"/>
                  </a:spcBef>
                  <a:defRPr/>
                </a:pPr>
                <a:r>
                  <a:rPr lang="en-US" sz="1600" b="1" i="0" u="none" baseline="0">
                    <a:solidFill>
                      <a:srgbClr val="000000"/>
                    </a:solidFill>
                    <a:latin typeface="Arial"/>
                    <a:ea typeface="Arial"/>
                  </a:rPr>
                  <a:t>Key Metrics</a:t>
                </a:r>
                <a:endParaRPr lang="en-US" sz="1100"/>
              </a:p>
            </p:txBody>
          </p:sp>
        </p:grpSp>
        <p:grpSp>
          <p:nvGrpSpPr>
            <p:cNvPr id="16" name="Group 16"/>
            <p:cNvGrpSpPr/>
            <p:nvPr/>
          </p:nvGrpSpPr>
          <p:grpSpPr>
            <a:xfrm>
              <a:off x="8242322" y="3720456"/>
              <a:ext cx="3276575" cy="1182697"/>
              <a:chOff x="673100" y="1286377"/>
              <a:chExt cx="3228944" cy="1182697"/>
            </a:xfrm>
          </p:grpSpPr>
          <p:sp>
            <p:nvSpPr>
              <p:cNvPr id="17" name="AutoShape 17"/>
              <p:cNvSpPr/>
              <p:nvPr/>
            </p:nvSpPr>
            <p:spPr>
              <a:xfrm>
                <a:off x="673100" y="1624932"/>
                <a:ext cx="3228944" cy="844142"/>
              </a:xfrm>
              <a:prstGeom prst="rect">
                <a:avLst/>
              </a:prstGeom>
              <a:noFill/>
            </p:spPr>
            <p:txBody>
              <a:bodyPr vert="horz" wrap="square" lIns="91440" tIns="45720" rIns="91440" bIns="45720" anchor="t">
                <a:spAutoFit/>
              </a:bodyPr>
              <a:lstStyle/>
              <a:p>
                <a:pPr marL="0" algn="r">
                  <a:lnSpc>
                    <a:spcPct val="120000"/>
                  </a:lnSpc>
                </a:pPr>
                <a:r>
                  <a:rPr lang="en-US" sz="1400" b="0" i="0" u="none" baseline="0">
                    <a:solidFill>
                      <a:srgbClr val="000000"/>
                    </a:solidFill>
                    <a:latin typeface="Arial"/>
                    <a:ea typeface="Arial"/>
                  </a:rPr>
                  <a:t>Registered users by state, mobile brand distribution, quarterly user growth, top districts by users.</a:t>
                </a:r>
              </a:p>
            </p:txBody>
          </p:sp>
          <p:sp>
            <p:nvSpPr>
              <p:cNvPr id="18" name="TextBox 18"/>
              <p:cNvSpPr txBox="1"/>
              <p:nvPr/>
            </p:nvSpPr>
            <p:spPr>
              <a:xfrm>
                <a:off x="673100" y="1286377"/>
                <a:ext cx="3228944" cy="338554"/>
              </a:xfrm>
              <a:prstGeom prst="rect">
                <a:avLst/>
              </a:prstGeom>
              <a:noFill/>
            </p:spPr>
            <p:txBody>
              <a:bodyPr vert="horz" wrap="square" lIns="91440" tIns="45720" rIns="91440" bIns="45720" rtlCol="0" anchor="b">
                <a:spAutoFit/>
              </a:bodyPr>
              <a:lstStyle/>
              <a:p>
                <a:pPr marL="0" algn="r">
                  <a:lnSpc>
                    <a:spcPct val="100000"/>
                  </a:lnSpc>
                  <a:spcBef>
                    <a:spcPct val="0"/>
                  </a:spcBef>
                  <a:defRPr/>
                </a:pPr>
                <a:r>
                  <a:rPr lang="en-US" sz="1600" b="1" i="0" u="none" baseline="0">
                    <a:solidFill>
                      <a:srgbClr val="000000"/>
                    </a:solidFill>
                    <a:latin typeface="Arial"/>
                    <a:ea typeface="Arial"/>
                  </a:rPr>
                  <a:t>Visualizations</a:t>
                </a:r>
                <a:endParaRPr lang="en-US" sz="1100"/>
              </a:p>
            </p:txBody>
          </p:sp>
        </p:grpSp>
      </p:grpSp>
      <p:pic>
        <p:nvPicPr>
          <p:cNvPr id="20" name="Picture 19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18701" y="235917"/>
            <a:ext cx="1752598" cy="53279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>
            <a:spLocks noGrp="1"/>
          </p:cNvSpPr>
          <p:nvPr>
            <p:ph type="title"/>
          </p:nvPr>
        </p:nvSpPr>
        <p:spPr>
          <a:xfrm>
            <a:off x="805844" y="294280"/>
            <a:ext cx="7119766" cy="895350"/>
          </a:xfrm>
        </p:spPr>
        <p:txBody>
          <a:bodyPr vert="horz" lIns="91440" tIns="45720" rIns="91440" bIns="45720" anchor="t">
            <a:normAutofit/>
          </a:bodyPr>
          <a:lstStyle/>
          <a:p>
            <a:pPr algn="l">
              <a:lnSpc>
                <a:spcPct val="90000"/>
              </a:lnSpc>
            </a:pPr>
            <a:r>
              <a:rPr lang="zh-CN" altLang="en-US" sz="2400" b="1" dirty="0">
                <a:solidFill>
                  <a:srgbClr val="000000"/>
                </a:solidFill>
                <a:latin typeface="微软雅黑"/>
                <a:ea typeface="微软雅黑"/>
              </a:rPr>
              <a:t>User Analysis </a:t>
            </a:r>
            <a:r>
              <a:rPr lang="en-US" altLang="zh-CN" sz="2400" b="1" dirty="0" smtClean="0">
                <a:solidFill>
                  <a:srgbClr val="000000"/>
                </a:solidFill>
                <a:latin typeface="微软雅黑"/>
                <a:ea typeface="微软雅黑"/>
              </a:rPr>
              <a:t>Screenshot</a:t>
            </a:r>
            <a:endParaRPr lang="en-US" sz="2400" b="1" i="0" u="none" baseline="0" dirty="0">
              <a:solidFill>
                <a:schemeClr val="accent1"/>
              </a:solidFill>
              <a:latin typeface="Arial"/>
              <a:ea typeface="Arial"/>
            </a:endParaRPr>
          </a:p>
        </p:txBody>
      </p:sp>
      <p:sp>
        <p:nvSpPr>
          <p:cNvPr id="3" name="TextBox 3"/>
          <p:cNvSpPr txBox="1"/>
          <p:nvPr/>
        </p:nvSpPr>
        <p:spPr>
          <a:xfrm>
            <a:off x="381000" y="235917"/>
            <a:ext cx="156976" cy="1015623"/>
          </a:xfrm>
          <a:prstGeom prst="rect">
            <a:avLst/>
          </a:prstGeom>
          <a:noFill/>
        </p:spPr>
        <p:txBody>
          <a:bodyPr vert="horz" wrap="none" lIns="91440" tIns="45720" rIns="91440" bIns="45720" rtlCol="0" anchor="t">
            <a:prstTxWarp prst="textPlain">
              <a:avLst/>
            </a:prstTxWarp>
            <a:spAutoFit/>
          </a:bodyPr>
          <a:lstStyle/>
          <a:p>
            <a:pPr marL="0" algn="l">
              <a:defRPr/>
            </a:pPr>
            <a:r>
              <a:rPr lang="en-US" b="0" i="0" u="none" spc="100" baseline="0" dirty="0">
                <a:solidFill>
                  <a:schemeClr val="accent1"/>
                </a:solidFill>
                <a:latin typeface="Impact"/>
                <a:ea typeface="Impact"/>
              </a:rPr>
              <a:t>/</a:t>
            </a:r>
            <a:endParaRPr lang="en-US" sz="1100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18701" y="235917"/>
            <a:ext cx="1752598" cy="532790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74346" y="1145287"/>
            <a:ext cx="9614707" cy="55603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346696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254000" y="254000"/>
            <a:ext cx="11684000" cy="650240"/>
          </a:xfrm>
          <a:prstGeom prst="rect">
            <a:avLst/>
          </a:prstGeom>
          <a:noFill/>
        </p:spPr>
        <p:txBody>
          <a:bodyPr vert="horz" wrap="none" lIns="91440" tIns="45720" rIns="91440" bIns="45720" anchor="ctr">
            <a:noAutofit/>
          </a:bodyPr>
          <a:lstStyle/>
          <a:p>
            <a:pPr marL="0" indent="0" algn="l"/>
            <a:r>
              <a:rPr lang="en-US" sz="4500" b="1" i="0" u="none" spc="-137" baseline="0">
                <a:solidFill>
                  <a:srgbClr val="000000"/>
                </a:solidFill>
                <a:latin typeface="Arial"/>
                <a:ea typeface="Arial"/>
              </a:rPr>
              <a:t>Mobile Brand Performance Table</a:t>
            </a:r>
          </a:p>
        </p:txBody>
      </p:sp>
      <p:sp>
        <p:nvSpPr>
          <p:cNvPr id="3" name="AutoShape 3"/>
          <p:cNvSpPr/>
          <p:nvPr/>
        </p:nvSpPr>
        <p:spPr>
          <a:xfrm>
            <a:off x="254000" y="967740"/>
            <a:ext cx="11684000" cy="650240"/>
          </a:xfrm>
          <a:prstGeom prst="rect">
            <a:avLst/>
          </a:prstGeom>
          <a:noFill/>
        </p:spPr>
        <p:txBody>
          <a:bodyPr vert="horz" wrap="none" lIns="91440" tIns="45720" rIns="91440" bIns="45720" anchor="ctr">
            <a:noAutofit/>
          </a:bodyPr>
          <a:lstStyle/>
          <a:p>
            <a:pPr marL="0" indent="0" algn="l"/>
            <a:r>
              <a:rPr lang="en-US" sz="2600" b="1" i="0" u="none" spc="-82" baseline="0">
                <a:solidFill>
                  <a:srgbClr val="000000"/>
                </a:solidFill>
                <a:latin typeface="Arial"/>
                <a:ea typeface="Arial"/>
              </a:rPr>
              <a:t>Brand Market Share</a:t>
            </a:r>
          </a:p>
        </p:txBody>
      </p:sp>
      <p:graphicFrame>
        <p:nvGraphicFramePr>
          <p:cNvPr id="4" name="Table 4"/>
          <p:cNvGraphicFramePr>
            <a:graphicFrameLocks noGrp="1"/>
          </p:cNvGraphicFramePr>
          <p:nvPr/>
        </p:nvGraphicFramePr>
        <p:xfrm>
          <a:off x="914400" y="1808480"/>
          <a:ext cx="10363200" cy="2590800"/>
        </p:xfrm>
        <a:graphic>
          <a:graphicData uri="http://schemas.openxmlformats.org/drawingml/2006/table">
            <a:tbl>
              <a:tblPr/>
              <a:tblGrid>
                <a:gridCol w="2540572"/>
                <a:gridCol w="7822628"/>
              </a:tblGrid>
              <a:tr h="431800">
                <a:tc>
                  <a:txBody>
                    <a:bodyPr/>
                    <a:lstStyle/>
                    <a:p>
                      <a:pPr marL="0" algn="l"/>
                      <a:r>
                        <a:rPr lang="en-US" sz="1800" b="1" i="0" u="none" baseline="0">
                          <a:solidFill>
                            <a:srgbClr val="FFFFFF"/>
                          </a:solidFill>
                          <a:latin typeface="Arial"/>
                          <a:ea typeface="Arial"/>
                        </a:rPr>
                        <a:t>Brand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/>
                      <a:r>
                        <a:rPr lang="en-US" sz="1800" b="1" i="0" u="none" baseline="0">
                          <a:solidFill>
                            <a:srgbClr val="FFFFFF"/>
                          </a:solidFill>
                          <a:latin typeface="Arial"/>
                          <a:ea typeface="Arial"/>
                        </a:rPr>
                        <a:t>Market Share (Illustrative)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/>
                    </a:solidFill>
                  </a:tcPr>
                </a:tc>
              </a:tr>
              <a:tr h="431800">
                <a:tc>
                  <a:txBody>
                    <a:bodyPr/>
                    <a:lstStyle/>
                    <a:p>
                      <a:pPr marL="0" algn="l"/>
                      <a:r>
                        <a:rPr lang="en-US" sz="1800" b="0" i="0" u="none" baseline="0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Apple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/>
                      <a:r>
                        <a:rPr lang="en-US" sz="1800" b="0" i="0" u="none" baseline="0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Data available in dashboard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</a:tr>
              <a:tr h="431800">
                <a:tc>
                  <a:txBody>
                    <a:bodyPr/>
                    <a:lstStyle/>
                    <a:p>
                      <a:pPr marL="0" algn="l"/>
                      <a:r>
                        <a:rPr lang="en-US" sz="1800" b="0" i="0" u="none" baseline="0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Huawei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/>
                      <a:r>
                        <a:rPr lang="en-US" sz="1800" b="0" i="0" u="none" baseline="0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Data available in dashboard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</a:tr>
              <a:tr h="431800">
                <a:tc>
                  <a:txBody>
                    <a:bodyPr/>
                    <a:lstStyle/>
                    <a:p>
                      <a:pPr marL="0" algn="l"/>
                      <a:r>
                        <a:rPr lang="en-US" sz="1800" b="0" i="0" u="none" baseline="0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Asus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/>
                      <a:r>
                        <a:rPr lang="en-US" sz="1800" b="0" i="0" u="none" baseline="0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Data available in dashboard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</a:tr>
              <a:tr h="431800">
                <a:tc>
                  <a:txBody>
                    <a:bodyPr/>
                    <a:lstStyle/>
                    <a:p>
                      <a:pPr marL="0" algn="l"/>
                      <a:r>
                        <a:rPr lang="en-US" sz="1800" b="0" i="0" u="none" baseline="0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Infinix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/>
                      <a:r>
                        <a:rPr lang="en-US" sz="1800" b="0" i="0" u="none" baseline="0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Data available in dashboard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</a:tr>
              <a:tr h="431800">
                <a:tc>
                  <a:txBody>
                    <a:bodyPr/>
                    <a:lstStyle/>
                    <a:p>
                      <a:pPr marL="0" algn="l"/>
                      <a:r>
                        <a:rPr lang="en-US" sz="1800" b="0" i="0" u="none" baseline="0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Others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/>
                      <a:r>
                        <a:rPr lang="en-US" sz="1800" b="0" i="0" u="none" baseline="0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Data available in dashboard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</a:tr>
            </a:tbl>
          </a:graphicData>
        </a:graphic>
      </p:graphicFrame>
      <p:pic>
        <p:nvPicPr>
          <p:cNvPr id="6" name="Picture 5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18701" y="235917"/>
            <a:ext cx="1752598" cy="53279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>
            <a:spLocks noGrp="1"/>
          </p:cNvSpPr>
          <p:nvPr>
            <p:ph type="title"/>
          </p:nvPr>
        </p:nvSpPr>
        <p:spPr>
          <a:xfrm>
            <a:off x="669924" y="1"/>
            <a:ext cx="10850563" cy="1028699"/>
          </a:xfrm>
        </p:spPr>
        <p:txBody>
          <a:bodyPr vert="horz" lIns="91440" tIns="45720" rIns="91440" bIns="45720" anchor="b">
            <a:normAutofit/>
          </a:bodyPr>
          <a:lstStyle/>
          <a:p>
            <a:pPr algn="l">
              <a:lnSpc>
                <a:spcPct val="90000"/>
              </a:lnSpc>
              <a:spcBef>
                <a:spcPct val="0"/>
              </a:spcBef>
            </a:pPr>
            <a:r>
              <a:rPr lang="zh-CN" altLang="en-US" sz="2800" b="1" i="0" u="none" baseline="0" dirty="0">
                <a:solidFill>
                  <a:srgbClr val="000000"/>
                </a:solidFill>
                <a:latin typeface="微软雅黑"/>
                <a:ea typeface="微软雅黑"/>
              </a:rPr>
              <a:t>Top Insights Page</a:t>
            </a:r>
          </a:p>
        </p:txBody>
      </p:sp>
      <p:cxnSp>
        <p:nvCxnSpPr>
          <p:cNvPr id="3" name="Connector 3"/>
          <p:cNvCxnSpPr/>
          <p:nvPr/>
        </p:nvCxnSpPr>
        <p:spPr>
          <a:xfrm>
            <a:off x="2304192" y="3475369"/>
            <a:ext cx="7891780" cy="0"/>
          </a:xfrm>
          <a:prstGeom prst="line">
            <a:avLst/>
          </a:prstGeom>
          <a:ln w="12700" cap="flat" cmpd="sng">
            <a:solidFill>
              <a:srgbClr val="FFFFFF">
                <a:lumMod val="65000"/>
              </a:srgbClr>
            </a:solidFill>
            <a:prstDash val="dash"/>
          </a:ln>
        </p:spPr>
      </p:cxnSp>
      <p:sp>
        <p:nvSpPr>
          <p:cNvPr id="4" name="AutoShape 4"/>
          <p:cNvSpPr/>
          <p:nvPr/>
        </p:nvSpPr>
        <p:spPr>
          <a:xfrm>
            <a:off x="3326791" y="3347269"/>
            <a:ext cx="201798" cy="201798"/>
          </a:xfrm>
          <a:prstGeom prst="ellipse">
            <a:avLst/>
          </a:prstGeom>
          <a:solidFill>
            <a:srgbClr val="FFFFFF">
              <a:lumMod val="65000"/>
            </a:srgbClr>
          </a:solidFill>
          <a:ln cap="flat" cmpd="sng">
            <a:prstDash val="solid"/>
          </a:ln>
        </p:spPr>
        <p:txBody>
          <a:bodyPr vert="horz" wrap="square" lIns="91440" tIns="45720" rIns="91440" bIns="45720" anchor="ctr">
            <a:normAutofit fontScale="25000" lnSpcReduction="20000"/>
          </a:bodyPr>
          <a:lstStyle/>
          <a:p>
            <a:pPr marL="0" algn="ctr"/>
            <a:endParaRPr/>
          </a:p>
        </p:txBody>
      </p:sp>
      <p:sp>
        <p:nvSpPr>
          <p:cNvPr id="5" name="Freeform 5"/>
          <p:cNvSpPr/>
          <p:nvPr/>
        </p:nvSpPr>
        <p:spPr>
          <a:xfrm>
            <a:off x="3168158" y="2619422"/>
            <a:ext cx="519064" cy="419137"/>
          </a:xfrm>
          <a:custGeom>
            <a:avLst/>
            <a:gdLst/>
            <a:ahLst/>
            <a:cxnLst/>
            <a:rect l="l" t="t" r="r" b="b"/>
            <a:pathLst>
              <a:path w="608838" h="491629">
                <a:moveTo>
                  <a:pt x="499361" y="285654"/>
                </a:moveTo>
                <a:lnTo>
                  <a:pt x="499361" y="344437"/>
                </a:lnTo>
                <a:lnTo>
                  <a:pt x="558245" y="344437"/>
                </a:lnTo>
                <a:lnTo>
                  <a:pt x="558245" y="285654"/>
                </a:lnTo>
                <a:close/>
                <a:moveTo>
                  <a:pt x="50593" y="285654"/>
                </a:moveTo>
                <a:lnTo>
                  <a:pt x="50593" y="344437"/>
                </a:lnTo>
                <a:lnTo>
                  <a:pt x="109477" y="344437"/>
                </a:lnTo>
                <a:lnTo>
                  <a:pt x="109477" y="285654"/>
                </a:lnTo>
                <a:close/>
                <a:moveTo>
                  <a:pt x="324062" y="265425"/>
                </a:moveTo>
                <a:lnTo>
                  <a:pt x="324062" y="329947"/>
                </a:lnTo>
                <a:lnTo>
                  <a:pt x="388693" y="329947"/>
                </a:lnTo>
                <a:lnTo>
                  <a:pt x="388693" y="265425"/>
                </a:lnTo>
                <a:close/>
                <a:moveTo>
                  <a:pt x="220144" y="265425"/>
                </a:moveTo>
                <a:lnTo>
                  <a:pt x="220144" y="329947"/>
                </a:lnTo>
                <a:lnTo>
                  <a:pt x="284775" y="329947"/>
                </a:lnTo>
                <a:lnTo>
                  <a:pt x="284775" y="265425"/>
                </a:lnTo>
                <a:close/>
                <a:moveTo>
                  <a:pt x="499361" y="191225"/>
                </a:moveTo>
                <a:lnTo>
                  <a:pt x="499361" y="250008"/>
                </a:lnTo>
                <a:lnTo>
                  <a:pt x="558245" y="250008"/>
                </a:lnTo>
                <a:lnTo>
                  <a:pt x="558245" y="191225"/>
                </a:lnTo>
                <a:close/>
                <a:moveTo>
                  <a:pt x="50593" y="191225"/>
                </a:moveTo>
                <a:lnTo>
                  <a:pt x="50593" y="250008"/>
                </a:lnTo>
                <a:lnTo>
                  <a:pt x="109477" y="250008"/>
                </a:lnTo>
                <a:lnTo>
                  <a:pt x="109477" y="191225"/>
                </a:lnTo>
                <a:close/>
                <a:moveTo>
                  <a:pt x="324062" y="161682"/>
                </a:moveTo>
                <a:lnTo>
                  <a:pt x="324062" y="226204"/>
                </a:lnTo>
                <a:lnTo>
                  <a:pt x="388693" y="226204"/>
                </a:lnTo>
                <a:lnTo>
                  <a:pt x="388693" y="161682"/>
                </a:lnTo>
                <a:close/>
                <a:moveTo>
                  <a:pt x="220144" y="161682"/>
                </a:moveTo>
                <a:lnTo>
                  <a:pt x="220144" y="226204"/>
                </a:lnTo>
                <a:lnTo>
                  <a:pt x="284775" y="226204"/>
                </a:lnTo>
                <a:lnTo>
                  <a:pt x="284775" y="161682"/>
                </a:lnTo>
                <a:close/>
                <a:moveTo>
                  <a:pt x="499361" y="96797"/>
                </a:moveTo>
                <a:lnTo>
                  <a:pt x="499361" y="155579"/>
                </a:lnTo>
                <a:lnTo>
                  <a:pt x="558245" y="155579"/>
                </a:lnTo>
                <a:lnTo>
                  <a:pt x="558245" y="96797"/>
                </a:lnTo>
                <a:close/>
                <a:moveTo>
                  <a:pt x="50593" y="96797"/>
                </a:moveTo>
                <a:lnTo>
                  <a:pt x="50593" y="155579"/>
                </a:lnTo>
                <a:lnTo>
                  <a:pt x="109477" y="155579"/>
                </a:lnTo>
                <a:lnTo>
                  <a:pt x="109477" y="96797"/>
                </a:lnTo>
                <a:close/>
                <a:moveTo>
                  <a:pt x="324062" y="57938"/>
                </a:moveTo>
                <a:lnTo>
                  <a:pt x="324062" y="122461"/>
                </a:lnTo>
                <a:lnTo>
                  <a:pt x="388693" y="122461"/>
                </a:lnTo>
                <a:lnTo>
                  <a:pt x="388693" y="57938"/>
                </a:lnTo>
                <a:close/>
                <a:moveTo>
                  <a:pt x="220144" y="57938"/>
                </a:moveTo>
                <a:lnTo>
                  <a:pt x="220144" y="122461"/>
                </a:lnTo>
                <a:lnTo>
                  <a:pt x="284775" y="122461"/>
                </a:lnTo>
                <a:lnTo>
                  <a:pt x="284775" y="57938"/>
                </a:lnTo>
                <a:close/>
                <a:moveTo>
                  <a:pt x="469401" y="44033"/>
                </a:moveTo>
                <a:lnTo>
                  <a:pt x="608838" y="44033"/>
                </a:lnTo>
                <a:lnTo>
                  <a:pt x="608838" y="491629"/>
                </a:lnTo>
                <a:lnTo>
                  <a:pt x="510950" y="491629"/>
                </a:lnTo>
                <a:lnTo>
                  <a:pt x="510950" y="391651"/>
                </a:lnTo>
                <a:lnTo>
                  <a:pt x="469401" y="391651"/>
                </a:lnTo>
                <a:close/>
                <a:moveTo>
                  <a:pt x="0" y="44033"/>
                </a:moveTo>
                <a:lnTo>
                  <a:pt x="139437" y="44033"/>
                </a:lnTo>
                <a:lnTo>
                  <a:pt x="139437" y="391651"/>
                </a:lnTo>
                <a:lnTo>
                  <a:pt x="97889" y="391651"/>
                </a:lnTo>
                <a:lnTo>
                  <a:pt x="97889" y="491629"/>
                </a:lnTo>
                <a:lnTo>
                  <a:pt x="0" y="491629"/>
                </a:lnTo>
                <a:close/>
                <a:moveTo>
                  <a:pt x="164558" y="0"/>
                </a:moveTo>
                <a:lnTo>
                  <a:pt x="444279" y="0"/>
                </a:lnTo>
                <a:lnTo>
                  <a:pt x="444279" y="491629"/>
                </a:lnTo>
                <a:lnTo>
                  <a:pt x="336781" y="491629"/>
                </a:lnTo>
                <a:lnTo>
                  <a:pt x="336781" y="381866"/>
                </a:lnTo>
                <a:lnTo>
                  <a:pt x="272056" y="381866"/>
                </a:lnTo>
                <a:lnTo>
                  <a:pt x="272056" y="491629"/>
                </a:lnTo>
                <a:lnTo>
                  <a:pt x="164558" y="491629"/>
                </a:lnTo>
                <a:close/>
              </a:path>
            </a:pathLst>
          </a:custGeom>
          <a:solidFill>
            <a:srgbClr val="FFFFFF">
              <a:lumMod val="65000"/>
            </a:srgbClr>
          </a:solidFill>
        </p:spPr>
        <p:txBody>
          <a:bodyPr vert="horz" wrap="square" lIns="91440" tIns="45720" rIns="91440" bIns="45720" anchor="t">
            <a:normAutofit/>
          </a:bodyPr>
          <a:lstStyle/>
          <a:p>
            <a:pPr marL="0" algn="l"/>
            <a:endParaRPr/>
          </a:p>
        </p:txBody>
      </p:sp>
      <p:sp>
        <p:nvSpPr>
          <p:cNvPr id="6" name="AutoShape 6"/>
          <p:cNvSpPr/>
          <p:nvPr/>
        </p:nvSpPr>
        <p:spPr>
          <a:xfrm>
            <a:off x="6097152" y="3372054"/>
            <a:ext cx="201798" cy="201798"/>
          </a:xfrm>
          <a:prstGeom prst="ellipse">
            <a:avLst/>
          </a:prstGeom>
          <a:solidFill>
            <a:srgbClr val="FFFFFF">
              <a:lumMod val="65000"/>
            </a:srgbClr>
          </a:solidFill>
          <a:ln cap="flat" cmpd="sng">
            <a:prstDash val="solid"/>
          </a:ln>
        </p:spPr>
        <p:txBody>
          <a:bodyPr vert="horz" wrap="square" lIns="91440" tIns="45720" rIns="91440" bIns="45720" anchor="ctr">
            <a:normAutofit fontScale="25000" lnSpcReduction="20000"/>
          </a:bodyPr>
          <a:lstStyle/>
          <a:p>
            <a:pPr marL="0" algn="ctr"/>
            <a:endParaRPr/>
          </a:p>
        </p:txBody>
      </p:sp>
      <p:sp>
        <p:nvSpPr>
          <p:cNvPr id="7" name="Freeform 7"/>
          <p:cNvSpPr/>
          <p:nvPr/>
        </p:nvSpPr>
        <p:spPr>
          <a:xfrm>
            <a:off x="5944043" y="3732432"/>
            <a:ext cx="508016" cy="519064"/>
          </a:xfrm>
          <a:custGeom>
            <a:avLst/>
            <a:gdLst/>
            <a:ahLst/>
            <a:cxnLst/>
            <a:rect l="l" t="t" r="r" b="b"/>
            <a:pathLst>
              <a:path w="595120" h="608062">
                <a:moveTo>
                  <a:pt x="232613" y="116080"/>
                </a:moveTo>
                <a:lnTo>
                  <a:pt x="257134" y="116080"/>
                </a:lnTo>
                <a:cubicBezTo>
                  <a:pt x="260113" y="123713"/>
                  <a:pt x="283839" y="186760"/>
                  <a:pt x="287215" y="195186"/>
                </a:cubicBezTo>
                <a:lnTo>
                  <a:pt x="280961" y="161878"/>
                </a:lnTo>
                <a:cubicBezTo>
                  <a:pt x="280563" y="159598"/>
                  <a:pt x="280961" y="157219"/>
                  <a:pt x="282053" y="155137"/>
                </a:cubicBezTo>
                <a:lnTo>
                  <a:pt x="291782" y="137492"/>
                </a:lnTo>
                <a:lnTo>
                  <a:pt x="282847" y="121235"/>
                </a:lnTo>
                <a:cubicBezTo>
                  <a:pt x="282251" y="120145"/>
                  <a:pt x="282251" y="118856"/>
                  <a:pt x="282847" y="117765"/>
                </a:cubicBezTo>
                <a:cubicBezTo>
                  <a:pt x="283542" y="116675"/>
                  <a:pt x="284634" y="116080"/>
                  <a:pt x="285924" y="116080"/>
                </a:cubicBezTo>
                <a:lnTo>
                  <a:pt x="309552" y="116080"/>
                </a:lnTo>
                <a:cubicBezTo>
                  <a:pt x="310842" y="116080"/>
                  <a:pt x="312034" y="116675"/>
                  <a:pt x="312629" y="117765"/>
                </a:cubicBezTo>
                <a:cubicBezTo>
                  <a:pt x="313225" y="118856"/>
                  <a:pt x="313324" y="120145"/>
                  <a:pt x="312629" y="121235"/>
                </a:cubicBezTo>
                <a:lnTo>
                  <a:pt x="304390" y="137492"/>
                </a:lnTo>
                <a:lnTo>
                  <a:pt x="314118" y="155137"/>
                </a:lnTo>
                <a:cubicBezTo>
                  <a:pt x="315211" y="157219"/>
                  <a:pt x="315608" y="159598"/>
                  <a:pt x="315111" y="161977"/>
                </a:cubicBezTo>
                <a:lnTo>
                  <a:pt x="308063" y="195186"/>
                </a:lnTo>
                <a:cubicBezTo>
                  <a:pt x="311537" y="186165"/>
                  <a:pt x="335363" y="123912"/>
                  <a:pt x="338342" y="116080"/>
                </a:cubicBezTo>
                <a:lnTo>
                  <a:pt x="362466" y="116080"/>
                </a:lnTo>
                <a:cubicBezTo>
                  <a:pt x="393837" y="116080"/>
                  <a:pt x="419549" y="141557"/>
                  <a:pt x="419748" y="172882"/>
                </a:cubicBezTo>
                <a:lnTo>
                  <a:pt x="420145" y="262991"/>
                </a:lnTo>
                <a:lnTo>
                  <a:pt x="420641" y="350324"/>
                </a:lnTo>
                <a:cubicBezTo>
                  <a:pt x="420641" y="363707"/>
                  <a:pt x="409919" y="374512"/>
                  <a:pt x="396517" y="374611"/>
                </a:cubicBezTo>
                <a:lnTo>
                  <a:pt x="396418" y="374611"/>
                </a:lnTo>
                <a:cubicBezTo>
                  <a:pt x="383115" y="374611"/>
                  <a:pt x="372294" y="363905"/>
                  <a:pt x="372195" y="350523"/>
                </a:cubicBezTo>
                <a:lnTo>
                  <a:pt x="371798" y="262793"/>
                </a:lnTo>
                <a:lnTo>
                  <a:pt x="371301" y="173179"/>
                </a:lnTo>
                <a:cubicBezTo>
                  <a:pt x="371202" y="170403"/>
                  <a:pt x="368819" y="168322"/>
                  <a:pt x="366139" y="168421"/>
                </a:cubicBezTo>
                <a:cubicBezTo>
                  <a:pt x="363359" y="168520"/>
                  <a:pt x="361274" y="170800"/>
                  <a:pt x="361274" y="173476"/>
                </a:cubicBezTo>
                <a:cubicBezTo>
                  <a:pt x="361374" y="211939"/>
                  <a:pt x="361771" y="368663"/>
                  <a:pt x="361771" y="579116"/>
                </a:cubicBezTo>
                <a:cubicBezTo>
                  <a:pt x="361771" y="595076"/>
                  <a:pt x="348766" y="608062"/>
                  <a:pt x="332683" y="608062"/>
                </a:cubicBezTo>
                <a:cubicBezTo>
                  <a:pt x="316600" y="608062"/>
                  <a:pt x="303695" y="595076"/>
                  <a:pt x="303695" y="579116"/>
                </a:cubicBezTo>
                <a:lnTo>
                  <a:pt x="303695" y="353695"/>
                </a:lnTo>
                <a:cubicBezTo>
                  <a:pt x="303695" y="350324"/>
                  <a:pt x="300915" y="347450"/>
                  <a:pt x="297440" y="347450"/>
                </a:cubicBezTo>
                <a:cubicBezTo>
                  <a:pt x="293966" y="347450"/>
                  <a:pt x="291186" y="350324"/>
                  <a:pt x="291186" y="353695"/>
                </a:cubicBezTo>
                <a:lnTo>
                  <a:pt x="291186" y="579116"/>
                </a:lnTo>
                <a:cubicBezTo>
                  <a:pt x="291186" y="595076"/>
                  <a:pt x="278181" y="608062"/>
                  <a:pt x="262098" y="608062"/>
                </a:cubicBezTo>
                <a:cubicBezTo>
                  <a:pt x="246115" y="608062"/>
                  <a:pt x="233110" y="595076"/>
                  <a:pt x="233110" y="579116"/>
                </a:cubicBezTo>
                <a:lnTo>
                  <a:pt x="233110" y="172386"/>
                </a:lnTo>
                <a:cubicBezTo>
                  <a:pt x="233110" y="170007"/>
                  <a:pt x="231323" y="168024"/>
                  <a:pt x="228940" y="167727"/>
                </a:cubicBezTo>
                <a:cubicBezTo>
                  <a:pt x="226657" y="167529"/>
                  <a:pt x="224473" y="169115"/>
                  <a:pt x="223976" y="171395"/>
                </a:cubicBezTo>
                <a:cubicBezTo>
                  <a:pt x="223679" y="172683"/>
                  <a:pt x="223778" y="166934"/>
                  <a:pt x="223381" y="260017"/>
                </a:cubicBezTo>
                <a:lnTo>
                  <a:pt x="222884" y="350523"/>
                </a:lnTo>
                <a:cubicBezTo>
                  <a:pt x="222785" y="363905"/>
                  <a:pt x="211964" y="374611"/>
                  <a:pt x="198661" y="374611"/>
                </a:cubicBezTo>
                <a:lnTo>
                  <a:pt x="198562" y="374611"/>
                </a:lnTo>
                <a:cubicBezTo>
                  <a:pt x="185259" y="374512"/>
                  <a:pt x="174438" y="363707"/>
                  <a:pt x="174537" y="350324"/>
                </a:cubicBezTo>
                <a:lnTo>
                  <a:pt x="174934" y="260711"/>
                </a:lnTo>
                <a:lnTo>
                  <a:pt x="175431" y="172882"/>
                </a:lnTo>
                <a:cubicBezTo>
                  <a:pt x="175530" y="141656"/>
                  <a:pt x="201143" y="116080"/>
                  <a:pt x="232613" y="116080"/>
                </a:cubicBezTo>
                <a:close/>
                <a:moveTo>
                  <a:pt x="54022" y="107683"/>
                </a:moveTo>
                <a:cubicBezTo>
                  <a:pt x="54022" y="107683"/>
                  <a:pt x="178450" y="107881"/>
                  <a:pt x="180436" y="108080"/>
                </a:cubicBezTo>
                <a:cubicBezTo>
                  <a:pt x="161370" y="123345"/>
                  <a:pt x="149056" y="146638"/>
                  <a:pt x="148957" y="172807"/>
                </a:cubicBezTo>
                <a:lnTo>
                  <a:pt x="148063" y="350236"/>
                </a:lnTo>
                <a:cubicBezTo>
                  <a:pt x="147963" y="369168"/>
                  <a:pt x="158390" y="385722"/>
                  <a:pt x="173783" y="394444"/>
                </a:cubicBezTo>
                <a:lnTo>
                  <a:pt x="173783" y="537379"/>
                </a:lnTo>
                <a:cubicBezTo>
                  <a:pt x="173783" y="552247"/>
                  <a:pt x="161767" y="564241"/>
                  <a:pt x="146871" y="564241"/>
                </a:cubicBezTo>
                <a:cubicBezTo>
                  <a:pt x="131975" y="564241"/>
                  <a:pt x="119960" y="552247"/>
                  <a:pt x="119960" y="537379"/>
                </a:cubicBezTo>
                <a:lnTo>
                  <a:pt x="119960" y="328231"/>
                </a:lnTo>
                <a:cubicBezTo>
                  <a:pt x="119960" y="325059"/>
                  <a:pt x="117378" y="322482"/>
                  <a:pt x="114101" y="322482"/>
                </a:cubicBezTo>
                <a:cubicBezTo>
                  <a:pt x="110923" y="322482"/>
                  <a:pt x="108341" y="325059"/>
                  <a:pt x="108341" y="328231"/>
                </a:cubicBezTo>
                <a:lnTo>
                  <a:pt x="108341" y="537379"/>
                </a:lnTo>
                <a:cubicBezTo>
                  <a:pt x="108341" y="552247"/>
                  <a:pt x="96226" y="564241"/>
                  <a:pt x="81330" y="564241"/>
                </a:cubicBezTo>
                <a:cubicBezTo>
                  <a:pt x="66534" y="564241"/>
                  <a:pt x="54419" y="552247"/>
                  <a:pt x="54419" y="537379"/>
                </a:cubicBezTo>
                <a:lnTo>
                  <a:pt x="54419" y="160714"/>
                </a:lnTo>
                <a:cubicBezTo>
                  <a:pt x="54419" y="158335"/>
                  <a:pt x="52532" y="156451"/>
                  <a:pt x="50149" y="156352"/>
                </a:cubicBezTo>
                <a:cubicBezTo>
                  <a:pt x="47765" y="156352"/>
                  <a:pt x="45779" y="158335"/>
                  <a:pt x="45779" y="160714"/>
                </a:cubicBezTo>
                <a:lnTo>
                  <a:pt x="44886" y="325356"/>
                </a:lnTo>
                <a:cubicBezTo>
                  <a:pt x="44886" y="337647"/>
                  <a:pt x="34856" y="347659"/>
                  <a:pt x="22443" y="347659"/>
                </a:cubicBezTo>
                <a:lnTo>
                  <a:pt x="22343" y="347659"/>
                </a:lnTo>
                <a:cubicBezTo>
                  <a:pt x="9930" y="347560"/>
                  <a:pt x="0" y="337449"/>
                  <a:pt x="0" y="325059"/>
                </a:cubicBezTo>
                <a:lnTo>
                  <a:pt x="894" y="160516"/>
                </a:lnTo>
                <a:cubicBezTo>
                  <a:pt x="993" y="131374"/>
                  <a:pt x="24826" y="107683"/>
                  <a:pt x="54022" y="107683"/>
                </a:cubicBezTo>
                <a:close/>
                <a:moveTo>
                  <a:pt x="520495" y="107634"/>
                </a:moveTo>
                <a:cubicBezTo>
                  <a:pt x="532204" y="107635"/>
                  <a:pt x="540303" y="107641"/>
                  <a:pt x="541197" y="107641"/>
                </a:cubicBezTo>
                <a:cubicBezTo>
                  <a:pt x="570294" y="107641"/>
                  <a:pt x="594127" y="131334"/>
                  <a:pt x="594325" y="160478"/>
                </a:cubicBezTo>
                <a:lnTo>
                  <a:pt x="595120" y="325037"/>
                </a:lnTo>
                <a:cubicBezTo>
                  <a:pt x="595219" y="337428"/>
                  <a:pt x="585189" y="347540"/>
                  <a:pt x="572776" y="347639"/>
                </a:cubicBezTo>
                <a:lnTo>
                  <a:pt x="572677" y="347639"/>
                </a:lnTo>
                <a:cubicBezTo>
                  <a:pt x="560264" y="347639"/>
                  <a:pt x="550234" y="337627"/>
                  <a:pt x="550234" y="325334"/>
                </a:cubicBezTo>
                <a:lnTo>
                  <a:pt x="549340" y="160677"/>
                </a:lnTo>
                <a:lnTo>
                  <a:pt x="549340" y="160578"/>
                </a:lnTo>
                <a:cubicBezTo>
                  <a:pt x="549340" y="158000"/>
                  <a:pt x="547255" y="155918"/>
                  <a:pt x="544673" y="155918"/>
                </a:cubicBezTo>
                <a:cubicBezTo>
                  <a:pt x="542091" y="155918"/>
                  <a:pt x="540006" y="158000"/>
                  <a:pt x="540006" y="160578"/>
                </a:cubicBezTo>
                <a:cubicBezTo>
                  <a:pt x="540006" y="385408"/>
                  <a:pt x="540502" y="181693"/>
                  <a:pt x="540502" y="537377"/>
                </a:cubicBezTo>
                <a:cubicBezTo>
                  <a:pt x="540502" y="552246"/>
                  <a:pt x="528387" y="564241"/>
                  <a:pt x="513492" y="564241"/>
                </a:cubicBezTo>
                <a:cubicBezTo>
                  <a:pt x="498695" y="564241"/>
                  <a:pt x="486580" y="552246"/>
                  <a:pt x="486580" y="537377"/>
                </a:cubicBezTo>
                <a:lnTo>
                  <a:pt x="486580" y="328209"/>
                </a:lnTo>
                <a:cubicBezTo>
                  <a:pt x="486580" y="325037"/>
                  <a:pt x="483998" y="322459"/>
                  <a:pt x="480820" y="322459"/>
                </a:cubicBezTo>
                <a:cubicBezTo>
                  <a:pt x="477543" y="322459"/>
                  <a:pt x="474961" y="325037"/>
                  <a:pt x="474961" y="328209"/>
                </a:cubicBezTo>
                <a:lnTo>
                  <a:pt x="474961" y="537377"/>
                </a:lnTo>
                <a:cubicBezTo>
                  <a:pt x="474961" y="552246"/>
                  <a:pt x="462946" y="564241"/>
                  <a:pt x="448050" y="564241"/>
                </a:cubicBezTo>
                <a:cubicBezTo>
                  <a:pt x="433154" y="564241"/>
                  <a:pt x="421138" y="552246"/>
                  <a:pt x="421138" y="537377"/>
                </a:cubicBezTo>
                <a:lnTo>
                  <a:pt x="421138" y="394627"/>
                </a:lnTo>
                <a:cubicBezTo>
                  <a:pt x="436630" y="385904"/>
                  <a:pt x="447156" y="369250"/>
                  <a:pt x="447057" y="350216"/>
                </a:cubicBezTo>
                <a:lnTo>
                  <a:pt x="446163" y="172771"/>
                </a:lnTo>
                <a:cubicBezTo>
                  <a:pt x="446064" y="146600"/>
                  <a:pt x="433750" y="123304"/>
                  <a:pt x="414783" y="108038"/>
                </a:cubicBezTo>
                <a:cubicBezTo>
                  <a:pt x="417762" y="107666"/>
                  <a:pt x="485369" y="107629"/>
                  <a:pt x="520495" y="107634"/>
                </a:cubicBezTo>
                <a:close/>
                <a:moveTo>
                  <a:pt x="481094" y="0"/>
                </a:moveTo>
                <a:cubicBezTo>
                  <a:pt x="506703" y="0"/>
                  <a:pt x="527547" y="20813"/>
                  <a:pt x="527547" y="46482"/>
                </a:cubicBezTo>
                <a:cubicBezTo>
                  <a:pt x="527547" y="60258"/>
                  <a:pt x="521492" y="72745"/>
                  <a:pt x="511864" y="81269"/>
                </a:cubicBezTo>
                <a:cubicBezTo>
                  <a:pt x="503626" y="88504"/>
                  <a:pt x="492906" y="92864"/>
                  <a:pt x="481094" y="92864"/>
                </a:cubicBezTo>
                <a:cubicBezTo>
                  <a:pt x="469282" y="92864"/>
                  <a:pt x="458463" y="88504"/>
                  <a:pt x="450324" y="81269"/>
                </a:cubicBezTo>
                <a:cubicBezTo>
                  <a:pt x="440696" y="72745"/>
                  <a:pt x="434542" y="60258"/>
                  <a:pt x="434542" y="46482"/>
                </a:cubicBezTo>
                <a:cubicBezTo>
                  <a:pt x="434542" y="20813"/>
                  <a:pt x="455386" y="0"/>
                  <a:pt x="481094" y="0"/>
                </a:cubicBezTo>
                <a:close/>
                <a:moveTo>
                  <a:pt x="297750" y="0"/>
                </a:moveTo>
                <a:cubicBezTo>
                  <a:pt x="299041" y="0"/>
                  <a:pt x="300233" y="0"/>
                  <a:pt x="301424" y="99"/>
                </a:cubicBezTo>
                <a:cubicBezTo>
                  <a:pt x="302715" y="199"/>
                  <a:pt x="303906" y="397"/>
                  <a:pt x="305097" y="496"/>
                </a:cubicBezTo>
                <a:cubicBezTo>
                  <a:pt x="306189" y="694"/>
                  <a:pt x="307281" y="893"/>
                  <a:pt x="308473" y="1190"/>
                </a:cubicBezTo>
                <a:cubicBezTo>
                  <a:pt x="309068" y="1289"/>
                  <a:pt x="309763" y="1487"/>
                  <a:pt x="310458" y="1586"/>
                </a:cubicBezTo>
                <a:cubicBezTo>
                  <a:pt x="312444" y="2181"/>
                  <a:pt x="314430" y="2776"/>
                  <a:pt x="316415" y="3569"/>
                </a:cubicBezTo>
                <a:cubicBezTo>
                  <a:pt x="334881" y="11005"/>
                  <a:pt x="347887" y="28949"/>
                  <a:pt x="347887" y="50066"/>
                </a:cubicBezTo>
                <a:cubicBezTo>
                  <a:pt x="347887" y="65532"/>
                  <a:pt x="340937" y="79313"/>
                  <a:pt x="329917" y="88434"/>
                </a:cubicBezTo>
                <a:cubicBezTo>
                  <a:pt x="329421" y="88830"/>
                  <a:pt x="328924" y="89227"/>
                  <a:pt x="328428" y="89623"/>
                </a:cubicBezTo>
                <a:cubicBezTo>
                  <a:pt x="319989" y="96167"/>
                  <a:pt x="309366" y="100132"/>
                  <a:pt x="297750" y="100132"/>
                </a:cubicBezTo>
                <a:cubicBezTo>
                  <a:pt x="286234" y="100132"/>
                  <a:pt x="275611" y="96167"/>
                  <a:pt x="267073" y="89623"/>
                </a:cubicBezTo>
                <a:cubicBezTo>
                  <a:pt x="266080" y="88830"/>
                  <a:pt x="264988" y="88037"/>
                  <a:pt x="264095" y="87145"/>
                </a:cubicBezTo>
                <a:cubicBezTo>
                  <a:pt x="263499" y="86550"/>
                  <a:pt x="262903" y="86054"/>
                  <a:pt x="262307" y="85459"/>
                </a:cubicBezTo>
                <a:cubicBezTo>
                  <a:pt x="260620" y="83774"/>
                  <a:pt x="259031" y="81890"/>
                  <a:pt x="257641" y="80007"/>
                </a:cubicBezTo>
                <a:cubicBezTo>
                  <a:pt x="257145" y="79313"/>
                  <a:pt x="256648" y="78718"/>
                  <a:pt x="256251" y="78024"/>
                </a:cubicBezTo>
                <a:cubicBezTo>
                  <a:pt x="255259" y="76735"/>
                  <a:pt x="254464" y="75347"/>
                  <a:pt x="253670" y="73959"/>
                </a:cubicBezTo>
                <a:cubicBezTo>
                  <a:pt x="252876" y="72472"/>
                  <a:pt x="252181" y="71084"/>
                  <a:pt x="251585" y="69498"/>
                </a:cubicBezTo>
                <a:cubicBezTo>
                  <a:pt x="250592" y="67317"/>
                  <a:pt x="249798" y="64937"/>
                  <a:pt x="249202" y="62558"/>
                </a:cubicBezTo>
                <a:cubicBezTo>
                  <a:pt x="248210" y="58592"/>
                  <a:pt x="247614" y="54329"/>
                  <a:pt x="247614" y="50066"/>
                </a:cubicBezTo>
                <a:cubicBezTo>
                  <a:pt x="247614" y="32816"/>
                  <a:pt x="256450" y="17548"/>
                  <a:pt x="269753" y="8526"/>
                </a:cubicBezTo>
                <a:cubicBezTo>
                  <a:pt x="271044" y="7634"/>
                  <a:pt x="272434" y="6841"/>
                  <a:pt x="273923" y="6048"/>
                </a:cubicBezTo>
                <a:cubicBezTo>
                  <a:pt x="275313" y="5255"/>
                  <a:pt x="276802" y="4561"/>
                  <a:pt x="278292" y="3966"/>
                </a:cubicBezTo>
                <a:cubicBezTo>
                  <a:pt x="278987" y="3569"/>
                  <a:pt x="279781" y="3272"/>
                  <a:pt x="280575" y="3074"/>
                </a:cubicBezTo>
                <a:cubicBezTo>
                  <a:pt x="282064" y="2479"/>
                  <a:pt x="283653" y="1983"/>
                  <a:pt x="285241" y="1586"/>
                </a:cubicBezTo>
                <a:cubicBezTo>
                  <a:pt x="286035" y="1388"/>
                  <a:pt x="286830" y="1190"/>
                  <a:pt x="287624" y="992"/>
                </a:cubicBezTo>
                <a:cubicBezTo>
                  <a:pt x="289312" y="694"/>
                  <a:pt x="290999" y="397"/>
                  <a:pt x="292687" y="298"/>
                </a:cubicBezTo>
                <a:cubicBezTo>
                  <a:pt x="294375" y="99"/>
                  <a:pt x="296063" y="0"/>
                  <a:pt x="297750" y="0"/>
                </a:cubicBezTo>
                <a:close/>
                <a:moveTo>
                  <a:pt x="114407" y="0"/>
                </a:moveTo>
                <a:cubicBezTo>
                  <a:pt x="140115" y="0"/>
                  <a:pt x="160959" y="20813"/>
                  <a:pt x="160959" y="46482"/>
                </a:cubicBezTo>
                <a:cubicBezTo>
                  <a:pt x="160959" y="48167"/>
                  <a:pt x="160860" y="49851"/>
                  <a:pt x="160661" y="51536"/>
                </a:cubicBezTo>
                <a:cubicBezTo>
                  <a:pt x="160463" y="53221"/>
                  <a:pt x="160165" y="54906"/>
                  <a:pt x="159867" y="56492"/>
                </a:cubicBezTo>
                <a:cubicBezTo>
                  <a:pt x="159669" y="57384"/>
                  <a:pt x="159470" y="58177"/>
                  <a:pt x="159272" y="58969"/>
                </a:cubicBezTo>
                <a:cubicBezTo>
                  <a:pt x="156790" y="67691"/>
                  <a:pt x="151827" y="75421"/>
                  <a:pt x="145177" y="81269"/>
                </a:cubicBezTo>
                <a:cubicBezTo>
                  <a:pt x="137038" y="88504"/>
                  <a:pt x="126219" y="92864"/>
                  <a:pt x="114407" y="92864"/>
                </a:cubicBezTo>
                <a:cubicBezTo>
                  <a:pt x="102595" y="92864"/>
                  <a:pt x="91875" y="88504"/>
                  <a:pt x="83637" y="81269"/>
                </a:cubicBezTo>
                <a:cubicBezTo>
                  <a:pt x="83041" y="80674"/>
                  <a:pt x="82446" y="80178"/>
                  <a:pt x="81949" y="79584"/>
                </a:cubicBezTo>
                <a:cubicBezTo>
                  <a:pt x="76192" y="73935"/>
                  <a:pt x="71825" y="66898"/>
                  <a:pt x="69641" y="58969"/>
                </a:cubicBezTo>
                <a:cubicBezTo>
                  <a:pt x="69443" y="58177"/>
                  <a:pt x="69244" y="57384"/>
                  <a:pt x="69046" y="56492"/>
                </a:cubicBezTo>
                <a:cubicBezTo>
                  <a:pt x="68649" y="54906"/>
                  <a:pt x="68450" y="53221"/>
                  <a:pt x="68252" y="51536"/>
                </a:cubicBezTo>
                <a:cubicBezTo>
                  <a:pt x="68053" y="49851"/>
                  <a:pt x="67954" y="48167"/>
                  <a:pt x="67954" y="46482"/>
                </a:cubicBezTo>
                <a:cubicBezTo>
                  <a:pt x="67954" y="20813"/>
                  <a:pt x="88798" y="0"/>
                  <a:pt x="114407" y="0"/>
                </a:cubicBezTo>
                <a:close/>
              </a:path>
            </a:pathLst>
          </a:custGeom>
          <a:solidFill>
            <a:srgbClr val="FFFFFF">
              <a:lumMod val="65000"/>
            </a:srgbClr>
          </a:solidFill>
        </p:spPr>
        <p:txBody>
          <a:bodyPr vert="horz" wrap="square" lIns="91440" tIns="45720" rIns="91440" bIns="45720" anchor="t">
            <a:normAutofit/>
          </a:bodyPr>
          <a:lstStyle/>
          <a:p>
            <a:pPr marL="0" algn="l"/>
            <a:endParaRPr/>
          </a:p>
        </p:txBody>
      </p:sp>
      <p:sp>
        <p:nvSpPr>
          <p:cNvPr id="8" name="AutoShape 8"/>
          <p:cNvSpPr/>
          <p:nvPr/>
        </p:nvSpPr>
        <p:spPr>
          <a:xfrm>
            <a:off x="8867512" y="3372251"/>
            <a:ext cx="201798" cy="201798"/>
          </a:xfrm>
          <a:prstGeom prst="ellipse">
            <a:avLst/>
          </a:prstGeom>
          <a:solidFill>
            <a:srgbClr val="FFFFFF">
              <a:lumMod val="65000"/>
            </a:srgbClr>
          </a:solidFill>
          <a:ln cap="flat" cmpd="sng">
            <a:prstDash val="solid"/>
          </a:ln>
        </p:spPr>
        <p:txBody>
          <a:bodyPr vert="horz" wrap="square" lIns="91440" tIns="45720" rIns="91440" bIns="45720" anchor="ctr">
            <a:normAutofit fontScale="25000" lnSpcReduction="20000"/>
          </a:bodyPr>
          <a:lstStyle/>
          <a:p>
            <a:pPr marL="0" algn="ctr"/>
            <a:endParaRPr/>
          </a:p>
        </p:txBody>
      </p:sp>
      <p:sp>
        <p:nvSpPr>
          <p:cNvPr id="9" name="Freeform 9"/>
          <p:cNvSpPr/>
          <p:nvPr/>
        </p:nvSpPr>
        <p:spPr>
          <a:xfrm>
            <a:off x="8724275" y="2594441"/>
            <a:ext cx="488271" cy="519064"/>
          </a:xfrm>
          <a:custGeom>
            <a:avLst/>
            <a:gdLst/>
            <a:ahLst/>
            <a:cxnLst/>
            <a:rect l="l" t="t" r="r" b="b"/>
            <a:pathLst>
              <a:path w="7665" h="8160">
                <a:moveTo>
                  <a:pt x="5610" y="3809"/>
                </a:moveTo>
                <a:cubicBezTo>
                  <a:pt x="5613" y="3847"/>
                  <a:pt x="5599" y="3884"/>
                  <a:pt x="5573" y="3911"/>
                </a:cubicBezTo>
                <a:cubicBezTo>
                  <a:pt x="5547" y="3939"/>
                  <a:pt x="5511" y="3955"/>
                  <a:pt x="5473" y="3955"/>
                </a:cubicBezTo>
                <a:lnTo>
                  <a:pt x="4313" y="3955"/>
                </a:lnTo>
                <a:cubicBezTo>
                  <a:pt x="4087" y="3768"/>
                  <a:pt x="3811" y="3628"/>
                  <a:pt x="3511" y="3515"/>
                </a:cubicBezTo>
                <a:lnTo>
                  <a:pt x="3511" y="2721"/>
                </a:lnTo>
                <a:cubicBezTo>
                  <a:pt x="3637" y="2788"/>
                  <a:pt x="3761" y="2824"/>
                  <a:pt x="3899" y="2824"/>
                </a:cubicBezTo>
                <a:cubicBezTo>
                  <a:pt x="4217" y="2824"/>
                  <a:pt x="4484" y="2647"/>
                  <a:pt x="4612" y="2386"/>
                </a:cubicBezTo>
                <a:lnTo>
                  <a:pt x="5182" y="2386"/>
                </a:lnTo>
                <a:cubicBezTo>
                  <a:pt x="5238" y="2386"/>
                  <a:pt x="5288" y="2420"/>
                  <a:pt x="5309" y="2472"/>
                </a:cubicBezTo>
                <a:cubicBezTo>
                  <a:pt x="5480" y="2893"/>
                  <a:pt x="5582" y="3343"/>
                  <a:pt x="5610" y="3809"/>
                </a:cubicBezTo>
                <a:close/>
                <a:moveTo>
                  <a:pt x="3648" y="7533"/>
                </a:moveTo>
                <a:cubicBezTo>
                  <a:pt x="3670" y="7533"/>
                  <a:pt x="3693" y="7528"/>
                  <a:pt x="3713" y="7518"/>
                </a:cubicBezTo>
                <a:cubicBezTo>
                  <a:pt x="4244" y="7237"/>
                  <a:pt x="4702" y="6793"/>
                  <a:pt x="5037" y="6233"/>
                </a:cubicBezTo>
                <a:cubicBezTo>
                  <a:pt x="5063" y="6190"/>
                  <a:pt x="5063" y="6137"/>
                  <a:pt x="5039" y="6094"/>
                </a:cubicBezTo>
                <a:cubicBezTo>
                  <a:pt x="5015" y="6051"/>
                  <a:pt x="4969" y="6025"/>
                  <a:pt x="4919" y="6025"/>
                </a:cubicBezTo>
                <a:lnTo>
                  <a:pt x="4793" y="6025"/>
                </a:lnTo>
                <a:cubicBezTo>
                  <a:pt x="4595" y="6595"/>
                  <a:pt x="4150" y="7008"/>
                  <a:pt x="3511" y="7213"/>
                </a:cubicBezTo>
                <a:lnTo>
                  <a:pt x="3511" y="7396"/>
                </a:lnTo>
                <a:cubicBezTo>
                  <a:pt x="3511" y="7444"/>
                  <a:pt x="3536" y="7489"/>
                  <a:pt x="3577" y="7514"/>
                </a:cubicBezTo>
                <a:cubicBezTo>
                  <a:pt x="3599" y="7527"/>
                  <a:pt x="3624" y="7533"/>
                  <a:pt x="3648" y="7533"/>
                </a:cubicBezTo>
                <a:close/>
                <a:moveTo>
                  <a:pt x="5309" y="5688"/>
                </a:moveTo>
                <a:cubicBezTo>
                  <a:pt x="5480" y="5267"/>
                  <a:pt x="5582" y="4817"/>
                  <a:pt x="5610" y="4351"/>
                </a:cubicBezTo>
                <a:cubicBezTo>
                  <a:pt x="5613" y="4314"/>
                  <a:pt x="5599" y="4277"/>
                  <a:pt x="5573" y="4249"/>
                </a:cubicBezTo>
                <a:cubicBezTo>
                  <a:pt x="5547" y="4221"/>
                  <a:pt x="5511" y="4206"/>
                  <a:pt x="5473" y="4206"/>
                </a:cubicBezTo>
                <a:lnTo>
                  <a:pt x="4561" y="4206"/>
                </a:lnTo>
                <a:cubicBezTo>
                  <a:pt x="4779" y="4480"/>
                  <a:pt x="4911" y="4831"/>
                  <a:pt x="4911" y="5296"/>
                </a:cubicBezTo>
                <a:cubicBezTo>
                  <a:pt x="4911" y="5465"/>
                  <a:pt x="4889" y="5622"/>
                  <a:pt x="4857" y="5774"/>
                </a:cubicBezTo>
                <a:lnTo>
                  <a:pt x="5181" y="5774"/>
                </a:lnTo>
                <a:cubicBezTo>
                  <a:pt x="5238" y="5774"/>
                  <a:pt x="5288" y="5740"/>
                  <a:pt x="5309" y="5688"/>
                </a:cubicBezTo>
                <a:close/>
                <a:moveTo>
                  <a:pt x="5606" y="2444"/>
                </a:moveTo>
                <a:cubicBezTo>
                  <a:pt x="5580" y="2481"/>
                  <a:pt x="5574" y="2527"/>
                  <a:pt x="5589" y="2569"/>
                </a:cubicBezTo>
                <a:cubicBezTo>
                  <a:pt x="5729" y="2964"/>
                  <a:pt x="5812" y="3386"/>
                  <a:pt x="5836" y="3824"/>
                </a:cubicBezTo>
                <a:cubicBezTo>
                  <a:pt x="5840" y="3898"/>
                  <a:pt x="5900" y="3955"/>
                  <a:pt x="5973" y="3955"/>
                </a:cubicBezTo>
                <a:lnTo>
                  <a:pt x="7525" y="3955"/>
                </a:lnTo>
                <a:cubicBezTo>
                  <a:pt x="7563" y="3955"/>
                  <a:pt x="7599" y="3939"/>
                  <a:pt x="7625" y="3911"/>
                </a:cubicBezTo>
                <a:cubicBezTo>
                  <a:pt x="7651" y="3883"/>
                  <a:pt x="7664" y="3846"/>
                  <a:pt x="7662" y="3808"/>
                </a:cubicBezTo>
                <a:cubicBezTo>
                  <a:pt x="7630" y="3339"/>
                  <a:pt x="7521" y="2888"/>
                  <a:pt x="7338" y="2468"/>
                </a:cubicBezTo>
                <a:cubicBezTo>
                  <a:pt x="7316" y="2418"/>
                  <a:pt x="7266" y="2386"/>
                  <a:pt x="7212" y="2386"/>
                </a:cubicBezTo>
                <a:lnTo>
                  <a:pt x="5718" y="2386"/>
                </a:lnTo>
                <a:cubicBezTo>
                  <a:pt x="5674" y="2386"/>
                  <a:pt x="5632" y="2408"/>
                  <a:pt x="5606" y="2444"/>
                </a:cubicBezTo>
                <a:close/>
                <a:moveTo>
                  <a:pt x="6930" y="6025"/>
                </a:moveTo>
                <a:lnTo>
                  <a:pt x="5491" y="6025"/>
                </a:lnTo>
                <a:cubicBezTo>
                  <a:pt x="5439" y="6025"/>
                  <a:pt x="5392" y="6054"/>
                  <a:pt x="5368" y="6100"/>
                </a:cubicBezTo>
                <a:cubicBezTo>
                  <a:pt x="4966" y="6890"/>
                  <a:pt x="4335" y="7502"/>
                  <a:pt x="3594" y="7824"/>
                </a:cubicBezTo>
                <a:cubicBezTo>
                  <a:pt x="3544" y="7846"/>
                  <a:pt x="3511" y="7895"/>
                  <a:pt x="3511" y="7950"/>
                </a:cubicBezTo>
                <a:lnTo>
                  <a:pt x="3511" y="7969"/>
                </a:lnTo>
                <a:cubicBezTo>
                  <a:pt x="3511" y="8046"/>
                  <a:pt x="3573" y="8107"/>
                  <a:pt x="3649" y="8107"/>
                </a:cubicBezTo>
                <a:cubicBezTo>
                  <a:pt x="5031" y="8107"/>
                  <a:pt x="6301" y="7407"/>
                  <a:pt x="7046" y="6236"/>
                </a:cubicBezTo>
                <a:cubicBezTo>
                  <a:pt x="7073" y="6194"/>
                  <a:pt x="7075" y="6140"/>
                  <a:pt x="7051" y="6096"/>
                </a:cubicBezTo>
                <a:cubicBezTo>
                  <a:pt x="7026" y="6052"/>
                  <a:pt x="6980" y="6025"/>
                  <a:pt x="6930" y="6025"/>
                </a:cubicBezTo>
                <a:close/>
                <a:moveTo>
                  <a:pt x="7525" y="4206"/>
                </a:moveTo>
                <a:lnTo>
                  <a:pt x="5974" y="4206"/>
                </a:lnTo>
                <a:cubicBezTo>
                  <a:pt x="5901" y="4206"/>
                  <a:pt x="5840" y="4263"/>
                  <a:pt x="5836" y="4335"/>
                </a:cubicBezTo>
                <a:cubicBezTo>
                  <a:pt x="5812" y="4774"/>
                  <a:pt x="5729" y="5196"/>
                  <a:pt x="5589" y="5591"/>
                </a:cubicBezTo>
                <a:cubicBezTo>
                  <a:pt x="5574" y="5632"/>
                  <a:pt x="5580" y="5679"/>
                  <a:pt x="5606" y="5716"/>
                </a:cubicBezTo>
                <a:cubicBezTo>
                  <a:pt x="5632" y="5752"/>
                  <a:pt x="5674" y="5774"/>
                  <a:pt x="5718" y="5774"/>
                </a:cubicBezTo>
                <a:lnTo>
                  <a:pt x="7212" y="5774"/>
                </a:lnTo>
                <a:cubicBezTo>
                  <a:pt x="7266" y="5774"/>
                  <a:pt x="7316" y="5742"/>
                  <a:pt x="7338" y="5692"/>
                </a:cubicBezTo>
                <a:cubicBezTo>
                  <a:pt x="7522" y="5273"/>
                  <a:pt x="7630" y="4822"/>
                  <a:pt x="7662" y="4352"/>
                </a:cubicBezTo>
                <a:cubicBezTo>
                  <a:pt x="7665" y="4314"/>
                  <a:pt x="7651" y="4277"/>
                  <a:pt x="7625" y="4249"/>
                </a:cubicBezTo>
                <a:cubicBezTo>
                  <a:pt x="7599" y="4221"/>
                  <a:pt x="7563" y="4206"/>
                  <a:pt x="7525" y="4206"/>
                </a:cubicBezTo>
                <a:close/>
                <a:moveTo>
                  <a:pt x="3594" y="336"/>
                </a:moveTo>
                <a:cubicBezTo>
                  <a:pt x="4335" y="658"/>
                  <a:pt x="4966" y="1270"/>
                  <a:pt x="5368" y="2061"/>
                </a:cubicBezTo>
                <a:cubicBezTo>
                  <a:pt x="5392" y="2107"/>
                  <a:pt x="5439" y="2136"/>
                  <a:pt x="5491" y="2136"/>
                </a:cubicBezTo>
                <a:lnTo>
                  <a:pt x="6930" y="2136"/>
                </a:lnTo>
                <a:cubicBezTo>
                  <a:pt x="6980" y="2136"/>
                  <a:pt x="7026" y="2108"/>
                  <a:pt x="7051" y="2064"/>
                </a:cubicBezTo>
                <a:cubicBezTo>
                  <a:pt x="7075" y="2020"/>
                  <a:pt x="7073" y="1967"/>
                  <a:pt x="7046" y="1924"/>
                </a:cubicBezTo>
                <a:cubicBezTo>
                  <a:pt x="6301" y="752"/>
                  <a:pt x="5031" y="53"/>
                  <a:pt x="3648" y="53"/>
                </a:cubicBezTo>
                <a:cubicBezTo>
                  <a:pt x="3572" y="53"/>
                  <a:pt x="3511" y="134"/>
                  <a:pt x="3511" y="210"/>
                </a:cubicBezTo>
                <a:cubicBezTo>
                  <a:pt x="3511" y="265"/>
                  <a:pt x="3543" y="314"/>
                  <a:pt x="3594" y="336"/>
                </a:cubicBezTo>
                <a:close/>
                <a:moveTo>
                  <a:pt x="4320" y="1361"/>
                </a:moveTo>
                <a:cubicBezTo>
                  <a:pt x="4499" y="1464"/>
                  <a:pt x="4696" y="1698"/>
                  <a:pt x="4696" y="2036"/>
                </a:cubicBezTo>
                <a:cubicBezTo>
                  <a:pt x="4696" y="2070"/>
                  <a:pt x="4690" y="2103"/>
                  <a:pt x="4686" y="2136"/>
                </a:cubicBezTo>
                <a:lnTo>
                  <a:pt x="4920" y="2136"/>
                </a:lnTo>
                <a:cubicBezTo>
                  <a:pt x="4969" y="2136"/>
                  <a:pt x="5015" y="2109"/>
                  <a:pt x="5039" y="2066"/>
                </a:cubicBezTo>
                <a:cubicBezTo>
                  <a:pt x="5064" y="2023"/>
                  <a:pt x="5063" y="1970"/>
                  <a:pt x="5038" y="1928"/>
                </a:cubicBezTo>
                <a:cubicBezTo>
                  <a:pt x="4702" y="1367"/>
                  <a:pt x="4244" y="923"/>
                  <a:pt x="3713" y="642"/>
                </a:cubicBezTo>
                <a:cubicBezTo>
                  <a:pt x="3670" y="620"/>
                  <a:pt x="3619" y="622"/>
                  <a:pt x="3577" y="646"/>
                </a:cubicBezTo>
                <a:cubicBezTo>
                  <a:pt x="3536" y="671"/>
                  <a:pt x="3511" y="716"/>
                  <a:pt x="3511" y="764"/>
                </a:cubicBezTo>
                <a:lnTo>
                  <a:pt x="3511" y="987"/>
                </a:lnTo>
                <a:cubicBezTo>
                  <a:pt x="3800" y="1079"/>
                  <a:pt x="4072" y="1202"/>
                  <a:pt x="4320" y="1361"/>
                </a:cubicBezTo>
                <a:close/>
                <a:moveTo>
                  <a:pt x="2820" y="3484"/>
                </a:moveTo>
                <a:cubicBezTo>
                  <a:pt x="1775" y="3217"/>
                  <a:pt x="1517" y="3088"/>
                  <a:pt x="1517" y="2691"/>
                </a:cubicBezTo>
                <a:lnTo>
                  <a:pt x="1517" y="2673"/>
                </a:lnTo>
                <a:cubicBezTo>
                  <a:pt x="1517" y="2380"/>
                  <a:pt x="1784" y="2147"/>
                  <a:pt x="2294" y="2147"/>
                </a:cubicBezTo>
                <a:cubicBezTo>
                  <a:pt x="2708" y="2147"/>
                  <a:pt x="3122" y="2294"/>
                  <a:pt x="3562" y="2553"/>
                </a:cubicBezTo>
                <a:cubicBezTo>
                  <a:pt x="3665" y="2613"/>
                  <a:pt x="3769" y="2648"/>
                  <a:pt x="3899" y="2648"/>
                </a:cubicBezTo>
                <a:cubicBezTo>
                  <a:pt x="4244" y="2648"/>
                  <a:pt x="4520" y="2380"/>
                  <a:pt x="4520" y="2035"/>
                </a:cubicBezTo>
                <a:cubicBezTo>
                  <a:pt x="4520" y="1777"/>
                  <a:pt x="4373" y="1594"/>
                  <a:pt x="4226" y="1509"/>
                </a:cubicBezTo>
                <a:cubicBezTo>
                  <a:pt x="3846" y="1267"/>
                  <a:pt x="3415" y="1107"/>
                  <a:pt x="2941" y="1029"/>
                </a:cubicBezTo>
                <a:lnTo>
                  <a:pt x="2941" y="575"/>
                </a:lnTo>
                <a:cubicBezTo>
                  <a:pt x="2941" y="257"/>
                  <a:pt x="2685" y="0"/>
                  <a:pt x="2367" y="0"/>
                </a:cubicBezTo>
                <a:cubicBezTo>
                  <a:pt x="2049" y="0"/>
                  <a:pt x="1792" y="257"/>
                  <a:pt x="1792" y="575"/>
                </a:cubicBezTo>
                <a:lnTo>
                  <a:pt x="1792" y="1025"/>
                </a:lnTo>
                <a:cubicBezTo>
                  <a:pt x="840" y="1201"/>
                  <a:pt x="198" y="1860"/>
                  <a:pt x="198" y="2794"/>
                </a:cubicBezTo>
                <a:lnTo>
                  <a:pt x="198" y="2812"/>
                </a:lnTo>
                <a:cubicBezTo>
                  <a:pt x="198" y="4011"/>
                  <a:pt x="983" y="4348"/>
                  <a:pt x="2199" y="4658"/>
                </a:cubicBezTo>
                <a:cubicBezTo>
                  <a:pt x="3208" y="4918"/>
                  <a:pt x="3415" y="5090"/>
                  <a:pt x="3415" y="5426"/>
                </a:cubicBezTo>
                <a:lnTo>
                  <a:pt x="3415" y="5443"/>
                </a:lnTo>
                <a:cubicBezTo>
                  <a:pt x="3415" y="5797"/>
                  <a:pt x="3087" y="6012"/>
                  <a:pt x="2544" y="6012"/>
                </a:cubicBezTo>
                <a:cubicBezTo>
                  <a:pt x="1957" y="6012"/>
                  <a:pt x="1457" y="5805"/>
                  <a:pt x="999" y="5469"/>
                </a:cubicBezTo>
                <a:cubicBezTo>
                  <a:pt x="913" y="5409"/>
                  <a:pt x="793" y="5349"/>
                  <a:pt x="621" y="5349"/>
                </a:cubicBezTo>
                <a:cubicBezTo>
                  <a:pt x="275" y="5349"/>
                  <a:pt x="0" y="5616"/>
                  <a:pt x="0" y="5961"/>
                </a:cubicBezTo>
                <a:cubicBezTo>
                  <a:pt x="0" y="6168"/>
                  <a:pt x="103" y="6358"/>
                  <a:pt x="250" y="6461"/>
                </a:cubicBezTo>
                <a:cubicBezTo>
                  <a:pt x="717" y="6796"/>
                  <a:pt x="1247" y="7008"/>
                  <a:pt x="1792" y="7111"/>
                </a:cubicBezTo>
                <a:lnTo>
                  <a:pt x="1792" y="7586"/>
                </a:lnTo>
                <a:cubicBezTo>
                  <a:pt x="1792" y="7903"/>
                  <a:pt x="2049" y="8160"/>
                  <a:pt x="2367" y="8160"/>
                </a:cubicBezTo>
                <a:cubicBezTo>
                  <a:pt x="2684" y="8160"/>
                  <a:pt x="2941" y="7903"/>
                  <a:pt x="2941" y="7586"/>
                </a:cubicBezTo>
                <a:lnTo>
                  <a:pt x="2941" y="7158"/>
                </a:lnTo>
                <a:cubicBezTo>
                  <a:pt x="4013" y="7025"/>
                  <a:pt x="4735" y="6378"/>
                  <a:pt x="4735" y="5314"/>
                </a:cubicBezTo>
                <a:lnTo>
                  <a:pt x="4735" y="5296"/>
                </a:lnTo>
                <a:cubicBezTo>
                  <a:pt x="4735" y="4244"/>
                  <a:pt x="4044" y="3804"/>
                  <a:pt x="2820" y="3484"/>
                </a:cubicBezTo>
                <a:close/>
              </a:path>
            </a:pathLst>
          </a:custGeom>
          <a:solidFill>
            <a:srgbClr val="FFFFFF">
              <a:lumMod val="65000"/>
            </a:srgbClr>
          </a:solidFill>
        </p:spPr>
        <p:txBody>
          <a:bodyPr vert="horz" wrap="square" lIns="91440" tIns="45720" rIns="91440" bIns="45720" anchor="t">
            <a:normAutofit/>
          </a:bodyPr>
          <a:lstStyle/>
          <a:p>
            <a:pPr marL="0" algn="l"/>
            <a:endParaRPr/>
          </a:p>
        </p:txBody>
      </p:sp>
      <p:sp>
        <p:nvSpPr>
          <p:cNvPr id="10" name="TextBox 10"/>
          <p:cNvSpPr txBox="1"/>
          <p:nvPr/>
        </p:nvSpPr>
        <p:spPr>
          <a:xfrm>
            <a:off x="1037846" y="3948255"/>
            <a:ext cx="4757435" cy="338554"/>
          </a:xfrm>
          <a:prstGeom prst="rect">
            <a:avLst/>
          </a:prstGeom>
          <a:noFill/>
        </p:spPr>
        <p:txBody>
          <a:bodyPr vert="horz" wrap="square" lIns="91440" tIns="45720" rIns="91440" bIns="45720" rtlCol="0" anchor="b">
            <a:spAutoFit/>
          </a:bodyPr>
          <a:lstStyle/>
          <a:p>
            <a:pPr marL="0" algn="ctr">
              <a:lnSpc>
                <a:spcPct val="100000"/>
              </a:lnSpc>
              <a:spcBef>
                <a:spcPct val="0"/>
              </a:spcBef>
              <a:defRPr/>
            </a:pPr>
            <a:r>
              <a:rPr lang="en-US" sz="1600" b="1" i="0" u="none" baseline="0">
                <a:solidFill>
                  <a:srgbClr val="000000"/>
                </a:solidFill>
                <a:latin typeface="Arial"/>
                <a:ea typeface="Arial"/>
              </a:rPr>
              <a:t>Visuals</a:t>
            </a:r>
            <a:endParaRPr lang="en-US" sz="1100"/>
          </a:p>
        </p:txBody>
      </p:sp>
      <p:sp>
        <p:nvSpPr>
          <p:cNvPr id="11" name="AutoShape 11"/>
          <p:cNvSpPr/>
          <p:nvPr/>
        </p:nvSpPr>
        <p:spPr>
          <a:xfrm>
            <a:off x="1037846" y="4286810"/>
            <a:ext cx="4757435" cy="698717"/>
          </a:xfrm>
          <a:prstGeom prst="rect">
            <a:avLst/>
          </a:prstGeom>
          <a:noFill/>
        </p:spPr>
        <p:txBody>
          <a:bodyPr vert="horz" wrap="square" lIns="91440" tIns="45720" rIns="91440" bIns="45720" anchor="t">
            <a:spAutoFit/>
          </a:bodyPr>
          <a:lstStyle/>
          <a:p>
            <a:pPr marL="0" algn="ctr">
              <a:lnSpc>
                <a:spcPct val="150000"/>
              </a:lnSpc>
            </a:pPr>
            <a:r>
              <a:rPr lang="en-US" sz="1400" b="0" i="0" u="none" baseline="0">
                <a:solidFill>
                  <a:srgbClr val="000000"/>
                </a:solidFill>
                <a:latin typeface="Arial"/>
                <a:ea typeface="Arial"/>
              </a:rPr>
              <a:t>Top states by transaction value, top districts by users, transaction volume vs value, state performance ranking.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3827031" y="1567213"/>
            <a:ext cx="4757435" cy="338554"/>
          </a:xfrm>
          <a:prstGeom prst="rect">
            <a:avLst/>
          </a:prstGeom>
          <a:noFill/>
        </p:spPr>
        <p:txBody>
          <a:bodyPr vert="horz" wrap="square" lIns="91440" tIns="45720" rIns="91440" bIns="45720" rtlCol="0" anchor="b">
            <a:spAutoFit/>
          </a:bodyPr>
          <a:lstStyle/>
          <a:p>
            <a:pPr marL="0" algn="ctr">
              <a:lnSpc>
                <a:spcPct val="100000"/>
              </a:lnSpc>
              <a:spcBef>
                <a:spcPct val="0"/>
              </a:spcBef>
              <a:defRPr/>
            </a:pPr>
            <a:r>
              <a:rPr lang="en-US" sz="1600" b="1" i="0" u="none" baseline="0">
                <a:solidFill>
                  <a:srgbClr val="000000"/>
                </a:solidFill>
                <a:latin typeface="Arial"/>
                <a:ea typeface="Arial"/>
              </a:rPr>
              <a:t>KPIs</a:t>
            </a:r>
            <a:endParaRPr lang="en-US" sz="1100"/>
          </a:p>
        </p:txBody>
      </p:sp>
      <p:sp>
        <p:nvSpPr>
          <p:cNvPr id="13" name="AutoShape 13"/>
          <p:cNvSpPr/>
          <p:nvPr/>
        </p:nvSpPr>
        <p:spPr>
          <a:xfrm>
            <a:off x="3827031" y="1905768"/>
            <a:ext cx="4757435" cy="698717"/>
          </a:xfrm>
          <a:prstGeom prst="rect">
            <a:avLst/>
          </a:prstGeom>
          <a:noFill/>
        </p:spPr>
        <p:txBody>
          <a:bodyPr vert="horz" wrap="square" lIns="91440" tIns="45720" rIns="91440" bIns="45720" anchor="t">
            <a:spAutoFit/>
          </a:bodyPr>
          <a:lstStyle/>
          <a:p>
            <a:pPr marL="0" algn="ctr">
              <a:lnSpc>
                <a:spcPct val="150000"/>
              </a:lnSpc>
            </a:pPr>
            <a:r>
              <a:rPr lang="en-US" sz="1400" b="0" i="0" u="none" baseline="0">
                <a:solidFill>
                  <a:srgbClr val="000000"/>
                </a:solidFill>
                <a:latin typeface="Arial"/>
                <a:ea typeface="Arial"/>
              </a:rPr>
              <a:t>Top Transaction Value = 93.25T, Top Users = 3 Billion.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6578567" y="3973237"/>
            <a:ext cx="4757435" cy="338554"/>
          </a:xfrm>
          <a:prstGeom prst="rect">
            <a:avLst/>
          </a:prstGeom>
          <a:noFill/>
        </p:spPr>
        <p:txBody>
          <a:bodyPr vert="horz" wrap="square" lIns="91440" tIns="45720" rIns="91440" bIns="45720" rtlCol="0" anchor="b">
            <a:spAutoFit/>
          </a:bodyPr>
          <a:lstStyle/>
          <a:p>
            <a:pPr marL="0" algn="ctr">
              <a:lnSpc>
                <a:spcPct val="100000"/>
              </a:lnSpc>
              <a:spcBef>
                <a:spcPct val="0"/>
              </a:spcBef>
              <a:defRPr/>
            </a:pPr>
            <a:r>
              <a:rPr lang="en-US" sz="1600" b="1" i="0" u="none" baseline="0">
                <a:solidFill>
                  <a:srgbClr val="000000"/>
                </a:solidFill>
                <a:latin typeface="Arial"/>
                <a:ea typeface="Arial"/>
              </a:rPr>
              <a:t>Strategic Importance</a:t>
            </a:r>
            <a:endParaRPr lang="en-US" sz="1100"/>
          </a:p>
        </p:txBody>
      </p:sp>
      <p:sp>
        <p:nvSpPr>
          <p:cNvPr id="15" name="AutoShape 15"/>
          <p:cNvSpPr/>
          <p:nvPr/>
        </p:nvSpPr>
        <p:spPr>
          <a:xfrm>
            <a:off x="6578567" y="4311792"/>
            <a:ext cx="4757435" cy="698717"/>
          </a:xfrm>
          <a:prstGeom prst="rect">
            <a:avLst/>
          </a:prstGeom>
          <a:noFill/>
        </p:spPr>
        <p:txBody>
          <a:bodyPr vert="horz" wrap="square" lIns="91440" tIns="45720" rIns="91440" bIns="45720" anchor="t">
            <a:spAutoFit/>
          </a:bodyPr>
          <a:lstStyle/>
          <a:p>
            <a:pPr marL="0" algn="ctr">
              <a:lnSpc>
                <a:spcPct val="150000"/>
              </a:lnSpc>
            </a:pPr>
            <a:r>
              <a:rPr lang="en-US" sz="1400" b="0" i="0" u="none" baseline="0">
                <a:solidFill>
                  <a:srgbClr val="000000"/>
                </a:solidFill>
                <a:latin typeface="Arial"/>
                <a:ea typeface="Arial"/>
              </a:rPr>
              <a:t>Helps identify high-performing states, high-value districts, market leaders, and growth opportunities.</a:t>
            </a:r>
          </a:p>
        </p:txBody>
      </p:sp>
      <p:pic>
        <p:nvPicPr>
          <p:cNvPr id="17" name="Picture 16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18701" y="235917"/>
            <a:ext cx="1752598" cy="53279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>
            <a:spLocks noGrp="1"/>
          </p:cNvSpPr>
          <p:nvPr>
            <p:ph type="title"/>
          </p:nvPr>
        </p:nvSpPr>
        <p:spPr>
          <a:xfrm>
            <a:off x="805844" y="294280"/>
            <a:ext cx="7119766" cy="895350"/>
          </a:xfrm>
        </p:spPr>
        <p:txBody>
          <a:bodyPr vert="horz" lIns="91440" tIns="45720" rIns="91440" bIns="45720" anchor="t">
            <a:normAutofit/>
          </a:bodyPr>
          <a:lstStyle/>
          <a:p>
            <a:pPr algn="l">
              <a:lnSpc>
                <a:spcPct val="90000"/>
              </a:lnSpc>
            </a:pPr>
            <a:r>
              <a:rPr lang="zh-CN" altLang="en-US" sz="2400" b="1" dirty="0">
                <a:solidFill>
                  <a:srgbClr val="000000"/>
                </a:solidFill>
                <a:latin typeface="微软雅黑"/>
                <a:ea typeface="微软雅黑"/>
              </a:rPr>
              <a:t>Top Insights </a:t>
            </a:r>
            <a:r>
              <a:rPr lang="en-US" altLang="zh-CN" sz="2400" b="1" dirty="0" smtClean="0">
                <a:solidFill>
                  <a:srgbClr val="000000"/>
                </a:solidFill>
                <a:latin typeface="微软雅黑"/>
                <a:ea typeface="微软雅黑"/>
              </a:rPr>
              <a:t>Screenshot</a:t>
            </a:r>
            <a:endParaRPr lang="en-US" sz="2400" b="1" i="0" u="none" baseline="0" dirty="0">
              <a:solidFill>
                <a:schemeClr val="accent1"/>
              </a:solidFill>
              <a:latin typeface="Arial"/>
              <a:ea typeface="Arial"/>
            </a:endParaRPr>
          </a:p>
        </p:txBody>
      </p:sp>
      <p:sp>
        <p:nvSpPr>
          <p:cNvPr id="3" name="TextBox 3"/>
          <p:cNvSpPr txBox="1"/>
          <p:nvPr/>
        </p:nvSpPr>
        <p:spPr>
          <a:xfrm>
            <a:off x="381000" y="235917"/>
            <a:ext cx="156976" cy="1015623"/>
          </a:xfrm>
          <a:prstGeom prst="rect">
            <a:avLst/>
          </a:prstGeom>
          <a:noFill/>
        </p:spPr>
        <p:txBody>
          <a:bodyPr vert="horz" wrap="none" lIns="91440" tIns="45720" rIns="91440" bIns="45720" rtlCol="0" anchor="t">
            <a:prstTxWarp prst="textPlain">
              <a:avLst/>
            </a:prstTxWarp>
            <a:spAutoFit/>
          </a:bodyPr>
          <a:lstStyle/>
          <a:p>
            <a:pPr marL="0" algn="l">
              <a:defRPr/>
            </a:pPr>
            <a:r>
              <a:rPr lang="en-US" b="0" i="0" u="none" spc="100" baseline="0" dirty="0">
                <a:solidFill>
                  <a:schemeClr val="accent1"/>
                </a:solidFill>
                <a:latin typeface="Impact"/>
                <a:ea typeface="Impact"/>
              </a:rPr>
              <a:t>/</a:t>
            </a:r>
            <a:endParaRPr lang="en-US" sz="1100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18701" y="235917"/>
            <a:ext cx="1752598" cy="532790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74346" y="1145287"/>
            <a:ext cx="9614706" cy="55603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1609081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>
            <a:spLocks noGrp="1"/>
          </p:cNvSpPr>
          <p:nvPr>
            <p:ph type="title"/>
          </p:nvPr>
        </p:nvSpPr>
        <p:spPr>
          <a:xfrm>
            <a:off x="3794704" y="2914650"/>
            <a:ext cx="7119766" cy="895350"/>
          </a:xfrm>
        </p:spPr>
        <p:txBody>
          <a:bodyPr vert="horz" lIns="91440" tIns="45720" rIns="91440" bIns="45720" anchor="t">
            <a:normAutofit/>
          </a:bodyPr>
          <a:lstStyle/>
          <a:p>
            <a:pPr algn="l">
              <a:lnSpc>
                <a:spcPct val="90000"/>
              </a:lnSpc>
              <a:spcBef>
                <a:spcPct val="0"/>
              </a:spcBef>
            </a:pPr>
            <a:r>
              <a:rPr lang="en-US" sz="2400" b="1" i="0" u="none" baseline="0">
                <a:solidFill>
                  <a:schemeClr val="accent1"/>
                </a:solidFill>
                <a:latin typeface="Arial"/>
                <a:ea typeface="Arial"/>
              </a:rPr>
              <a:t>Business Insights &amp; Recommendations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2499727" y="2794377"/>
            <a:ext cx="156976" cy="1015623"/>
          </a:xfrm>
          <a:prstGeom prst="rect">
            <a:avLst/>
          </a:prstGeom>
          <a:noFill/>
        </p:spPr>
        <p:txBody>
          <a:bodyPr vert="horz" wrap="none" lIns="91440" tIns="45720" rIns="91440" bIns="45720" rtlCol="0" anchor="t">
            <a:prstTxWarp prst="textPlain">
              <a:avLst/>
            </a:prstTxWarp>
            <a:spAutoFit/>
          </a:bodyPr>
          <a:lstStyle/>
          <a:p>
            <a:pPr marL="0" algn="l">
              <a:defRPr/>
            </a:pPr>
            <a:r>
              <a:rPr lang="en-US" b="0" i="0" u="none" spc="100" baseline="0">
                <a:solidFill>
                  <a:schemeClr val="accent1"/>
                </a:solidFill>
                <a:latin typeface="Impact"/>
                <a:ea typeface="Impact"/>
              </a:rPr>
              <a:t>/</a:t>
            </a:r>
            <a:endParaRPr lang="en-US" sz="1100"/>
          </a:p>
        </p:txBody>
      </p:sp>
      <p:sp>
        <p:nvSpPr>
          <p:cNvPr id="4" name="TextBox 4"/>
          <p:cNvSpPr txBox="1"/>
          <p:nvPr/>
        </p:nvSpPr>
        <p:spPr>
          <a:xfrm>
            <a:off x="2721210" y="2840523"/>
            <a:ext cx="1073494" cy="923330"/>
          </a:xfrm>
          <a:prstGeom prst="rect">
            <a:avLst/>
          </a:prstGeom>
          <a:noFill/>
        </p:spPr>
        <p:txBody>
          <a:bodyPr vert="horz" wrap="square" lIns="91440" tIns="45720" rIns="91440" bIns="45720" rtlCol="0" anchor="t">
            <a:spAutoFit/>
          </a:bodyPr>
          <a:lstStyle/>
          <a:p>
            <a:pPr marL="0" algn="l">
              <a:defRPr/>
            </a:pPr>
            <a:r>
              <a:rPr lang="en-US" sz="5400" b="0" i="0" u="none" spc="100" baseline="0">
                <a:solidFill>
                  <a:schemeClr val="accent1"/>
                </a:solidFill>
                <a:latin typeface="Impact"/>
                <a:ea typeface="Impact"/>
              </a:rPr>
              <a:t>05</a:t>
            </a:r>
            <a:endParaRPr lang="en-US" sz="110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18701" y="235917"/>
            <a:ext cx="1752598" cy="53279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>
            <a:spLocks noGrp="1"/>
          </p:cNvSpPr>
          <p:nvPr>
            <p:ph type="title"/>
          </p:nvPr>
        </p:nvSpPr>
        <p:spPr>
          <a:xfrm>
            <a:off x="669924" y="1"/>
            <a:ext cx="10850563" cy="1028699"/>
          </a:xfrm>
        </p:spPr>
        <p:txBody>
          <a:bodyPr vert="horz" lIns="91440" tIns="45720" rIns="91440" bIns="45720" anchor="b">
            <a:normAutofit/>
          </a:bodyPr>
          <a:lstStyle/>
          <a:p>
            <a:pPr algn="l">
              <a:lnSpc>
                <a:spcPct val="90000"/>
              </a:lnSpc>
              <a:spcBef>
                <a:spcPct val="0"/>
              </a:spcBef>
            </a:pPr>
            <a:r>
              <a:rPr lang="zh-CN" altLang="en-US" sz="2800" b="1" i="0" u="none" baseline="0">
                <a:solidFill>
                  <a:srgbClr val="000000"/>
                </a:solidFill>
                <a:latin typeface="微软雅黑"/>
                <a:ea typeface="微软雅黑"/>
              </a:rPr>
              <a:t>Key Business Insights</a:t>
            </a:r>
          </a:p>
        </p:txBody>
      </p:sp>
      <p:sp>
        <p:nvSpPr>
          <p:cNvPr id="3" name="Freeform 3"/>
          <p:cNvSpPr/>
          <p:nvPr/>
        </p:nvSpPr>
        <p:spPr>
          <a:xfrm>
            <a:off x="5631548" y="1570616"/>
            <a:ext cx="6560452" cy="5287383"/>
          </a:xfrm>
          <a:custGeom>
            <a:avLst/>
            <a:gdLst/>
            <a:ahLst/>
            <a:cxnLst/>
            <a:rect l="l" t="t" r="r" b="b"/>
            <a:pathLst>
              <a:path w="18269244" h="14817440">
                <a:moveTo>
                  <a:pt x="10536452" y="0"/>
                </a:moveTo>
                <a:cubicBezTo>
                  <a:pt x="11230480" y="0"/>
                  <a:pt x="11858800" y="339415"/>
                  <a:pt x="12313612" y="888174"/>
                </a:cubicBezTo>
                <a:lnTo>
                  <a:pt x="12563364" y="1253404"/>
                </a:lnTo>
                <a:lnTo>
                  <a:pt x="12632468" y="1363551"/>
                </a:lnTo>
                <a:lnTo>
                  <a:pt x="18269244" y="10348462"/>
                </a:lnTo>
                <a:lnTo>
                  <a:pt x="18269244" y="14817440"/>
                </a:lnTo>
                <a:lnTo>
                  <a:pt x="0" y="14817440"/>
                </a:lnTo>
                <a:lnTo>
                  <a:pt x="8440436" y="1363551"/>
                </a:lnTo>
                <a:lnTo>
                  <a:pt x="8509540" y="1253404"/>
                </a:lnTo>
                <a:lnTo>
                  <a:pt x="8759292" y="888174"/>
                </a:lnTo>
                <a:cubicBezTo>
                  <a:pt x="9214108" y="339415"/>
                  <a:pt x="9842428" y="0"/>
                  <a:pt x="10536452" y="0"/>
                </a:cubicBezTo>
                <a:close/>
              </a:path>
            </a:pathLst>
          </a:custGeom>
          <a:solidFill>
            <a:srgbClr val="FFFFFF">
              <a:lumMod val="95000"/>
            </a:srgbClr>
          </a:solidFill>
          <a:ln cap="flat" cmpd="sng">
            <a:prstDash val="solid"/>
          </a:ln>
        </p:spPr>
        <p:txBody>
          <a:bodyPr vert="horz" wrap="square" lIns="91440" tIns="45720" rIns="91440" bIns="45720" anchor="ctr">
            <a:normAutofit/>
          </a:bodyPr>
          <a:lstStyle/>
          <a:p>
            <a:pPr marL="0" algn="ctr"/>
            <a:endParaRPr/>
          </a:p>
        </p:txBody>
      </p:sp>
      <p:sp>
        <p:nvSpPr>
          <p:cNvPr id="4" name="Freeform 4"/>
          <p:cNvSpPr/>
          <p:nvPr/>
        </p:nvSpPr>
        <p:spPr>
          <a:xfrm>
            <a:off x="3386579" y="2452107"/>
            <a:ext cx="6305349" cy="4405673"/>
          </a:xfrm>
          <a:custGeom>
            <a:avLst/>
            <a:gdLst/>
            <a:ahLst/>
            <a:cxnLst/>
            <a:rect l="l" t="t" r="r" b="b"/>
            <a:pathLst>
              <a:path w="3833446" h="2234041">
                <a:moveTo>
                  <a:pt x="1916723" y="0"/>
                </a:moveTo>
                <a:cubicBezTo>
                  <a:pt x="2042976" y="0"/>
                  <a:pt x="2157276" y="51174"/>
                  <a:pt x="2240012" y="133911"/>
                </a:cubicBezTo>
                <a:lnTo>
                  <a:pt x="2285446" y="188977"/>
                </a:lnTo>
                <a:lnTo>
                  <a:pt x="2298017" y="205584"/>
                </a:lnTo>
                <a:lnTo>
                  <a:pt x="3833446" y="2234041"/>
                </a:lnTo>
                <a:lnTo>
                  <a:pt x="0" y="2234041"/>
                </a:lnTo>
                <a:lnTo>
                  <a:pt x="1535429" y="205584"/>
                </a:lnTo>
                <a:lnTo>
                  <a:pt x="1548000" y="188977"/>
                </a:lnTo>
                <a:lnTo>
                  <a:pt x="1593434" y="133911"/>
                </a:lnTo>
                <a:cubicBezTo>
                  <a:pt x="1676171" y="51174"/>
                  <a:pt x="1790471" y="0"/>
                  <a:pt x="1916723" y="0"/>
                </a:cubicBezTo>
                <a:close/>
              </a:path>
            </a:pathLst>
          </a:custGeom>
          <a:solidFill>
            <a:schemeClr val="accent1"/>
          </a:solidFill>
          <a:ln cap="flat" cmpd="sng">
            <a:prstDash val="solid"/>
          </a:ln>
        </p:spPr>
        <p:txBody>
          <a:bodyPr vert="horz" wrap="square" lIns="91440" tIns="45720" rIns="91440" bIns="45720" anchor="ctr">
            <a:normAutofit/>
          </a:bodyPr>
          <a:lstStyle/>
          <a:p>
            <a:pPr marL="0" algn="ctr"/>
            <a:endParaRPr/>
          </a:p>
        </p:txBody>
      </p:sp>
      <p:sp>
        <p:nvSpPr>
          <p:cNvPr id="5" name="Freeform 5"/>
          <p:cNvSpPr/>
          <p:nvPr/>
        </p:nvSpPr>
        <p:spPr>
          <a:xfrm>
            <a:off x="703149" y="3182555"/>
            <a:ext cx="5259938" cy="3675225"/>
          </a:xfrm>
          <a:custGeom>
            <a:avLst/>
            <a:gdLst/>
            <a:ahLst/>
            <a:cxnLst/>
            <a:rect l="l" t="t" r="r" b="b"/>
            <a:pathLst>
              <a:path w="3833446" h="2234041">
                <a:moveTo>
                  <a:pt x="1916723" y="0"/>
                </a:moveTo>
                <a:cubicBezTo>
                  <a:pt x="2042976" y="0"/>
                  <a:pt x="2157276" y="51174"/>
                  <a:pt x="2240012" y="133911"/>
                </a:cubicBezTo>
                <a:lnTo>
                  <a:pt x="2285446" y="188977"/>
                </a:lnTo>
                <a:lnTo>
                  <a:pt x="2298017" y="205584"/>
                </a:lnTo>
                <a:lnTo>
                  <a:pt x="3833446" y="2234041"/>
                </a:lnTo>
                <a:lnTo>
                  <a:pt x="0" y="2234041"/>
                </a:lnTo>
                <a:lnTo>
                  <a:pt x="1535429" y="205584"/>
                </a:lnTo>
                <a:lnTo>
                  <a:pt x="1548000" y="188977"/>
                </a:lnTo>
                <a:lnTo>
                  <a:pt x="1593434" y="133911"/>
                </a:lnTo>
                <a:cubicBezTo>
                  <a:pt x="1676171" y="51174"/>
                  <a:pt x="1790471" y="0"/>
                  <a:pt x="1916723" y="0"/>
                </a:cubicBezTo>
                <a:close/>
              </a:path>
            </a:pathLst>
          </a:custGeom>
          <a:solidFill>
            <a:srgbClr val="FFFFFF">
              <a:lumMod val="95000"/>
            </a:srgbClr>
          </a:solidFill>
          <a:ln cap="flat" cmpd="sng">
            <a:prstDash val="solid"/>
          </a:ln>
        </p:spPr>
        <p:txBody>
          <a:bodyPr vert="horz" wrap="square" lIns="91440" tIns="45720" rIns="91440" bIns="45720" anchor="ctr">
            <a:normAutofit/>
          </a:bodyPr>
          <a:lstStyle/>
          <a:p>
            <a:pPr marL="0" algn="ctr"/>
            <a:endParaRPr/>
          </a:p>
        </p:txBody>
      </p:sp>
      <p:sp>
        <p:nvSpPr>
          <p:cNvPr id="6" name="AutoShape 6"/>
          <p:cNvSpPr/>
          <p:nvPr/>
        </p:nvSpPr>
        <p:spPr>
          <a:xfrm>
            <a:off x="1775013" y="5105883"/>
            <a:ext cx="3065928" cy="736740"/>
          </a:xfrm>
          <a:prstGeom prst="rect">
            <a:avLst/>
          </a:prstGeom>
          <a:noFill/>
        </p:spPr>
        <p:txBody>
          <a:bodyPr vert="horz" wrap="square" lIns="91440" tIns="45720" rIns="91440" bIns="45720" anchor="t">
            <a:spAutoFit/>
          </a:bodyPr>
          <a:lstStyle/>
          <a:p>
            <a:pPr marL="0" algn="ctr">
              <a:lnSpc>
                <a:spcPct val="120000"/>
              </a:lnSpc>
            </a:pPr>
            <a:r>
              <a:rPr lang="en-US" sz="1200" b="0" i="0" u="none" baseline="0">
                <a:solidFill>
                  <a:srgbClr val="000000"/>
                </a:solidFill>
                <a:latin typeface="Arial"/>
                <a:ea typeface="Arial"/>
              </a:rPr>
              <a:t>Merchant Payments dominate transaction categories; transaction value has grown consistently across quarters; certain states contribute a significantly larger share.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962556" y="4687910"/>
            <a:ext cx="2691687" cy="430941"/>
          </a:xfrm>
          <a:prstGeom prst="rect">
            <a:avLst/>
          </a:prstGeom>
          <a:noFill/>
        </p:spPr>
        <p:txBody>
          <a:bodyPr vert="horz" wrap="square" lIns="91440" tIns="45720" rIns="91440" bIns="45720" rtlCol="0" anchor="t">
            <a:spAutoFit/>
          </a:bodyPr>
          <a:lstStyle/>
          <a:p>
            <a:pPr marL="0" algn="ctr">
              <a:lnSpc>
                <a:spcPct val="100000"/>
              </a:lnSpc>
              <a:spcBef>
                <a:spcPct val="0"/>
              </a:spcBef>
              <a:defRPr/>
            </a:pPr>
            <a:r>
              <a:rPr lang="en-US" sz="1600" b="1" i="0" u="none" baseline="0">
                <a:solidFill>
                  <a:srgbClr val="000000"/>
                </a:solidFill>
                <a:latin typeface="Arial"/>
                <a:ea typeface="Arial"/>
              </a:rPr>
              <a:t>Transaction Insights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5192562" y="4682437"/>
            <a:ext cx="2691687" cy="937869"/>
          </a:xfrm>
          <a:prstGeom prst="rect">
            <a:avLst/>
          </a:prstGeom>
          <a:noFill/>
        </p:spPr>
        <p:txBody>
          <a:bodyPr vert="horz" wrap="square" lIns="91440" tIns="45720" rIns="91440" bIns="45720" anchor="t">
            <a:spAutoFit/>
          </a:bodyPr>
          <a:lstStyle/>
          <a:p>
            <a:pPr marL="0" algn="ctr">
              <a:lnSpc>
                <a:spcPct val="120000"/>
              </a:lnSpc>
            </a:pPr>
            <a:r>
              <a:rPr lang="en-US" sz="1200" b="0" i="0" u="none" baseline="0">
                <a:solidFill>
                  <a:srgbClr val="FFFFFF"/>
                </a:solidFill>
                <a:latin typeface="Arial"/>
                <a:ea typeface="Arial"/>
              </a:rPr>
              <a:t>User registrations increase steadily; leading districts include Bengaluru Urban, Pune, Jaipur, and Thane.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5180605" y="3929547"/>
            <a:ext cx="2691687" cy="430941"/>
          </a:xfrm>
          <a:prstGeom prst="rect">
            <a:avLst/>
          </a:prstGeom>
          <a:noFill/>
        </p:spPr>
        <p:txBody>
          <a:bodyPr vert="horz" wrap="square" lIns="91440" tIns="45720" rIns="91440" bIns="45720" rtlCol="0" anchor="t">
            <a:spAutoFit/>
          </a:bodyPr>
          <a:lstStyle/>
          <a:p>
            <a:pPr marL="0" algn="ctr">
              <a:lnSpc>
                <a:spcPct val="100000"/>
              </a:lnSpc>
              <a:spcBef>
                <a:spcPct val="0"/>
              </a:spcBef>
              <a:defRPr/>
            </a:pPr>
            <a:r>
              <a:rPr lang="en-US" sz="1600" b="1" i="0" u="none" baseline="0">
                <a:solidFill>
                  <a:srgbClr val="FFFFFF"/>
                </a:solidFill>
                <a:latin typeface="Arial"/>
                <a:ea typeface="Arial"/>
              </a:rPr>
              <a:t>User Insights</a:t>
            </a:r>
            <a:endParaRPr lang="en-US" sz="1100"/>
          </a:p>
        </p:txBody>
      </p:sp>
      <p:sp>
        <p:nvSpPr>
          <p:cNvPr id="10" name="AutoShape 10"/>
          <p:cNvSpPr/>
          <p:nvPr/>
        </p:nvSpPr>
        <p:spPr>
          <a:xfrm>
            <a:off x="8121889" y="3374215"/>
            <a:ext cx="2691687" cy="293542"/>
          </a:xfrm>
          <a:prstGeom prst="rect">
            <a:avLst/>
          </a:prstGeom>
          <a:noFill/>
        </p:spPr>
        <p:txBody>
          <a:bodyPr vert="horz" wrap="square" lIns="91440" tIns="45720" rIns="91440" bIns="45720" anchor="t">
            <a:spAutoFit/>
          </a:bodyPr>
          <a:lstStyle/>
          <a:p>
            <a:pPr marL="0" algn="ctr">
              <a:lnSpc>
                <a:spcPct val="120000"/>
              </a:lnSpc>
            </a:pPr>
            <a:r>
              <a:rPr lang="zh-CN" altLang="en-US" sz="1200" b="0" i="0" u="none" baseline="0">
                <a:solidFill>
                  <a:srgbClr val="000000"/>
                </a:solidFill>
                <a:latin typeface="Arial"/>
                <a:ea typeface="Arial"/>
              </a:rPr>
              <a:t>Regional differences reveal strong concentration of digital payment activity.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8121890" y="2984205"/>
            <a:ext cx="2691687" cy="430941"/>
          </a:xfrm>
          <a:prstGeom prst="rect">
            <a:avLst/>
          </a:prstGeom>
          <a:noFill/>
        </p:spPr>
        <p:txBody>
          <a:bodyPr vert="horz" wrap="square" lIns="91440" tIns="45720" rIns="91440" bIns="45720" rtlCol="0" anchor="t">
            <a:spAutoFit/>
          </a:bodyPr>
          <a:lstStyle/>
          <a:p>
            <a:pPr marL="0" algn="ctr">
              <a:lnSpc>
                <a:spcPct val="100000"/>
              </a:lnSpc>
              <a:spcBef>
                <a:spcPct val="0"/>
              </a:spcBef>
              <a:defRPr/>
            </a:pPr>
            <a:r>
              <a:rPr lang="en-US" sz="1600" b="1" i="0" u="none" baseline="0">
                <a:solidFill>
                  <a:srgbClr val="000000"/>
                </a:solidFill>
                <a:latin typeface="Arial"/>
                <a:ea typeface="Arial"/>
              </a:rPr>
              <a:t>Geographic Insights</a:t>
            </a:r>
            <a:endParaRPr lang="en-US" sz="1100"/>
          </a:p>
        </p:txBody>
      </p:sp>
      <p:sp>
        <p:nvSpPr>
          <p:cNvPr id="12" name="Freeform 12"/>
          <p:cNvSpPr/>
          <p:nvPr/>
        </p:nvSpPr>
        <p:spPr>
          <a:xfrm flipH="1">
            <a:off x="3049551" y="3748179"/>
            <a:ext cx="640518" cy="612309"/>
          </a:xfrm>
          <a:custGeom>
            <a:avLst/>
            <a:gdLst/>
            <a:ahLst/>
            <a:cxnLst/>
            <a:rect l="l" t="t" r="r" b="b"/>
            <a:pathLst>
              <a:path w="608814" h="585693">
                <a:moveTo>
                  <a:pt x="195114" y="351627"/>
                </a:moveTo>
                <a:lnTo>
                  <a:pt x="258290" y="351627"/>
                </a:lnTo>
                <a:cubicBezTo>
                  <a:pt x="271848" y="351627"/>
                  <a:pt x="282731" y="362580"/>
                  <a:pt x="282731" y="376018"/>
                </a:cubicBezTo>
                <a:lnTo>
                  <a:pt x="282731" y="561210"/>
                </a:lnTo>
                <a:cubicBezTo>
                  <a:pt x="282731" y="574740"/>
                  <a:pt x="271848" y="585693"/>
                  <a:pt x="258290" y="585693"/>
                </a:cubicBezTo>
                <a:lnTo>
                  <a:pt x="195114" y="585693"/>
                </a:lnTo>
                <a:cubicBezTo>
                  <a:pt x="181556" y="585693"/>
                  <a:pt x="170673" y="574740"/>
                  <a:pt x="170673" y="561210"/>
                </a:cubicBezTo>
                <a:lnTo>
                  <a:pt x="170673" y="376018"/>
                </a:lnTo>
                <a:cubicBezTo>
                  <a:pt x="170673" y="362580"/>
                  <a:pt x="181556" y="351627"/>
                  <a:pt x="195114" y="351627"/>
                </a:cubicBezTo>
                <a:close/>
                <a:moveTo>
                  <a:pt x="358100" y="249872"/>
                </a:moveTo>
                <a:lnTo>
                  <a:pt x="421316" y="249872"/>
                </a:lnTo>
                <a:cubicBezTo>
                  <a:pt x="434771" y="249872"/>
                  <a:pt x="445737" y="260735"/>
                  <a:pt x="445737" y="274267"/>
                </a:cubicBezTo>
                <a:lnTo>
                  <a:pt x="445737" y="561206"/>
                </a:lnTo>
                <a:cubicBezTo>
                  <a:pt x="445737" y="574738"/>
                  <a:pt x="434771" y="585693"/>
                  <a:pt x="421316" y="585693"/>
                </a:cubicBezTo>
                <a:lnTo>
                  <a:pt x="358100" y="585693"/>
                </a:lnTo>
                <a:cubicBezTo>
                  <a:pt x="344645" y="585693"/>
                  <a:pt x="333679" y="574738"/>
                  <a:pt x="333679" y="561206"/>
                </a:cubicBezTo>
                <a:lnTo>
                  <a:pt x="333679" y="274267"/>
                </a:lnTo>
                <a:cubicBezTo>
                  <a:pt x="333679" y="260735"/>
                  <a:pt x="344645" y="249872"/>
                  <a:pt x="358100" y="249872"/>
                </a:cubicBezTo>
                <a:close/>
                <a:moveTo>
                  <a:pt x="140260" y="224680"/>
                </a:moveTo>
                <a:cubicBezTo>
                  <a:pt x="168749" y="224680"/>
                  <a:pt x="191844" y="247711"/>
                  <a:pt x="191844" y="276122"/>
                </a:cubicBezTo>
                <a:cubicBezTo>
                  <a:pt x="191844" y="304533"/>
                  <a:pt x="168749" y="327564"/>
                  <a:pt x="140260" y="327564"/>
                </a:cubicBezTo>
                <a:cubicBezTo>
                  <a:pt x="111771" y="327564"/>
                  <a:pt x="88676" y="304533"/>
                  <a:pt x="88676" y="276122"/>
                </a:cubicBezTo>
                <a:cubicBezTo>
                  <a:pt x="88676" y="247711"/>
                  <a:pt x="111771" y="224680"/>
                  <a:pt x="140260" y="224680"/>
                </a:cubicBezTo>
                <a:close/>
                <a:moveTo>
                  <a:pt x="521177" y="148117"/>
                </a:moveTo>
                <a:lnTo>
                  <a:pt x="584301" y="148117"/>
                </a:lnTo>
                <a:cubicBezTo>
                  <a:pt x="597848" y="148117"/>
                  <a:pt x="608814" y="159070"/>
                  <a:pt x="608814" y="172601"/>
                </a:cubicBezTo>
                <a:lnTo>
                  <a:pt x="608814" y="561209"/>
                </a:lnTo>
                <a:cubicBezTo>
                  <a:pt x="608814" y="574740"/>
                  <a:pt x="597848" y="585693"/>
                  <a:pt x="584301" y="585693"/>
                </a:cubicBezTo>
                <a:lnTo>
                  <a:pt x="521177" y="585693"/>
                </a:lnTo>
                <a:cubicBezTo>
                  <a:pt x="507722" y="585693"/>
                  <a:pt x="496756" y="574740"/>
                  <a:pt x="496756" y="561209"/>
                </a:cubicBezTo>
                <a:lnTo>
                  <a:pt x="496756" y="172601"/>
                </a:lnTo>
                <a:cubicBezTo>
                  <a:pt x="496756" y="159070"/>
                  <a:pt x="507722" y="148117"/>
                  <a:pt x="521177" y="148117"/>
                </a:cubicBezTo>
                <a:close/>
                <a:moveTo>
                  <a:pt x="116229" y="131322"/>
                </a:moveTo>
                <a:lnTo>
                  <a:pt x="164246" y="131322"/>
                </a:lnTo>
                <a:cubicBezTo>
                  <a:pt x="175214" y="131322"/>
                  <a:pt x="184061" y="140159"/>
                  <a:pt x="184061" y="151113"/>
                </a:cubicBezTo>
                <a:lnTo>
                  <a:pt x="184061" y="171457"/>
                </a:lnTo>
                <a:cubicBezTo>
                  <a:pt x="193001" y="175231"/>
                  <a:pt x="201019" y="180386"/>
                  <a:pt x="208669" y="186094"/>
                </a:cubicBezTo>
                <a:lnTo>
                  <a:pt x="226641" y="175692"/>
                </a:lnTo>
                <a:cubicBezTo>
                  <a:pt x="236134" y="170261"/>
                  <a:pt x="248300" y="173482"/>
                  <a:pt x="253737" y="182964"/>
                </a:cubicBezTo>
                <a:lnTo>
                  <a:pt x="277792" y="224572"/>
                </a:lnTo>
                <a:cubicBezTo>
                  <a:pt x="280465" y="229083"/>
                  <a:pt x="281110" y="234514"/>
                  <a:pt x="279727" y="239577"/>
                </a:cubicBezTo>
                <a:cubicBezTo>
                  <a:pt x="278437" y="244640"/>
                  <a:pt x="275119" y="248966"/>
                  <a:pt x="270511" y="251544"/>
                </a:cubicBezTo>
                <a:lnTo>
                  <a:pt x="252355" y="262038"/>
                </a:lnTo>
                <a:cubicBezTo>
                  <a:pt x="253000" y="266733"/>
                  <a:pt x="253829" y="271335"/>
                  <a:pt x="253829" y="276122"/>
                </a:cubicBezTo>
                <a:cubicBezTo>
                  <a:pt x="253829" y="281001"/>
                  <a:pt x="253000" y="285604"/>
                  <a:pt x="252355" y="290206"/>
                </a:cubicBezTo>
                <a:lnTo>
                  <a:pt x="270511" y="300700"/>
                </a:lnTo>
                <a:cubicBezTo>
                  <a:pt x="279174" y="305671"/>
                  <a:pt x="282308" y="316165"/>
                  <a:pt x="278714" y="325094"/>
                </a:cubicBezTo>
                <a:cubicBezTo>
                  <a:pt x="272354" y="322609"/>
                  <a:pt x="265442" y="321136"/>
                  <a:pt x="258253" y="321136"/>
                </a:cubicBezTo>
                <a:lnTo>
                  <a:pt x="195858" y="321136"/>
                </a:lnTo>
                <a:cubicBezTo>
                  <a:pt x="205904" y="308709"/>
                  <a:pt x="212171" y="293244"/>
                  <a:pt x="212171" y="276122"/>
                </a:cubicBezTo>
                <a:cubicBezTo>
                  <a:pt x="212171" y="236539"/>
                  <a:pt x="179914" y="204320"/>
                  <a:pt x="140191" y="204320"/>
                </a:cubicBezTo>
                <a:cubicBezTo>
                  <a:pt x="100561" y="204320"/>
                  <a:pt x="68304" y="236539"/>
                  <a:pt x="68304" y="276122"/>
                </a:cubicBezTo>
                <a:cubicBezTo>
                  <a:pt x="68304" y="315797"/>
                  <a:pt x="100561" y="348016"/>
                  <a:pt x="140191" y="348016"/>
                </a:cubicBezTo>
                <a:cubicBezTo>
                  <a:pt x="143048" y="348016"/>
                  <a:pt x="145721" y="347463"/>
                  <a:pt x="148486" y="347095"/>
                </a:cubicBezTo>
                <a:cubicBezTo>
                  <a:pt x="143233" y="355564"/>
                  <a:pt x="140099" y="365414"/>
                  <a:pt x="140099" y="376000"/>
                </a:cubicBezTo>
                <a:lnTo>
                  <a:pt x="140099" y="420922"/>
                </a:lnTo>
                <a:lnTo>
                  <a:pt x="116229" y="420922"/>
                </a:lnTo>
                <a:cubicBezTo>
                  <a:pt x="105261" y="420922"/>
                  <a:pt x="96413" y="412085"/>
                  <a:pt x="96413" y="401131"/>
                </a:cubicBezTo>
                <a:lnTo>
                  <a:pt x="96413" y="380787"/>
                </a:lnTo>
                <a:cubicBezTo>
                  <a:pt x="87474" y="377013"/>
                  <a:pt x="79455" y="371950"/>
                  <a:pt x="71806" y="366150"/>
                </a:cubicBezTo>
                <a:lnTo>
                  <a:pt x="53742" y="376552"/>
                </a:lnTo>
                <a:cubicBezTo>
                  <a:pt x="49226" y="379222"/>
                  <a:pt x="43788" y="379866"/>
                  <a:pt x="38719" y="378577"/>
                </a:cubicBezTo>
                <a:cubicBezTo>
                  <a:pt x="33650" y="377197"/>
                  <a:pt x="29318" y="373883"/>
                  <a:pt x="26738" y="369372"/>
                </a:cubicBezTo>
                <a:lnTo>
                  <a:pt x="2683" y="327764"/>
                </a:lnTo>
                <a:cubicBezTo>
                  <a:pt x="-2847" y="318282"/>
                  <a:pt x="471" y="306131"/>
                  <a:pt x="9872" y="300700"/>
                </a:cubicBezTo>
                <a:lnTo>
                  <a:pt x="28120" y="290206"/>
                </a:lnTo>
                <a:cubicBezTo>
                  <a:pt x="27475" y="285604"/>
                  <a:pt x="26645" y="281001"/>
                  <a:pt x="26645" y="276122"/>
                </a:cubicBezTo>
                <a:cubicBezTo>
                  <a:pt x="26645" y="271335"/>
                  <a:pt x="27475" y="266733"/>
                  <a:pt x="28120" y="262038"/>
                </a:cubicBezTo>
                <a:lnTo>
                  <a:pt x="9872" y="251544"/>
                </a:lnTo>
                <a:cubicBezTo>
                  <a:pt x="471" y="246113"/>
                  <a:pt x="-2847" y="233962"/>
                  <a:pt x="2683" y="224572"/>
                </a:cubicBezTo>
                <a:lnTo>
                  <a:pt x="26738" y="182964"/>
                </a:lnTo>
                <a:cubicBezTo>
                  <a:pt x="29318" y="178361"/>
                  <a:pt x="33650" y="175139"/>
                  <a:pt x="38719" y="173759"/>
                </a:cubicBezTo>
                <a:cubicBezTo>
                  <a:pt x="43788" y="172378"/>
                  <a:pt x="49226" y="173114"/>
                  <a:pt x="53742" y="175692"/>
                </a:cubicBezTo>
                <a:lnTo>
                  <a:pt x="71806" y="186094"/>
                </a:lnTo>
                <a:cubicBezTo>
                  <a:pt x="79455" y="180386"/>
                  <a:pt x="87474" y="175231"/>
                  <a:pt x="96413" y="171457"/>
                </a:cubicBezTo>
                <a:lnTo>
                  <a:pt x="96413" y="151113"/>
                </a:lnTo>
                <a:cubicBezTo>
                  <a:pt x="96413" y="140159"/>
                  <a:pt x="105261" y="131322"/>
                  <a:pt x="116229" y="131322"/>
                </a:cubicBezTo>
                <a:close/>
                <a:moveTo>
                  <a:pt x="445756" y="83476"/>
                </a:moveTo>
                <a:cubicBezTo>
                  <a:pt x="428335" y="83476"/>
                  <a:pt x="414140" y="97557"/>
                  <a:pt x="414140" y="115044"/>
                </a:cubicBezTo>
                <a:cubicBezTo>
                  <a:pt x="414140" y="132438"/>
                  <a:pt x="428335" y="146520"/>
                  <a:pt x="445756" y="146520"/>
                </a:cubicBezTo>
                <a:cubicBezTo>
                  <a:pt x="463176" y="146520"/>
                  <a:pt x="477371" y="132438"/>
                  <a:pt x="477371" y="115044"/>
                </a:cubicBezTo>
                <a:cubicBezTo>
                  <a:pt x="477371" y="97557"/>
                  <a:pt x="463176" y="83476"/>
                  <a:pt x="445756" y="83476"/>
                </a:cubicBezTo>
                <a:close/>
                <a:moveTo>
                  <a:pt x="426676" y="0"/>
                </a:moveTo>
                <a:lnTo>
                  <a:pt x="464835" y="0"/>
                </a:lnTo>
                <a:cubicBezTo>
                  <a:pt x="473500" y="0"/>
                  <a:pt x="480597" y="7087"/>
                  <a:pt x="480597" y="15738"/>
                </a:cubicBezTo>
                <a:lnTo>
                  <a:pt x="480597" y="31936"/>
                </a:lnTo>
                <a:cubicBezTo>
                  <a:pt x="487694" y="34881"/>
                  <a:pt x="494054" y="38931"/>
                  <a:pt x="500138" y="43533"/>
                </a:cubicBezTo>
                <a:lnTo>
                  <a:pt x="514425" y="35249"/>
                </a:lnTo>
                <a:cubicBezTo>
                  <a:pt x="521983" y="30924"/>
                  <a:pt x="531569" y="33501"/>
                  <a:pt x="535901" y="40956"/>
                </a:cubicBezTo>
                <a:lnTo>
                  <a:pt x="554981" y="73996"/>
                </a:lnTo>
                <a:cubicBezTo>
                  <a:pt x="557101" y="77585"/>
                  <a:pt x="557654" y="81911"/>
                  <a:pt x="556640" y="85961"/>
                </a:cubicBezTo>
                <a:cubicBezTo>
                  <a:pt x="555534" y="89918"/>
                  <a:pt x="552861" y="93415"/>
                  <a:pt x="549266" y="95440"/>
                </a:cubicBezTo>
                <a:lnTo>
                  <a:pt x="534887" y="103815"/>
                </a:lnTo>
                <a:cubicBezTo>
                  <a:pt x="535348" y="107497"/>
                  <a:pt x="535993" y="111178"/>
                  <a:pt x="535993" y="115044"/>
                </a:cubicBezTo>
                <a:cubicBezTo>
                  <a:pt x="535993" y="115872"/>
                  <a:pt x="535809" y="116700"/>
                  <a:pt x="535717" y="117621"/>
                </a:cubicBezTo>
                <a:lnTo>
                  <a:pt x="521153" y="117621"/>
                </a:lnTo>
                <a:cubicBezTo>
                  <a:pt x="490828" y="117621"/>
                  <a:pt x="466126" y="142286"/>
                  <a:pt x="466126" y="172565"/>
                </a:cubicBezTo>
                <a:lnTo>
                  <a:pt x="466126" y="229719"/>
                </a:lnTo>
                <a:lnTo>
                  <a:pt x="466126" y="242604"/>
                </a:lnTo>
                <a:cubicBezTo>
                  <a:pt x="462715" y="237726"/>
                  <a:pt x="458383" y="233493"/>
                  <a:pt x="453590" y="229995"/>
                </a:cubicBezTo>
                <a:cubicBezTo>
                  <a:pt x="444465" y="223369"/>
                  <a:pt x="433404" y="219319"/>
                  <a:pt x="421330" y="219319"/>
                </a:cubicBezTo>
                <a:lnTo>
                  <a:pt x="411928" y="219319"/>
                </a:lnTo>
                <a:cubicBezTo>
                  <a:pt x="411375" y="217755"/>
                  <a:pt x="410914" y="216098"/>
                  <a:pt x="410914" y="214257"/>
                </a:cubicBezTo>
                <a:lnTo>
                  <a:pt x="410914" y="198059"/>
                </a:lnTo>
                <a:cubicBezTo>
                  <a:pt x="403817" y="195114"/>
                  <a:pt x="397457" y="191064"/>
                  <a:pt x="391373" y="186463"/>
                </a:cubicBezTo>
                <a:lnTo>
                  <a:pt x="377086" y="194746"/>
                </a:lnTo>
                <a:cubicBezTo>
                  <a:pt x="373492" y="196863"/>
                  <a:pt x="369160" y="197415"/>
                  <a:pt x="365104" y="196310"/>
                </a:cubicBezTo>
                <a:cubicBezTo>
                  <a:pt x="361140" y="195206"/>
                  <a:pt x="357638" y="192629"/>
                  <a:pt x="355610" y="189040"/>
                </a:cubicBezTo>
                <a:lnTo>
                  <a:pt x="336530" y="155999"/>
                </a:lnTo>
                <a:cubicBezTo>
                  <a:pt x="332198" y="148452"/>
                  <a:pt x="334687" y="138881"/>
                  <a:pt x="342245" y="134463"/>
                </a:cubicBezTo>
                <a:lnTo>
                  <a:pt x="356716" y="126180"/>
                </a:lnTo>
                <a:cubicBezTo>
                  <a:pt x="356163" y="122498"/>
                  <a:pt x="355518" y="118817"/>
                  <a:pt x="355518" y="115044"/>
                </a:cubicBezTo>
                <a:cubicBezTo>
                  <a:pt x="355518" y="111178"/>
                  <a:pt x="356163" y="107497"/>
                  <a:pt x="356716" y="103815"/>
                </a:cubicBezTo>
                <a:lnTo>
                  <a:pt x="342245" y="95440"/>
                </a:lnTo>
                <a:cubicBezTo>
                  <a:pt x="334687" y="91115"/>
                  <a:pt x="332198" y="81543"/>
                  <a:pt x="336530" y="73996"/>
                </a:cubicBezTo>
                <a:lnTo>
                  <a:pt x="355610" y="40956"/>
                </a:lnTo>
                <a:cubicBezTo>
                  <a:pt x="357638" y="37366"/>
                  <a:pt x="361140" y="34789"/>
                  <a:pt x="365104" y="33685"/>
                </a:cubicBezTo>
                <a:cubicBezTo>
                  <a:pt x="369160" y="32580"/>
                  <a:pt x="373492" y="33133"/>
                  <a:pt x="377086" y="35249"/>
                </a:cubicBezTo>
                <a:lnTo>
                  <a:pt x="391373" y="43533"/>
                </a:lnTo>
                <a:cubicBezTo>
                  <a:pt x="397457" y="38931"/>
                  <a:pt x="403817" y="34881"/>
                  <a:pt x="410914" y="31936"/>
                </a:cubicBezTo>
                <a:lnTo>
                  <a:pt x="410914" y="15738"/>
                </a:lnTo>
                <a:cubicBezTo>
                  <a:pt x="410914" y="7087"/>
                  <a:pt x="418011" y="0"/>
                  <a:pt x="426676" y="0"/>
                </a:cubicBezTo>
                <a:close/>
              </a:path>
            </a:pathLst>
          </a:custGeom>
          <a:solidFill>
            <a:srgbClr val="000000">
              <a:lumMod val="50000"/>
              <a:lumOff val="50000"/>
            </a:srgbClr>
          </a:solidFill>
        </p:spPr>
        <p:txBody>
          <a:bodyPr vert="horz" lIns="91440" tIns="45720" rIns="91440" bIns="45720" anchor="t">
            <a:normAutofit/>
          </a:bodyPr>
          <a:lstStyle/>
          <a:p>
            <a:pPr marL="0" algn="l"/>
            <a:endParaRPr/>
          </a:p>
        </p:txBody>
      </p:sp>
      <p:sp>
        <p:nvSpPr>
          <p:cNvPr id="13" name="Freeform 13"/>
          <p:cNvSpPr/>
          <p:nvPr/>
        </p:nvSpPr>
        <p:spPr>
          <a:xfrm flipH="1">
            <a:off x="9169540" y="2019213"/>
            <a:ext cx="596387" cy="591518"/>
          </a:xfrm>
          <a:custGeom>
            <a:avLst/>
            <a:gdLst/>
            <a:ahLst/>
            <a:cxnLst/>
            <a:rect l="l" t="t" r="r" b="b"/>
            <a:pathLst>
              <a:path w="605702" h="604568">
                <a:moveTo>
                  <a:pt x="290910" y="156336"/>
                </a:moveTo>
                <a:cubicBezTo>
                  <a:pt x="306137" y="157147"/>
                  <a:pt x="321272" y="160032"/>
                  <a:pt x="335849" y="164992"/>
                </a:cubicBezTo>
                <a:lnTo>
                  <a:pt x="288310" y="212456"/>
                </a:lnTo>
                <a:cubicBezTo>
                  <a:pt x="257856" y="210695"/>
                  <a:pt x="226844" y="221449"/>
                  <a:pt x="203632" y="244717"/>
                </a:cubicBezTo>
                <a:cubicBezTo>
                  <a:pt x="160271" y="287918"/>
                  <a:pt x="160271" y="358187"/>
                  <a:pt x="203632" y="401388"/>
                </a:cubicBezTo>
                <a:cubicBezTo>
                  <a:pt x="246900" y="444680"/>
                  <a:pt x="317279" y="444680"/>
                  <a:pt x="360547" y="401388"/>
                </a:cubicBezTo>
                <a:cubicBezTo>
                  <a:pt x="383852" y="378211"/>
                  <a:pt x="394623" y="347156"/>
                  <a:pt x="392859" y="316749"/>
                </a:cubicBezTo>
                <a:lnTo>
                  <a:pt x="440397" y="269284"/>
                </a:lnTo>
                <a:cubicBezTo>
                  <a:pt x="460267" y="327595"/>
                  <a:pt x="446897" y="394620"/>
                  <a:pt x="400287" y="441065"/>
                </a:cubicBezTo>
                <a:cubicBezTo>
                  <a:pt x="335106" y="506236"/>
                  <a:pt x="229073" y="506236"/>
                  <a:pt x="163892" y="441065"/>
                </a:cubicBezTo>
                <a:cubicBezTo>
                  <a:pt x="98619" y="375987"/>
                  <a:pt x="98619" y="270118"/>
                  <a:pt x="163892" y="205040"/>
                </a:cubicBezTo>
                <a:cubicBezTo>
                  <a:pt x="198711" y="170137"/>
                  <a:pt x="245228" y="153902"/>
                  <a:pt x="290910" y="156336"/>
                </a:cubicBezTo>
                <a:close/>
                <a:moveTo>
                  <a:pt x="246542" y="43775"/>
                </a:moveTo>
                <a:cubicBezTo>
                  <a:pt x="306463" y="36243"/>
                  <a:pt x="368345" y="47900"/>
                  <a:pt x="422196" y="78723"/>
                </a:cubicBezTo>
                <a:lnTo>
                  <a:pt x="376794" y="124054"/>
                </a:lnTo>
                <a:cubicBezTo>
                  <a:pt x="294811" y="85305"/>
                  <a:pt x="193980" y="99581"/>
                  <a:pt x="126109" y="167345"/>
                </a:cubicBezTo>
                <a:cubicBezTo>
                  <a:pt x="39948" y="253371"/>
                  <a:pt x="39948" y="392793"/>
                  <a:pt x="126109" y="478820"/>
                </a:cubicBezTo>
                <a:cubicBezTo>
                  <a:pt x="212271" y="564846"/>
                  <a:pt x="351912" y="564846"/>
                  <a:pt x="438073" y="478820"/>
                </a:cubicBezTo>
                <a:cubicBezTo>
                  <a:pt x="505944" y="411055"/>
                  <a:pt x="520428" y="310382"/>
                  <a:pt x="481432" y="228527"/>
                </a:cubicBezTo>
                <a:lnTo>
                  <a:pt x="526741" y="183011"/>
                </a:lnTo>
                <a:cubicBezTo>
                  <a:pt x="588484" y="290544"/>
                  <a:pt x="573350" y="430244"/>
                  <a:pt x="481432" y="522111"/>
                </a:cubicBezTo>
                <a:cubicBezTo>
                  <a:pt x="371316" y="632054"/>
                  <a:pt x="192866" y="632054"/>
                  <a:pt x="82657" y="522111"/>
                </a:cubicBezTo>
                <a:cubicBezTo>
                  <a:pt x="-27552" y="412168"/>
                  <a:pt x="-27552" y="233997"/>
                  <a:pt x="82657" y="123961"/>
                </a:cubicBezTo>
                <a:cubicBezTo>
                  <a:pt x="128662" y="78028"/>
                  <a:pt x="186622" y="51307"/>
                  <a:pt x="246542" y="43775"/>
                </a:cubicBezTo>
                <a:close/>
                <a:moveTo>
                  <a:pt x="536061" y="0"/>
                </a:moveTo>
                <a:lnTo>
                  <a:pt x="544232" y="61368"/>
                </a:lnTo>
                <a:lnTo>
                  <a:pt x="605702" y="69526"/>
                </a:lnTo>
                <a:lnTo>
                  <a:pt x="524361" y="150732"/>
                </a:lnTo>
                <a:lnTo>
                  <a:pt x="498361" y="147302"/>
                </a:lnTo>
                <a:lnTo>
                  <a:pt x="337721" y="307767"/>
                </a:lnTo>
                <a:cubicBezTo>
                  <a:pt x="339021" y="312588"/>
                  <a:pt x="339764" y="317779"/>
                  <a:pt x="339764" y="323063"/>
                </a:cubicBezTo>
                <a:cubicBezTo>
                  <a:pt x="339764" y="354859"/>
                  <a:pt x="313950" y="380630"/>
                  <a:pt x="282101" y="380630"/>
                </a:cubicBezTo>
                <a:cubicBezTo>
                  <a:pt x="250251" y="380630"/>
                  <a:pt x="224437" y="354859"/>
                  <a:pt x="224437" y="323063"/>
                </a:cubicBezTo>
                <a:cubicBezTo>
                  <a:pt x="224437" y="291266"/>
                  <a:pt x="250251" y="265495"/>
                  <a:pt x="282101" y="265495"/>
                </a:cubicBezTo>
                <a:cubicBezTo>
                  <a:pt x="287393" y="265495"/>
                  <a:pt x="292500" y="266237"/>
                  <a:pt x="297422" y="267535"/>
                </a:cubicBezTo>
                <a:lnTo>
                  <a:pt x="458155" y="107162"/>
                </a:lnTo>
                <a:lnTo>
                  <a:pt x="454719" y="81206"/>
                </a:lnTo>
                <a:close/>
              </a:path>
            </a:pathLst>
          </a:custGeom>
          <a:solidFill>
            <a:srgbClr val="000000">
              <a:lumMod val="50000"/>
              <a:lumOff val="50000"/>
            </a:srgbClr>
          </a:solidFill>
        </p:spPr>
        <p:txBody>
          <a:bodyPr vert="horz" wrap="square" lIns="91440" tIns="45720" rIns="91440" bIns="45720" anchor="t">
            <a:normAutofit/>
          </a:bodyPr>
          <a:lstStyle/>
          <a:p>
            <a:pPr marL="0" algn="l"/>
            <a:endParaRPr/>
          </a:p>
        </p:txBody>
      </p:sp>
      <p:sp>
        <p:nvSpPr>
          <p:cNvPr id="14" name="Freeform 14"/>
          <p:cNvSpPr/>
          <p:nvPr/>
        </p:nvSpPr>
        <p:spPr>
          <a:xfrm flipH="1">
            <a:off x="6252813" y="2967949"/>
            <a:ext cx="584397" cy="558484"/>
          </a:xfrm>
          <a:custGeom>
            <a:avLst/>
            <a:gdLst/>
            <a:ahLst/>
            <a:cxnLst/>
            <a:rect l="l" t="t" r="r" b="b"/>
            <a:pathLst>
              <a:path w="609549" h="586216">
                <a:moveTo>
                  <a:pt x="61288" y="383285"/>
                </a:moveTo>
                <a:cubicBezTo>
                  <a:pt x="64829" y="383106"/>
                  <a:pt x="68448" y="384367"/>
                  <a:pt x="71162" y="387101"/>
                </a:cubicBezTo>
                <a:lnTo>
                  <a:pt x="120018" y="435892"/>
                </a:lnTo>
                <a:cubicBezTo>
                  <a:pt x="125113" y="440933"/>
                  <a:pt x="125113" y="449160"/>
                  <a:pt x="120018" y="454200"/>
                </a:cubicBezTo>
                <a:lnTo>
                  <a:pt x="56639" y="517543"/>
                </a:lnTo>
                <a:cubicBezTo>
                  <a:pt x="50211" y="523963"/>
                  <a:pt x="39211" y="522013"/>
                  <a:pt x="35592" y="513644"/>
                </a:cubicBezTo>
                <a:cubicBezTo>
                  <a:pt x="17783" y="472794"/>
                  <a:pt x="23211" y="424288"/>
                  <a:pt x="51877" y="388099"/>
                </a:cubicBezTo>
                <a:cubicBezTo>
                  <a:pt x="54282" y="385079"/>
                  <a:pt x="57746" y="383463"/>
                  <a:pt x="61288" y="383285"/>
                </a:cubicBezTo>
                <a:close/>
                <a:moveTo>
                  <a:pt x="235245" y="302810"/>
                </a:moveTo>
                <a:lnTo>
                  <a:pt x="306042" y="373466"/>
                </a:lnTo>
                <a:lnTo>
                  <a:pt x="258717" y="420680"/>
                </a:lnTo>
                <a:cubicBezTo>
                  <a:pt x="274667" y="464329"/>
                  <a:pt x="265192" y="515300"/>
                  <a:pt x="230246" y="550152"/>
                </a:cubicBezTo>
                <a:cubicBezTo>
                  <a:pt x="192919" y="587430"/>
                  <a:pt x="137644" y="595798"/>
                  <a:pt x="92223" y="575305"/>
                </a:cubicBezTo>
                <a:cubicBezTo>
                  <a:pt x="84701" y="571882"/>
                  <a:pt x="82892" y="561992"/>
                  <a:pt x="88748" y="556143"/>
                </a:cubicBezTo>
                <a:lnTo>
                  <a:pt x="165115" y="479877"/>
                </a:lnTo>
                <a:cubicBezTo>
                  <a:pt x="174399" y="470605"/>
                  <a:pt x="174399" y="455580"/>
                  <a:pt x="165115" y="446308"/>
                </a:cubicBezTo>
                <a:lnTo>
                  <a:pt x="88700" y="369995"/>
                </a:lnTo>
                <a:cubicBezTo>
                  <a:pt x="82844" y="364194"/>
                  <a:pt x="84653" y="354399"/>
                  <a:pt x="92128" y="350976"/>
                </a:cubicBezTo>
                <a:cubicBezTo>
                  <a:pt x="122789" y="337092"/>
                  <a:pt x="157973" y="336379"/>
                  <a:pt x="189111" y="348884"/>
                </a:cubicBezTo>
                <a:close/>
                <a:moveTo>
                  <a:pt x="257958" y="161679"/>
                </a:moveTo>
                <a:lnTo>
                  <a:pt x="317251" y="220879"/>
                </a:lnTo>
                <a:lnTo>
                  <a:pt x="388070" y="291586"/>
                </a:lnTo>
                <a:lnTo>
                  <a:pt x="604906" y="508130"/>
                </a:lnTo>
                <a:cubicBezTo>
                  <a:pt x="611097" y="514311"/>
                  <a:pt x="611097" y="524344"/>
                  <a:pt x="604906" y="530526"/>
                </a:cubicBezTo>
                <a:lnTo>
                  <a:pt x="556567" y="578789"/>
                </a:lnTo>
                <a:cubicBezTo>
                  <a:pt x="553471" y="581880"/>
                  <a:pt x="549423" y="583449"/>
                  <a:pt x="545327" y="583449"/>
                </a:cubicBezTo>
                <a:cubicBezTo>
                  <a:pt x="541279" y="583449"/>
                  <a:pt x="537231" y="581880"/>
                  <a:pt x="534135" y="578789"/>
                </a:cubicBezTo>
                <a:lnTo>
                  <a:pt x="317251" y="362293"/>
                </a:lnTo>
                <a:lnTo>
                  <a:pt x="246481" y="291586"/>
                </a:lnTo>
                <a:lnTo>
                  <a:pt x="187140" y="232339"/>
                </a:lnTo>
                <a:close/>
                <a:moveTo>
                  <a:pt x="58606" y="160814"/>
                </a:moveTo>
                <a:lnTo>
                  <a:pt x="126401" y="228498"/>
                </a:lnTo>
                <a:lnTo>
                  <a:pt x="111975" y="242899"/>
                </a:lnTo>
                <a:lnTo>
                  <a:pt x="119307" y="250219"/>
                </a:lnTo>
                <a:cubicBezTo>
                  <a:pt x="126877" y="257824"/>
                  <a:pt x="126877" y="270087"/>
                  <a:pt x="119307" y="277692"/>
                </a:cubicBezTo>
                <a:lnTo>
                  <a:pt x="115641" y="281352"/>
                </a:lnTo>
                <a:cubicBezTo>
                  <a:pt x="108024" y="288909"/>
                  <a:pt x="95741" y="288909"/>
                  <a:pt x="88123" y="281352"/>
                </a:cubicBezTo>
                <a:lnTo>
                  <a:pt x="5712" y="199029"/>
                </a:lnTo>
                <a:cubicBezTo>
                  <a:pt x="-1905" y="191424"/>
                  <a:pt x="-1905" y="179161"/>
                  <a:pt x="5712" y="171604"/>
                </a:cubicBezTo>
                <a:lnTo>
                  <a:pt x="9378" y="167944"/>
                </a:lnTo>
                <a:cubicBezTo>
                  <a:pt x="16948" y="160339"/>
                  <a:pt x="29231" y="160339"/>
                  <a:pt x="36849" y="167944"/>
                </a:cubicBezTo>
                <a:lnTo>
                  <a:pt x="44180" y="175264"/>
                </a:lnTo>
                <a:close/>
                <a:moveTo>
                  <a:pt x="585775" y="66370"/>
                </a:moveTo>
                <a:cubicBezTo>
                  <a:pt x="589775" y="67101"/>
                  <a:pt x="593430" y="69680"/>
                  <a:pt x="595263" y="73839"/>
                </a:cubicBezTo>
                <a:cubicBezTo>
                  <a:pt x="613072" y="114675"/>
                  <a:pt x="607644" y="163212"/>
                  <a:pt x="578978" y="199341"/>
                </a:cubicBezTo>
                <a:cubicBezTo>
                  <a:pt x="574168" y="205379"/>
                  <a:pt x="565121" y="205854"/>
                  <a:pt x="559693" y="200387"/>
                </a:cubicBezTo>
                <a:lnTo>
                  <a:pt x="510789" y="151612"/>
                </a:lnTo>
                <a:cubicBezTo>
                  <a:pt x="505742" y="146526"/>
                  <a:pt x="505742" y="138349"/>
                  <a:pt x="510789" y="133262"/>
                </a:cubicBezTo>
                <a:lnTo>
                  <a:pt x="574216" y="69988"/>
                </a:lnTo>
                <a:cubicBezTo>
                  <a:pt x="577430" y="66756"/>
                  <a:pt x="581775" y="65639"/>
                  <a:pt x="585775" y="66370"/>
                </a:cubicBezTo>
                <a:close/>
                <a:moveTo>
                  <a:pt x="158702" y="26758"/>
                </a:moveTo>
                <a:cubicBezTo>
                  <a:pt x="163655" y="26758"/>
                  <a:pt x="168654" y="28660"/>
                  <a:pt x="172463" y="32464"/>
                </a:cubicBezTo>
                <a:lnTo>
                  <a:pt x="179701" y="39691"/>
                </a:lnTo>
                <a:lnTo>
                  <a:pt x="246935" y="106831"/>
                </a:lnTo>
                <a:lnTo>
                  <a:pt x="254886" y="114819"/>
                </a:lnTo>
                <a:cubicBezTo>
                  <a:pt x="261457" y="121334"/>
                  <a:pt x="262362" y="131414"/>
                  <a:pt x="257600" y="138879"/>
                </a:cubicBezTo>
                <a:cubicBezTo>
                  <a:pt x="256839" y="140068"/>
                  <a:pt x="255934" y="141209"/>
                  <a:pt x="254886" y="142255"/>
                </a:cubicBezTo>
                <a:lnTo>
                  <a:pt x="252315" y="144823"/>
                </a:lnTo>
                <a:lnTo>
                  <a:pt x="246696" y="150434"/>
                </a:lnTo>
                <a:lnTo>
                  <a:pt x="175892" y="221140"/>
                </a:lnTo>
                <a:lnTo>
                  <a:pt x="172463" y="224611"/>
                </a:lnTo>
                <a:cubicBezTo>
                  <a:pt x="171702" y="225324"/>
                  <a:pt x="170940" y="225990"/>
                  <a:pt x="170130" y="226560"/>
                </a:cubicBezTo>
                <a:cubicBezTo>
                  <a:pt x="167749" y="228319"/>
                  <a:pt x="165083" y="229413"/>
                  <a:pt x="162274" y="229936"/>
                </a:cubicBezTo>
                <a:cubicBezTo>
                  <a:pt x="161083" y="230174"/>
                  <a:pt x="159893" y="230269"/>
                  <a:pt x="158702" y="230269"/>
                </a:cubicBezTo>
                <a:cubicBezTo>
                  <a:pt x="153703" y="230269"/>
                  <a:pt x="148751" y="228367"/>
                  <a:pt x="144942" y="224611"/>
                </a:cubicBezTo>
                <a:lnTo>
                  <a:pt x="137609" y="217288"/>
                </a:lnTo>
                <a:lnTo>
                  <a:pt x="69804" y="149578"/>
                </a:lnTo>
                <a:lnTo>
                  <a:pt x="62519" y="142255"/>
                </a:lnTo>
                <a:cubicBezTo>
                  <a:pt x="54900" y="134647"/>
                  <a:pt x="54900" y="122380"/>
                  <a:pt x="62519" y="114819"/>
                </a:cubicBezTo>
                <a:lnTo>
                  <a:pt x="144942" y="32464"/>
                </a:lnTo>
                <a:cubicBezTo>
                  <a:pt x="148751" y="28660"/>
                  <a:pt x="153750" y="26758"/>
                  <a:pt x="158702" y="26758"/>
                </a:cubicBezTo>
                <a:close/>
                <a:moveTo>
                  <a:pt x="254809" y="6542"/>
                </a:moveTo>
                <a:cubicBezTo>
                  <a:pt x="277279" y="4029"/>
                  <a:pt x="300492" y="9424"/>
                  <a:pt x="321015" y="29913"/>
                </a:cubicBezTo>
                <a:cubicBezTo>
                  <a:pt x="380347" y="89193"/>
                  <a:pt x="337205" y="46124"/>
                  <a:pt x="260017" y="97465"/>
                </a:cubicBezTo>
                <a:lnTo>
                  <a:pt x="193067" y="30626"/>
                </a:lnTo>
                <a:cubicBezTo>
                  <a:pt x="210614" y="19479"/>
                  <a:pt x="232340" y="9056"/>
                  <a:pt x="254809" y="6542"/>
                </a:cubicBezTo>
                <a:close/>
                <a:moveTo>
                  <a:pt x="503105" y="953"/>
                </a:moveTo>
                <a:cubicBezTo>
                  <a:pt x="515252" y="2468"/>
                  <a:pt x="527216" y="5788"/>
                  <a:pt x="538560" y="10911"/>
                </a:cubicBezTo>
                <a:cubicBezTo>
                  <a:pt x="546131" y="14334"/>
                  <a:pt x="547940" y="24224"/>
                  <a:pt x="542083" y="30073"/>
                </a:cubicBezTo>
                <a:lnTo>
                  <a:pt x="465709" y="106341"/>
                </a:lnTo>
                <a:cubicBezTo>
                  <a:pt x="456424" y="115613"/>
                  <a:pt x="456424" y="130639"/>
                  <a:pt x="465709" y="139911"/>
                </a:cubicBezTo>
                <a:lnTo>
                  <a:pt x="542131" y="216227"/>
                </a:lnTo>
                <a:cubicBezTo>
                  <a:pt x="547940" y="222028"/>
                  <a:pt x="546178" y="231823"/>
                  <a:pt x="538655" y="235246"/>
                </a:cubicBezTo>
                <a:cubicBezTo>
                  <a:pt x="508181" y="249035"/>
                  <a:pt x="473184" y="249844"/>
                  <a:pt x="442187" y="237528"/>
                </a:cubicBezTo>
                <a:lnTo>
                  <a:pt x="399238" y="280370"/>
                </a:lnTo>
                <a:lnTo>
                  <a:pt x="328482" y="209712"/>
                </a:lnTo>
                <a:lnTo>
                  <a:pt x="372240" y="166015"/>
                </a:lnTo>
                <a:cubicBezTo>
                  <a:pt x="356051" y="122270"/>
                  <a:pt x="365527" y="71060"/>
                  <a:pt x="400571" y="36064"/>
                </a:cubicBezTo>
                <a:cubicBezTo>
                  <a:pt x="428569" y="8106"/>
                  <a:pt x="466664" y="-3592"/>
                  <a:pt x="503105" y="953"/>
                </a:cubicBezTo>
                <a:close/>
              </a:path>
            </a:pathLst>
          </a:custGeom>
          <a:solidFill>
            <a:srgbClr val="FFFFFF"/>
          </a:solidFill>
        </p:spPr>
        <p:txBody>
          <a:bodyPr vert="horz" lIns="91440" tIns="45720" rIns="91440" bIns="45720" anchor="t">
            <a:normAutofit/>
          </a:bodyPr>
          <a:lstStyle/>
          <a:p>
            <a:pPr marL="0" algn="l"/>
            <a:endParaRPr/>
          </a:p>
        </p:txBody>
      </p:sp>
      <p:cxnSp>
        <p:nvCxnSpPr>
          <p:cNvPr id="15" name="Connector 15"/>
          <p:cNvCxnSpPr/>
          <p:nvPr/>
        </p:nvCxnSpPr>
        <p:spPr>
          <a:xfrm>
            <a:off x="2257101" y="4583772"/>
            <a:ext cx="2132021" cy="0"/>
          </a:xfrm>
          <a:prstGeom prst="line">
            <a:avLst/>
          </a:prstGeom>
          <a:ln w="6350" cap="flat" cmpd="sng">
            <a:solidFill>
              <a:srgbClr val="FFFFFF">
                <a:lumMod val="75000"/>
              </a:srgbClr>
            </a:solidFill>
            <a:prstDash val="solid"/>
          </a:ln>
        </p:spPr>
      </p:cxnSp>
      <p:cxnSp>
        <p:nvCxnSpPr>
          <p:cNvPr id="16" name="Connector 16"/>
          <p:cNvCxnSpPr/>
          <p:nvPr/>
        </p:nvCxnSpPr>
        <p:spPr>
          <a:xfrm>
            <a:off x="5415205" y="3850071"/>
            <a:ext cx="2259613" cy="0"/>
          </a:xfrm>
          <a:prstGeom prst="line">
            <a:avLst/>
          </a:prstGeom>
          <a:ln w="6350" cap="flat" cmpd="sng">
            <a:solidFill>
              <a:srgbClr val="FFFFFF">
                <a:lumMod val="75000"/>
              </a:srgbClr>
            </a:solidFill>
            <a:prstDash val="solid"/>
          </a:ln>
        </p:spPr>
      </p:cxnSp>
      <p:cxnSp>
        <p:nvCxnSpPr>
          <p:cNvPr id="17" name="Connector 17"/>
          <p:cNvCxnSpPr/>
          <p:nvPr/>
        </p:nvCxnSpPr>
        <p:spPr>
          <a:xfrm>
            <a:off x="8337927" y="2875087"/>
            <a:ext cx="2259613" cy="0"/>
          </a:xfrm>
          <a:prstGeom prst="line">
            <a:avLst/>
          </a:prstGeom>
          <a:ln w="6350" cap="flat" cmpd="sng">
            <a:solidFill>
              <a:srgbClr val="FFFFFF">
                <a:lumMod val="75000"/>
              </a:srgbClr>
            </a:solidFill>
            <a:prstDash val="solid"/>
          </a:ln>
        </p:spPr>
      </p:cxnSp>
      <p:pic>
        <p:nvPicPr>
          <p:cNvPr id="19" name="Picture 18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18701" y="235917"/>
            <a:ext cx="1752598" cy="53279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3862182"/>
            <a:ext cx="12192000" cy="45719"/>
          </a:xfrm>
          <a:prstGeom prst="rect">
            <a:avLst/>
          </a:prstGeom>
          <a:solidFill>
            <a:schemeClr val="tx2">
              <a:alpha val="15000"/>
            </a:schemeClr>
          </a:solidFill>
          <a:ln>
            <a:noFill/>
          </a:ln>
        </p:spPr>
        <p:txBody>
          <a:bodyPr vert="horz" lIns="91440" tIns="45720" rIns="91440" bIns="45720" anchor="ctr">
            <a:normAutofit fontScale="25000" lnSpcReduction="20000"/>
          </a:bodyPr>
          <a:lstStyle/>
          <a:p>
            <a:pPr marL="0" algn="ctr"/>
            <a:endParaRPr/>
          </a:p>
        </p:txBody>
      </p:sp>
      <p:cxnSp>
        <p:nvCxnSpPr>
          <p:cNvPr id="3" name="Connector 3"/>
          <p:cNvCxnSpPr/>
          <p:nvPr/>
        </p:nvCxnSpPr>
        <p:spPr>
          <a:xfrm flipH="1">
            <a:off x="1925161" y="4196215"/>
            <a:ext cx="0" cy="914281"/>
          </a:xfrm>
          <a:prstGeom prst="line">
            <a:avLst/>
          </a:prstGeom>
          <a:ln w="6350" cap="flat" cmpd="sng">
            <a:solidFill>
              <a:schemeClr val="accent1"/>
            </a:solidFill>
            <a:prstDash val="solid"/>
          </a:ln>
        </p:spPr>
      </p:cxnSp>
      <p:sp>
        <p:nvSpPr>
          <p:cNvPr id="4" name="AutoShape 4"/>
          <p:cNvSpPr/>
          <p:nvPr/>
        </p:nvSpPr>
        <p:spPr>
          <a:xfrm>
            <a:off x="1861661" y="5112462"/>
            <a:ext cx="127000" cy="1270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vert="horz" lIns="91440" tIns="45720" rIns="91440" bIns="45720" anchor="ctr">
            <a:normAutofit fontScale="25000" lnSpcReduction="20000"/>
          </a:bodyPr>
          <a:lstStyle/>
          <a:p>
            <a:pPr marL="0" algn="ctr"/>
            <a:endParaRPr/>
          </a:p>
        </p:txBody>
      </p:sp>
      <p:sp>
        <p:nvSpPr>
          <p:cNvPr id="5" name="Freeform 5"/>
          <p:cNvSpPr/>
          <p:nvPr/>
        </p:nvSpPr>
        <p:spPr>
          <a:xfrm>
            <a:off x="1613987" y="3573867"/>
            <a:ext cx="622349" cy="622349"/>
          </a:xfrm>
          <a:custGeom>
            <a:avLst/>
            <a:gdLst/>
            <a:ahLst/>
            <a:cxnLst/>
            <a:rect l="l" t="t" r="r" b="b"/>
            <a:pathLst>
              <a:path w="622349" h="622349">
                <a:moveTo>
                  <a:pt x="311175" y="0"/>
                </a:moveTo>
                <a:cubicBezTo>
                  <a:pt x="331976" y="0"/>
                  <a:pt x="352778" y="7936"/>
                  <a:pt x="368650" y="23807"/>
                </a:cubicBezTo>
                <a:lnTo>
                  <a:pt x="598542" y="253700"/>
                </a:lnTo>
                <a:cubicBezTo>
                  <a:pt x="630285" y="285442"/>
                  <a:pt x="630285" y="336907"/>
                  <a:pt x="598542" y="368650"/>
                </a:cubicBezTo>
                <a:lnTo>
                  <a:pt x="368650" y="598542"/>
                </a:lnTo>
                <a:cubicBezTo>
                  <a:pt x="336907" y="630285"/>
                  <a:pt x="285442" y="630285"/>
                  <a:pt x="253700" y="598542"/>
                </a:cubicBezTo>
                <a:lnTo>
                  <a:pt x="23807" y="368650"/>
                </a:lnTo>
                <a:cubicBezTo>
                  <a:pt x="-7936" y="336907"/>
                  <a:pt x="-7936" y="285442"/>
                  <a:pt x="23807" y="253700"/>
                </a:cubicBezTo>
                <a:lnTo>
                  <a:pt x="253700" y="23807"/>
                </a:lnTo>
                <a:cubicBezTo>
                  <a:pt x="269571" y="7936"/>
                  <a:pt x="290373" y="0"/>
                  <a:pt x="311175" y="0"/>
                </a:cubicBezTo>
                <a:close/>
              </a:path>
            </a:pathLst>
          </a:custGeom>
          <a:gradFill>
            <a:gsLst>
              <a:gs pos="0">
                <a:srgbClr val="7ECEF4">
                  <a:lumMod val="60000"/>
                  <a:lumOff val="40000"/>
                </a:srgbClr>
              </a:gs>
              <a:gs pos="60000">
                <a:srgbClr val="7ECEF4">
                  <a:lumMod val="100000"/>
                </a:srgbClr>
              </a:gs>
            </a:gsLst>
            <a:lin ang="5400000"/>
          </a:gradFill>
          <a:ln>
            <a:noFill/>
          </a:ln>
          <a:effectLst>
            <a:outerShdw blurRad="190500" dist="38100" dir="5400000" algn="t" rotWithShape="0">
              <a:schemeClr val="accent1">
                <a:alpha val="40000"/>
              </a:schemeClr>
            </a:outerShdw>
          </a:effectLst>
        </p:spPr>
        <p:txBody>
          <a:bodyPr vert="horz" wrap="square" lIns="91440" tIns="45720" rIns="91440" bIns="45720" anchor="ctr">
            <a:noAutofit/>
          </a:bodyPr>
          <a:lstStyle/>
          <a:p>
            <a:pPr marL="0" algn="ctr"/>
            <a:endParaRPr/>
          </a:p>
        </p:txBody>
      </p:sp>
      <p:sp>
        <p:nvSpPr>
          <p:cNvPr id="6" name="Freeform 6"/>
          <p:cNvSpPr/>
          <p:nvPr/>
        </p:nvSpPr>
        <p:spPr>
          <a:xfrm>
            <a:off x="1768301" y="3728183"/>
            <a:ext cx="313720" cy="313718"/>
          </a:xfrm>
          <a:custGeom>
            <a:avLst/>
            <a:gdLst/>
            <a:ahLst/>
            <a:cxnLst/>
            <a:rect l="l" t="t" r="r" b="b"/>
            <a:pathLst>
              <a:path w="13034" h="13034">
                <a:moveTo>
                  <a:pt x="12097" y="9697"/>
                </a:moveTo>
                <a:lnTo>
                  <a:pt x="9697" y="12097"/>
                </a:lnTo>
                <a:cubicBezTo>
                  <a:pt x="8760" y="13034"/>
                  <a:pt x="7240" y="13034"/>
                  <a:pt x="6303" y="12097"/>
                </a:cubicBezTo>
                <a:lnTo>
                  <a:pt x="2303" y="8097"/>
                </a:lnTo>
                <a:cubicBezTo>
                  <a:pt x="1852" y="7647"/>
                  <a:pt x="1599" y="7037"/>
                  <a:pt x="1600" y="6400"/>
                </a:cubicBezTo>
                <a:lnTo>
                  <a:pt x="1600" y="1600"/>
                </a:lnTo>
                <a:lnTo>
                  <a:pt x="4000" y="1600"/>
                </a:lnTo>
                <a:cubicBezTo>
                  <a:pt x="4000" y="1158"/>
                  <a:pt x="3642" y="800"/>
                  <a:pt x="3200" y="800"/>
                </a:cubicBezTo>
                <a:lnTo>
                  <a:pt x="1600" y="800"/>
                </a:lnTo>
                <a:cubicBezTo>
                  <a:pt x="1158" y="800"/>
                  <a:pt x="800" y="1158"/>
                  <a:pt x="800" y="1600"/>
                </a:cubicBezTo>
                <a:lnTo>
                  <a:pt x="800" y="2800"/>
                </a:lnTo>
                <a:cubicBezTo>
                  <a:pt x="800" y="3021"/>
                  <a:pt x="621" y="3200"/>
                  <a:pt x="400" y="3200"/>
                </a:cubicBezTo>
                <a:cubicBezTo>
                  <a:pt x="179" y="3200"/>
                  <a:pt x="0" y="3021"/>
                  <a:pt x="0" y="2800"/>
                </a:cubicBezTo>
                <a:lnTo>
                  <a:pt x="0" y="1600"/>
                </a:lnTo>
                <a:cubicBezTo>
                  <a:pt x="0" y="717"/>
                  <a:pt x="717" y="0"/>
                  <a:pt x="1600" y="0"/>
                </a:cubicBezTo>
                <a:lnTo>
                  <a:pt x="3200" y="0"/>
                </a:lnTo>
                <a:cubicBezTo>
                  <a:pt x="4083" y="0"/>
                  <a:pt x="4800" y="717"/>
                  <a:pt x="4800" y="1600"/>
                </a:cubicBezTo>
                <a:lnTo>
                  <a:pt x="4800" y="4400"/>
                </a:lnTo>
                <a:cubicBezTo>
                  <a:pt x="4800" y="4621"/>
                  <a:pt x="4621" y="4800"/>
                  <a:pt x="4400" y="4800"/>
                </a:cubicBezTo>
                <a:cubicBezTo>
                  <a:pt x="4179" y="4800"/>
                  <a:pt x="4000" y="4621"/>
                  <a:pt x="4000" y="4400"/>
                </a:cubicBezTo>
                <a:lnTo>
                  <a:pt x="4000" y="3281"/>
                </a:lnTo>
                <a:cubicBezTo>
                  <a:pt x="3536" y="3447"/>
                  <a:pt x="3200" y="3879"/>
                  <a:pt x="3200" y="4400"/>
                </a:cubicBezTo>
                <a:cubicBezTo>
                  <a:pt x="3200" y="5062"/>
                  <a:pt x="3738" y="5600"/>
                  <a:pt x="4400" y="5600"/>
                </a:cubicBezTo>
                <a:cubicBezTo>
                  <a:pt x="5062" y="5600"/>
                  <a:pt x="5600" y="5062"/>
                  <a:pt x="5600" y="4400"/>
                </a:cubicBezTo>
                <a:lnTo>
                  <a:pt x="5600" y="1600"/>
                </a:lnTo>
                <a:lnTo>
                  <a:pt x="6400" y="1600"/>
                </a:lnTo>
                <a:cubicBezTo>
                  <a:pt x="7014" y="1600"/>
                  <a:pt x="7628" y="1834"/>
                  <a:pt x="8097" y="2303"/>
                </a:cubicBezTo>
                <a:lnTo>
                  <a:pt x="12097" y="6303"/>
                </a:lnTo>
                <a:cubicBezTo>
                  <a:pt x="13034" y="7240"/>
                  <a:pt x="13034" y="8760"/>
                  <a:pt x="12097" y="9697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vert="horz" lIns="91440" tIns="45720" rIns="91440" bIns="45720" anchor="ctr">
            <a:normAutofit fontScale="92500" lnSpcReduction="20000"/>
          </a:bodyPr>
          <a:lstStyle/>
          <a:p>
            <a:pPr marL="0" algn="ctr"/>
            <a:endParaRPr/>
          </a:p>
        </p:txBody>
      </p:sp>
      <p:sp>
        <p:nvSpPr>
          <p:cNvPr id="7" name="AutoShape 7"/>
          <p:cNvSpPr/>
          <p:nvPr/>
        </p:nvSpPr>
        <p:spPr>
          <a:xfrm>
            <a:off x="609602" y="1981200"/>
            <a:ext cx="2793790" cy="1624740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t">
            <a:spAutoFit/>
          </a:bodyPr>
          <a:lstStyle/>
          <a:p>
            <a:pPr marL="0" algn="ctr">
              <a:lnSpc>
                <a:spcPct val="120000"/>
              </a:lnSpc>
            </a:pPr>
            <a:r>
              <a:rPr lang="zh-CN" altLang="en-US" sz="1200" b="0" i="0" u="none" baseline="0">
                <a:solidFill>
                  <a:srgbClr val="000000"/>
                </a:solidFill>
                <a:latin typeface="+mn-ea"/>
                <a:ea typeface="+mn-ea"/>
              </a:rPr>
              <a:t>Focus campaigns on low-performing states.</a:t>
            </a:r>
          </a:p>
        </p:txBody>
      </p:sp>
      <p:sp>
        <p:nvSpPr>
          <p:cNvPr id="8" name="AutoShape 8"/>
          <p:cNvSpPr/>
          <p:nvPr/>
        </p:nvSpPr>
        <p:spPr>
          <a:xfrm>
            <a:off x="609602" y="1399191"/>
            <a:ext cx="2793790" cy="523220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b">
            <a:spAutoFit/>
          </a:bodyPr>
          <a:lstStyle/>
          <a:p>
            <a:pPr marL="0" algn="ctr">
              <a:lnSpc>
                <a:spcPct val="100000"/>
              </a:lnSpc>
              <a:spcBef>
                <a:spcPct val="0"/>
              </a:spcBef>
            </a:pPr>
            <a:r>
              <a:rPr lang="zh-CN" altLang="en-US" sz="1400" b="1" i="0" u="none" baseline="0">
                <a:solidFill>
                  <a:srgbClr val="000000"/>
                </a:solidFill>
                <a:latin typeface="Arial"/>
                <a:ea typeface="Arial"/>
              </a:rPr>
              <a:t>Market Expansion</a:t>
            </a:r>
          </a:p>
        </p:txBody>
      </p:sp>
      <p:cxnSp>
        <p:nvCxnSpPr>
          <p:cNvPr id="9" name="Connector 9"/>
          <p:cNvCxnSpPr/>
          <p:nvPr/>
        </p:nvCxnSpPr>
        <p:spPr>
          <a:xfrm rot="10800000" flipH="1">
            <a:off x="3963878" y="2659586"/>
            <a:ext cx="0" cy="914281"/>
          </a:xfrm>
          <a:prstGeom prst="line">
            <a:avLst/>
          </a:prstGeom>
          <a:ln w="9525">
            <a:solidFill>
              <a:schemeClr val="accent2"/>
            </a:solidFill>
          </a:ln>
        </p:spPr>
      </p:cxnSp>
      <p:sp>
        <p:nvSpPr>
          <p:cNvPr id="10" name="AutoShape 10"/>
          <p:cNvSpPr/>
          <p:nvPr/>
        </p:nvSpPr>
        <p:spPr>
          <a:xfrm rot="10800000">
            <a:off x="3900378" y="2580513"/>
            <a:ext cx="127000" cy="1270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vert="horz" lIns="91440" tIns="45720" rIns="91440" bIns="45720" anchor="ctr">
            <a:normAutofit fontScale="25000" lnSpcReduction="20000"/>
          </a:bodyPr>
          <a:lstStyle/>
          <a:p>
            <a:pPr marL="0" algn="ctr"/>
            <a:endParaRPr/>
          </a:p>
        </p:txBody>
      </p:sp>
      <p:sp>
        <p:nvSpPr>
          <p:cNvPr id="11" name="Freeform 11"/>
          <p:cNvSpPr/>
          <p:nvPr/>
        </p:nvSpPr>
        <p:spPr>
          <a:xfrm>
            <a:off x="3652704" y="3573867"/>
            <a:ext cx="622349" cy="622349"/>
          </a:xfrm>
          <a:custGeom>
            <a:avLst/>
            <a:gdLst/>
            <a:ahLst/>
            <a:cxnLst/>
            <a:rect l="l" t="t" r="r" b="b"/>
            <a:pathLst>
              <a:path w="622349" h="622349">
                <a:moveTo>
                  <a:pt x="311175" y="0"/>
                </a:moveTo>
                <a:cubicBezTo>
                  <a:pt x="331976" y="0"/>
                  <a:pt x="352778" y="7936"/>
                  <a:pt x="368650" y="23807"/>
                </a:cubicBezTo>
                <a:lnTo>
                  <a:pt x="598542" y="253700"/>
                </a:lnTo>
                <a:cubicBezTo>
                  <a:pt x="630285" y="285442"/>
                  <a:pt x="630285" y="336907"/>
                  <a:pt x="598542" y="368650"/>
                </a:cubicBezTo>
                <a:lnTo>
                  <a:pt x="368650" y="598542"/>
                </a:lnTo>
                <a:cubicBezTo>
                  <a:pt x="336907" y="630285"/>
                  <a:pt x="285442" y="630285"/>
                  <a:pt x="253700" y="598542"/>
                </a:cubicBezTo>
                <a:lnTo>
                  <a:pt x="23807" y="368650"/>
                </a:lnTo>
                <a:cubicBezTo>
                  <a:pt x="-7936" y="336907"/>
                  <a:pt x="-7936" y="285442"/>
                  <a:pt x="23807" y="253700"/>
                </a:cubicBezTo>
                <a:lnTo>
                  <a:pt x="253700" y="23807"/>
                </a:lnTo>
                <a:cubicBezTo>
                  <a:pt x="269571" y="7936"/>
                  <a:pt x="290373" y="0"/>
                  <a:pt x="311175" y="0"/>
                </a:cubicBezTo>
                <a:close/>
              </a:path>
            </a:pathLst>
          </a:custGeom>
          <a:gradFill>
            <a:gsLst>
              <a:gs pos="0">
                <a:srgbClr val="C490BF">
                  <a:lumMod val="60000"/>
                  <a:lumOff val="40000"/>
                </a:srgbClr>
              </a:gs>
              <a:gs pos="60000">
                <a:srgbClr val="C490BF"/>
              </a:gs>
            </a:gsLst>
            <a:lin ang="5400000"/>
          </a:gradFill>
          <a:ln>
            <a:noFill/>
          </a:ln>
          <a:effectLst>
            <a:outerShdw blurRad="190500" dist="38100" dir="5400000" algn="t" rotWithShape="0">
              <a:schemeClr val="accent2">
                <a:alpha val="40000"/>
              </a:schemeClr>
            </a:outerShdw>
          </a:effectLst>
        </p:spPr>
        <p:txBody>
          <a:bodyPr vert="horz" wrap="square" lIns="91440" tIns="45720" rIns="91440" bIns="45720" anchor="ctr">
            <a:noAutofit/>
          </a:bodyPr>
          <a:lstStyle/>
          <a:p>
            <a:pPr marL="0" algn="ctr"/>
            <a:endParaRPr/>
          </a:p>
        </p:txBody>
      </p:sp>
      <p:sp>
        <p:nvSpPr>
          <p:cNvPr id="12" name="Freeform 12"/>
          <p:cNvSpPr/>
          <p:nvPr/>
        </p:nvSpPr>
        <p:spPr>
          <a:xfrm>
            <a:off x="3807018" y="3728183"/>
            <a:ext cx="313720" cy="313718"/>
          </a:xfrm>
          <a:custGeom>
            <a:avLst/>
            <a:gdLst/>
            <a:ahLst/>
            <a:cxnLst/>
            <a:rect l="l" t="t" r="r" b="b"/>
            <a:pathLst>
              <a:path w="12800" h="12800">
                <a:moveTo>
                  <a:pt x="10400" y="12800"/>
                </a:moveTo>
                <a:lnTo>
                  <a:pt x="2400" y="12800"/>
                </a:lnTo>
                <a:cubicBezTo>
                  <a:pt x="1074" y="12800"/>
                  <a:pt x="0" y="11725"/>
                  <a:pt x="0" y="10400"/>
                </a:cubicBezTo>
                <a:lnTo>
                  <a:pt x="0" y="2400"/>
                </a:lnTo>
                <a:cubicBezTo>
                  <a:pt x="0" y="1075"/>
                  <a:pt x="1075" y="0"/>
                  <a:pt x="2400" y="0"/>
                </a:cubicBezTo>
                <a:lnTo>
                  <a:pt x="10400" y="0"/>
                </a:lnTo>
                <a:cubicBezTo>
                  <a:pt x="11725" y="0"/>
                  <a:pt x="12800" y="1074"/>
                  <a:pt x="12800" y="2400"/>
                </a:cubicBezTo>
                <a:lnTo>
                  <a:pt x="12800" y="10400"/>
                </a:lnTo>
                <a:cubicBezTo>
                  <a:pt x="12800" y="11725"/>
                  <a:pt x="11725" y="12800"/>
                  <a:pt x="10400" y="12800"/>
                </a:cubicBezTo>
                <a:close/>
                <a:moveTo>
                  <a:pt x="2000" y="11200"/>
                </a:moveTo>
                <a:cubicBezTo>
                  <a:pt x="2221" y="11200"/>
                  <a:pt x="2400" y="11021"/>
                  <a:pt x="2400" y="10800"/>
                </a:cubicBezTo>
                <a:cubicBezTo>
                  <a:pt x="2400" y="10579"/>
                  <a:pt x="2221" y="10400"/>
                  <a:pt x="2000" y="10400"/>
                </a:cubicBezTo>
                <a:cubicBezTo>
                  <a:pt x="1779" y="10400"/>
                  <a:pt x="1600" y="10579"/>
                  <a:pt x="1600" y="10800"/>
                </a:cubicBezTo>
                <a:cubicBezTo>
                  <a:pt x="1600" y="11021"/>
                  <a:pt x="1779" y="11200"/>
                  <a:pt x="2000" y="11200"/>
                </a:cubicBezTo>
                <a:close/>
                <a:moveTo>
                  <a:pt x="2000" y="1600"/>
                </a:moveTo>
                <a:cubicBezTo>
                  <a:pt x="1779" y="1600"/>
                  <a:pt x="1600" y="1779"/>
                  <a:pt x="1600" y="2000"/>
                </a:cubicBezTo>
                <a:cubicBezTo>
                  <a:pt x="1600" y="2221"/>
                  <a:pt x="1779" y="2400"/>
                  <a:pt x="2000" y="2400"/>
                </a:cubicBezTo>
                <a:cubicBezTo>
                  <a:pt x="2221" y="2400"/>
                  <a:pt x="2400" y="2221"/>
                  <a:pt x="2400" y="2000"/>
                </a:cubicBezTo>
                <a:cubicBezTo>
                  <a:pt x="2400" y="1779"/>
                  <a:pt x="2221" y="1600"/>
                  <a:pt x="2000" y="1600"/>
                </a:cubicBezTo>
                <a:close/>
                <a:moveTo>
                  <a:pt x="10800" y="1600"/>
                </a:moveTo>
                <a:cubicBezTo>
                  <a:pt x="10580" y="1600"/>
                  <a:pt x="10400" y="1779"/>
                  <a:pt x="10400" y="2000"/>
                </a:cubicBezTo>
                <a:cubicBezTo>
                  <a:pt x="10400" y="2221"/>
                  <a:pt x="10580" y="2400"/>
                  <a:pt x="10800" y="2400"/>
                </a:cubicBezTo>
                <a:cubicBezTo>
                  <a:pt x="11020" y="2400"/>
                  <a:pt x="11200" y="2221"/>
                  <a:pt x="11200" y="2000"/>
                </a:cubicBezTo>
                <a:cubicBezTo>
                  <a:pt x="11200" y="1779"/>
                  <a:pt x="11020" y="1600"/>
                  <a:pt x="10800" y="1600"/>
                </a:cubicBezTo>
                <a:close/>
                <a:moveTo>
                  <a:pt x="8800" y="4000"/>
                </a:moveTo>
                <a:lnTo>
                  <a:pt x="4000" y="4000"/>
                </a:lnTo>
                <a:cubicBezTo>
                  <a:pt x="2675" y="4000"/>
                  <a:pt x="1600" y="5075"/>
                  <a:pt x="1600" y="6400"/>
                </a:cubicBezTo>
                <a:cubicBezTo>
                  <a:pt x="1600" y="7725"/>
                  <a:pt x="2674" y="8800"/>
                  <a:pt x="4000" y="8800"/>
                </a:cubicBezTo>
                <a:lnTo>
                  <a:pt x="8800" y="8800"/>
                </a:lnTo>
                <a:cubicBezTo>
                  <a:pt x="10125" y="8800"/>
                  <a:pt x="11200" y="7725"/>
                  <a:pt x="11200" y="6400"/>
                </a:cubicBezTo>
                <a:cubicBezTo>
                  <a:pt x="11200" y="5074"/>
                  <a:pt x="10125" y="4000"/>
                  <a:pt x="8800" y="4000"/>
                </a:cubicBezTo>
                <a:close/>
                <a:moveTo>
                  <a:pt x="10800" y="10400"/>
                </a:moveTo>
                <a:cubicBezTo>
                  <a:pt x="10580" y="10400"/>
                  <a:pt x="10400" y="10580"/>
                  <a:pt x="10400" y="10800"/>
                </a:cubicBezTo>
                <a:cubicBezTo>
                  <a:pt x="10400" y="11021"/>
                  <a:pt x="10580" y="11200"/>
                  <a:pt x="10800" y="11200"/>
                </a:cubicBezTo>
                <a:cubicBezTo>
                  <a:pt x="11020" y="11200"/>
                  <a:pt x="11200" y="11021"/>
                  <a:pt x="11200" y="10800"/>
                </a:cubicBezTo>
                <a:cubicBezTo>
                  <a:pt x="11200" y="10580"/>
                  <a:pt x="11020" y="10400"/>
                  <a:pt x="10800" y="10400"/>
                </a:cubicBezTo>
                <a:close/>
                <a:moveTo>
                  <a:pt x="4000" y="8000"/>
                </a:moveTo>
                <a:cubicBezTo>
                  <a:pt x="3117" y="8000"/>
                  <a:pt x="2400" y="7283"/>
                  <a:pt x="2400" y="6400"/>
                </a:cubicBezTo>
                <a:cubicBezTo>
                  <a:pt x="2400" y="5517"/>
                  <a:pt x="3117" y="4800"/>
                  <a:pt x="4000" y="4800"/>
                </a:cubicBezTo>
                <a:cubicBezTo>
                  <a:pt x="4883" y="4800"/>
                  <a:pt x="5600" y="5517"/>
                  <a:pt x="5600" y="6400"/>
                </a:cubicBezTo>
                <a:cubicBezTo>
                  <a:pt x="5600" y="7283"/>
                  <a:pt x="4883" y="8000"/>
                  <a:pt x="4000" y="800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vert="horz" lIns="91440" tIns="45720" rIns="91440" bIns="45720" anchor="ctr">
            <a:normAutofit fontScale="92500" lnSpcReduction="20000"/>
          </a:bodyPr>
          <a:lstStyle/>
          <a:p>
            <a:pPr marL="0" algn="ctr"/>
            <a:endParaRPr/>
          </a:p>
        </p:txBody>
      </p:sp>
      <p:sp>
        <p:nvSpPr>
          <p:cNvPr id="13" name="AutoShape 13"/>
          <p:cNvSpPr/>
          <p:nvPr/>
        </p:nvSpPr>
        <p:spPr>
          <a:xfrm>
            <a:off x="2645557" y="4906261"/>
            <a:ext cx="2793790" cy="1624740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t">
            <a:spAutoFit/>
          </a:bodyPr>
          <a:lstStyle/>
          <a:p>
            <a:pPr marL="0" algn="ctr">
              <a:lnSpc>
                <a:spcPct val="120000"/>
              </a:lnSpc>
            </a:pPr>
            <a:r>
              <a:rPr lang="zh-CN" altLang="en-US" sz="1200" b="0" i="0" u="none" baseline="0">
                <a:solidFill>
                  <a:srgbClr val="000000"/>
                </a:solidFill>
                <a:latin typeface="+mn-ea"/>
                <a:ea typeface="+mn-ea"/>
              </a:rPr>
              <a:t>Track quarterly transaction growth continuously.</a:t>
            </a:r>
          </a:p>
        </p:txBody>
      </p:sp>
      <p:sp>
        <p:nvSpPr>
          <p:cNvPr id="14" name="AutoShape 14"/>
          <p:cNvSpPr/>
          <p:nvPr/>
        </p:nvSpPr>
        <p:spPr>
          <a:xfrm>
            <a:off x="2645557" y="4324252"/>
            <a:ext cx="2793790" cy="523220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b">
            <a:spAutoFit/>
          </a:bodyPr>
          <a:lstStyle/>
          <a:p>
            <a:pPr marL="0" algn="ctr">
              <a:lnSpc>
                <a:spcPct val="100000"/>
              </a:lnSpc>
              <a:spcBef>
                <a:spcPct val="0"/>
              </a:spcBef>
            </a:pPr>
            <a:r>
              <a:rPr lang="zh-CN" altLang="en-US" sz="1400" b="1" i="0" u="none" baseline="0">
                <a:solidFill>
                  <a:srgbClr val="000000"/>
                </a:solidFill>
                <a:latin typeface="Arial"/>
                <a:ea typeface="Arial"/>
              </a:rPr>
              <a:t>Data Monitoring</a:t>
            </a:r>
          </a:p>
        </p:txBody>
      </p:sp>
      <p:cxnSp>
        <p:nvCxnSpPr>
          <p:cNvPr id="15" name="Connector 15"/>
          <p:cNvCxnSpPr/>
          <p:nvPr/>
        </p:nvCxnSpPr>
        <p:spPr>
          <a:xfrm flipH="1">
            <a:off x="6089649" y="4196215"/>
            <a:ext cx="0" cy="914281"/>
          </a:xfrm>
          <a:prstGeom prst="line">
            <a:avLst/>
          </a:prstGeom>
          <a:ln w="9525">
            <a:solidFill>
              <a:schemeClr val="accent3"/>
            </a:solidFill>
          </a:ln>
        </p:spPr>
      </p:cxnSp>
      <p:sp>
        <p:nvSpPr>
          <p:cNvPr id="16" name="AutoShape 16"/>
          <p:cNvSpPr/>
          <p:nvPr/>
        </p:nvSpPr>
        <p:spPr>
          <a:xfrm>
            <a:off x="6026149" y="5112462"/>
            <a:ext cx="127000" cy="12700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txBody>
          <a:bodyPr vert="horz" lIns="91440" tIns="45720" rIns="91440" bIns="45720" anchor="ctr">
            <a:normAutofit fontScale="25000" lnSpcReduction="20000"/>
          </a:bodyPr>
          <a:lstStyle/>
          <a:p>
            <a:pPr marL="0" algn="ctr"/>
            <a:endParaRPr/>
          </a:p>
        </p:txBody>
      </p:sp>
      <p:sp>
        <p:nvSpPr>
          <p:cNvPr id="17" name="Freeform 17"/>
          <p:cNvSpPr/>
          <p:nvPr/>
        </p:nvSpPr>
        <p:spPr>
          <a:xfrm>
            <a:off x="5778475" y="3573867"/>
            <a:ext cx="622349" cy="622349"/>
          </a:xfrm>
          <a:custGeom>
            <a:avLst/>
            <a:gdLst/>
            <a:ahLst/>
            <a:cxnLst/>
            <a:rect l="l" t="t" r="r" b="b"/>
            <a:pathLst>
              <a:path w="622349" h="622349">
                <a:moveTo>
                  <a:pt x="311175" y="0"/>
                </a:moveTo>
                <a:cubicBezTo>
                  <a:pt x="331976" y="0"/>
                  <a:pt x="352778" y="7936"/>
                  <a:pt x="368650" y="23807"/>
                </a:cubicBezTo>
                <a:lnTo>
                  <a:pt x="598542" y="253700"/>
                </a:lnTo>
                <a:cubicBezTo>
                  <a:pt x="630285" y="285442"/>
                  <a:pt x="630285" y="336907"/>
                  <a:pt x="598542" y="368650"/>
                </a:cubicBezTo>
                <a:lnTo>
                  <a:pt x="368650" y="598542"/>
                </a:lnTo>
                <a:cubicBezTo>
                  <a:pt x="336907" y="630285"/>
                  <a:pt x="285442" y="630285"/>
                  <a:pt x="253700" y="598542"/>
                </a:cubicBezTo>
                <a:lnTo>
                  <a:pt x="23807" y="368650"/>
                </a:lnTo>
                <a:cubicBezTo>
                  <a:pt x="-7936" y="336907"/>
                  <a:pt x="-7936" y="285442"/>
                  <a:pt x="23807" y="253700"/>
                </a:cubicBezTo>
                <a:lnTo>
                  <a:pt x="253700" y="23807"/>
                </a:lnTo>
                <a:cubicBezTo>
                  <a:pt x="269571" y="7936"/>
                  <a:pt x="290373" y="0"/>
                  <a:pt x="311175" y="0"/>
                </a:cubicBezTo>
                <a:close/>
              </a:path>
            </a:pathLst>
          </a:custGeom>
          <a:gradFill>
            <a:gsLst>
              <a:gs pos="0">
                <a:srgbClr val="F29C9F">
                  <a:lumMod val="60000"/>
                  <a:lumOff val="40000"/>
                </a:srgbClr>
              </a:gs>
              <a:gs pos="60000">
                <a:srgbClr val="F29C9F"/>
              </a:gs>
            </a:gsLst>
            <a:lin ang="5400000"/>
          </a:gradFill>
          <a:ln>
            <a:noFill/>
          </a:ln>
          <a:effectLst>
            <a:outerShdw blurRad="190500" dist="38100" dir="5400000" algn="t" rotWithShape="0">
              <a:schemeClr val="accent3">
                <a:alpha val="40000"/>
              </a:schemeClr>
            </a:outerShdw>
          </a:effectLst>
        </p:spPr>
        <p:txBody>
          <a:bodyPr vert="horz" wrap="square" lIns="91440" tIns="45720" rIns="91440" bIns="45720" anchor="ctr">
            <a:noAutofit/>
          </a:bodyPr>
          <a:lstStyle/>
          <a:p>
            <a:pPr marL="0" algn="ctr"/>
            <a:endParaRPr/>
          </a:p>
        </p:txBody>
      </p:sp>
      <p:sp>
        <p:nvSpPr>
          <p:cNvPr id="18" name="Freeform 18"/>
          <p:cNvSpPr/>
          <p:nvPr/>
        </p:nvSpPr>
        <p:spPr>
          <a:xfrm>
            <a:off x="5932789" y="3752233"/>
            <a:ext cx="313720" cy="313246"/>
          </a:xfrm>
          <a:custGeom>
            <a:avLst/>
            <a:gdLst/>
            <a:ahLst/>
            <a:cxnLst/>
            <a:rect l="l" t="t" r="r" b="b"/>
            <a:pathLst>
              <a:path w="607639" h="606722">
                <a:moveTo>
                  <a:pt x="278498" y="176949"/>
                </a:moveTo>
                <a:lnTo>
                  <a:pt x="278498" y="278058"/>
                </a:lnTo>
                <a:lnTo>
                  <a:pt x="354417" y="227504"/>
                </a:lnTo>
                <a:close/>
                <a:moveTo>
                  <a:pt x="303775" y="151716"/>
                </a:moveTo>
                <a:cubicBezTo>
                  <a:pt x="345695" y="151716"/>
                  <a:pt x="379783" y="185745"/>
                  <a:pt x="379783" y="227504"/>
                </a:cubicBezTo>
                <a:cubicBezTo>
                  <a:pt x="379783" y="269262"/>
                  <a:pt x="345695" y="303291"/>
                  <a:pt x="303775" y="303291"/>
                </a:cubicBezTo>
                <a:cubicBezTo>
                  <a:pt x="261944" y="303291"/>
                  <a:pt x="227856" y="269262"/>
                  <a:pt x="227856" y="227504"/>
                </a:cubicBezTo>
                <a:cubicBezTo>
                  <a:pt x="227856" y="185745"/>
                  <a:pt x="261944" y="151716"/>
                  <a:pt x="303775" y="151716"/>
                </a:cubicBezTo>
                <a:close/>
                <a:moveTo>
                  <a:pt x="303775" y="101135"/>
                </a:moveTo>
                <a:cubicBezTo>
                  <a:pt x="233995" y="101135"/>
                  <a:pt x="177210" y="157835"/>
                  <a:pt x="177210" y="227510"/>
                </a:cubicBezTo>
                <a:cubicBezTo>
                  <a:pt x="177210" y="297185"/>
                  <a:pt x="233995" y="353884"/>
                  <a:pt x="303775" y="353884"/>
                </a:cubicBezTo>
                <a:cubicBezTo>
                  <a:pt x="373644" y="353884"/>
                  <a:pt x="430430" y="297185"/>
                  <a:pt x="430430" y="227510"/>
                </a:cubicBezTo>
                <a:cubicBezTo>
                  <a:pt x="430430" y="157835"/>
                  <a:pt x="373644" y="101135"/>
                  <a:pt x="303775" y="101135"/>
                </a:cubicBezTo>
                <a:close/>
                <a:moveTo>
                  <a:pt x="25277" y="0"/>
                </a:moveTo>
                <a:lnTo>
                  <a:pt x="582272" y="0"/>
                </a:lnTo>
                <a:cubicBezTo>
                  <a:pt x="596335" y="0"/>
                  <a:pt x="607639" y="11287"/>
                  <a:pt x="607639" y="25239"/>
                </a:cubicBezTo>
                <a:cubicBezTo>
                  <a:pt x="607639" y="39192"/>
                  <a:pt x="596335" y="50568"/>
                  <a:pt x="582272" y="50568"/>
                </a:cubicBezTo>
                <a:lnTo>
                  <a:pt x="582272" y="455019"/>
                </a:lnTo>
                <a:lnTo>
                  <a:pt x="329142" y="455019"/>
                </a:lnTo>
                <a:lnTo>
                  <a:pt x="329142" y="512608"/>
                </a:lnTo>
                <a:cubicBezTo>
                  <a:pt x="344183" y="521317"/>
                  <a:pt x="354419" y="537492"/>
                  <a:pt x="354419" y="556155"/>
                </a:cubicBezTo>
                <a:cubicBezTo>
                  <a:pt x="354419" y="584060"/>
                  <a:pt x="331812" y="606722"/>
                  <a:pt x="303775" y="606722"/>
                </a:cubicBezTo>
                <a:cubicBezTo>
                  <a:pt x="275827" y="606722"/>
                  <a:pt x="253131" y="584060"/>
                  <a:pt x="253131" y="556155"/>
                </a:cubicBezTo>
                <a:cubicBezTo>
                  <a:pt x="253131" y="537492"/>
                  <a:pt x="263456" y="521317"/>
                  <a:pt x="278498" y="512608"/>
                </a:cubicBezTo>
                <a:lnTo>
                  <a:pt x="278498" y="455019"/>
                </a:lnTo>
                <a:lnTo>
                  <a:pt x="25277" y="455019"/>
                </a:lnTo>
                <a:lnTo>
                  <a:pt x="25277" y="50568"/>
                </a:lnTo>
                <a:cubicBezTo>
                  <a:pt x="11304" y="50568"/>
                  <a:pt x="0" y="39192"/>
                  <a:pt x="0" y="25239"/>
                </a:cubicBezTo>
                <a:cubicBezTo>
                  <a:pt x="0" y="11287"/>
                  <a:pt x="11304" y="0"/>
                  <a:pt x="25277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vert="horz" lIns="91440" tIns="45720" rIns="91440" bIns="45720" anchor="ctr">
            <a:normAutofit fontScale="92500" lnSpcReduction="20000"/>
          </a:bodyPr>
          <a:lstStyle/>
          <a:p>
            <a:pPr marL="0" algn="ctr"/>
            <a:endParaRPr/>
          </a:p>
        </p:txBody>
      </p:sp>
      <p:sp>
        <p:nvSpPr>
          <p:cNvPr id="19" name="AutoShape 19"/>
          <p:cNvSpPr/>
          <p:nvPr/>
        </p:nvSpPr>
        <p:spPr>
          <a:xfrm>
            <a:off x="4774090" y="1981200"/>
            <a:ext cx="2793790" cy="1624740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t">
            <a:spAutoFit/>
          </a:bodyPr>
          <a:lstStyle/>
          <a:p>
            <a:pPr marL="0" algn="ctr">
              <a:lnSpc>
                <a:spcPct val="120000"/>
              </a:lnSpc>
            </a:pPr>
            <a:r>
              <a:rPr lang="zh-CN" altLang="en-US" sz="1200" b="0" i="0" u="none" baseline="0">
                <a:solidFill>
                  <a:srgbClr val="000000"/>
                </a:solidFill>
                <a:latin typeface="+mn-ea"/>
                <a:ea typeface="+mn-ea"/>
              </a:rPr>
              <a:t>Target districts with lower user penetration.</a:t>
            </a:r>
          </a:p>
        </p:txBody>
      </p:sp>
      <p:sp>
        <p:nvSpPr>
          <p:cNvPr id="20" name="AutoShape 20"/>
          <p:cNvSpPr/>
          <p:nvPr/>
        </p:nvSpPr>
        <p:spPr>
          <a:xfrm>
            <a:off x="4774090" y="1399191"/>
            <a:ext cx="2793790" cy="523220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b">
            <a:spAutoFit/>
          </a:bodyPr>
          <a:lstStyle/>
          <a:p>
            <a:pPr marL="0" algn="ctr">
              <a:lnSpc>
                <a:spcPct val="100000"/>
              </a:lnSpc>
              <a:spcBef>
                <a:spcPct val="0"/>
              </a:spcBef>
            </a:pPr>
            <a:r>
              <a:rPr lang="zh-CN" altLang="en-US" sz="1400" b="1" i="0" u="none" baseline="0">
                <a:solidFill>
                  <a:srgbClr val="000000"/>
                </a:solidFill>
                <a:latin typeface="Arial"/>
                <a:ea typeface="Arial"/>
              </a:rPr>
              <a:t>Customer Growth</a:t>
            </a:r>
          </a:p>
        </p:txBody>
      </p:sp>
      <p:cxnSp>
        <p:nvCxnSpPr>
          <p:cNvPr id="21" name="Connector 21"/>
          <p:cNvCxnSpPr/>
          <p:nvPr/>
        </p:nvCxnSpPr>
        <p:spPr>
          <a:xfrm flipH="1" flipV="1">
            <a:off x="8215423" y="2659587"/>
            <a:ext cx="0" cy="914281"/>
          </a:xfrm>
          <a:prstGeom prst="line">
            <a:avLst/>
          </a:prstGeom>
          <a:ln w="9525">
            <a:solidFill>
              <a:schemeClr val="accent4"/>
            </a:solidFill>
          </a:ln>
        </p:spPr>
      </p:cxnSp>
      <p:sp>
        <p:nvSpPr>
          <p:cNvPr id="22" name="AutoShape 22"/>
          <p:cNvSpPr/>
          <p:nvPr/>
        </p:nvSpPr>
        <p:spPr>
          <a:xfrm rot="10800000">
            <a:off x="8151923" y="2580513"/>
            <a:ext cx="127000" cy="127000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txBody>
          <a:bodyPr vert="horz" lIns="91440" tIns="45720" rIns="91440" bIns="45720" anchor="ctr">
            <a:normAutofit fontScale="25000" lnSpcReduction="20000"/>
          </a:bodyPr>
          <a:lstStyle/>
          <a:p>
            <a:pPr marL="0" algn="ctr"/>
            <a:endParaRPr/>
          </a:p>
        </p:txBody>
      </p:sp>
      <p:sp>
        <p:nvSpPr>
          <p:cNvPr id="23" name="Freeform 23"/>
          <p:cNvSpPr/>
          <p:nvPr/>
        </p:nvSpPr>
        <p:spPr>
          <a:xfrm>
            <a:off x="7904248" y="3573867"/>
            <a:ext cx="622349" cy="622349"/>
          </a:xfrm>
          <a:custGeom>
            <a:avLst/>
            <a:gdLst/>
            <a:ahLst/>
            <a:cxnLst/>
            <a:rect l="l" t="t" r="r" b="b"/>
            <a:pathLst>
              <a:path w="622349" h="622349">
                <a:moveTo>
                  <a:pt x="311175" y="0"/>
                </a:moveTo>
                <a:cubicBezTo>
                  <a:pt x="331976" y="0"/>
                  <a:pt x="352778" y="7936"/>
                  <a:pt x="368650" y="23807"/>
                </a:cubicBezTo>
                <a:lnTo>
                  <a:pt x="598542" y="253700"/>
                </a:lnTo>
                <a:cubicBezTo>
                  <a:pt x="630285" y="285442"/>
                  <a:pt x="630285" y="336907"/>
                  <a:pt x="598542" y="368650"/>
                </a:cubicBezTo>
                <a:lnTo>
                  <a:pt x="368650" y="598542"/>
                </a:lnTo>
                <a:cubicBezTo>
                  <a:pt x="336907" y="630285"/>
                  <a:pt x="285442" y="630285"/>
                  <a:pt x="253700" y="598542"/>
                </a:cubicBezTo>
                <a:lnTo>
                  <a:pt x="23807" y="368650"/>
                </a:lnTo>
                <a:cubicBezTo>
                  <a:pt x="-7936" y="336907"/>
                  <a:pt x="-7936" y="285442"/>
                  <a:pt x="23807" y="253700"/>
                </a:cubicBezTo>
                <a:lnTo>
                  <a:pt x="253700" y="23807"/>
                </a:lnTo>
                <a:cubicBezTo>
                  <a:pt x="269571" y="7936"/>
                  <a:pt x="290373" y="0"/>
                  <a:pt x="311175" y="0"/>
                </a:cubicBezTo>
                <a:close/>
              </a:path>
            </a:pathLst>
          </a:custGeom>
          <a:gradFill>
            <a:gsLst>
              <a:gs pos="0">
                <a:srgbClr val="F29C9F">
                  <a:lumMod val="60000"/>
                  <a:lumOff val="40000"/>
                </a:srgbClr>
              </a:gs>
              <a:gs pos="60000">
                <a:srgbClr val="F29C9F"/>
              </a:gs>
            </a:gsLst>
            <a:lin ang="5400000"/>
          </a:gradFill>
          <a:ln>
            <a:noFill/>
          </a:ln>
          <a:effectLst>
            <a:outerShdw blurRad="190500" dist="38100" dir="5400000" algn="t" rotWithShape="0">
              <a:schemeClr val="accent4">
                <a:alpha val="40000"/>
              </a:schemeClr>
            </a:outerShdw>
          </a:effectLst>
        </p:spPr>
        <p:txBody>
          <a:bodyPr vert="horz" wrap="square" lIns="91440" tIns="45720" rIns="91440" bIns="45720" anchor="ctr">
            <a:noAutofit/>
          </a:bodyPr>
          <a:lstStyle/>
          <a:p>
            <a:pPr marL="0" algn="ctr"/>
            <a:endParaRPr/>
          </a:p>
        </p:txBody>
      </p:sp>
      <p:sp>
        <p:nvSpPr>
          <p:cNvPr id="24" name="Freeform 24"/>
          <p:cNvSpPr/>
          <p:nvPr/>
        </p:nvSpPr>
        <p:spPr>
          <a:xfrm>
            <a:off x="8058562" y="3757169"/>
            <a:ext cx="313720" cy="255744"/>
          </a:xfrm>
          <a:custGeom>
            <a:avLst/>
            <a:gdLst/>
            <a:ahLst/>
            <a:cxnLst/>
            <a:rect l="l" t="t" r="r" b="b"/>
            <a:pathLst>
              <a:path w="609050" h="496498">
                <a:moveTo>
                  <a:pt x="462995" y="212386"/>
                </a:moveTo>
                <a:cubicBezTo>
                  <a:pt x="443740" y="212386"/>
                  <a:pt x="427967" y="227927"/>
                  <a:pt x="427967" y="247353"/>
                </a:cubicBezTo>
                <a:cubicBezTo>
                  <a:pt x="427967" y="266574"/>
                  <a:pt x="443740" y="282320"/>
                  <a:pt x="462995" y="282320"/>
                </a:cubicBezTo>
                <a:cubicBezTo>
                  <a:pt x="482456" y="282320"/>
                  <a:pt x="498024" y="266574"/>
                  <a:pt x="498024" y="247353"/>
                </a:cubicBezTo>
                <a:cubicBezTo>
                  <a:pt x="498024" y="227927"/>
                  <a:pt x="482456" y="212386"/>
                  <a:pt x="462995" y="212386"/>
                </a:cubicBezTo>
                <a:close/>
                <a:moveTo>
                  <a:pt x="407072" y="171897"/>
                </a:moveTo>
                <a:lnTo>
                  <a:pt x="579143" y="171897"/>
                </a:lnTo>
                <a:cubicBezTo>
                  <a:pt x="595735" y="171897"/>
                  <a:pt x="609050" y="185393"/>
                  <a:pt x="609050" y="201957"/>
                </a:cubicBezTo>
                <a:lnTo>
                  <a:pt x="609050" y="291931"/>
                </a:lnTo>
                <a:cubicBezTo>
                  <a:pt x="609050" y="308494"/>
                  <a:pt x="595735" y="321990"/>
                  <a:pt x="579143" y="321990"/>
                </a:cubicBezTo>
                <a:lnTo>
                  <a:pt x="407072" y="321990"/>
                </a:lnTo>
                <a:cubicBezTo>
                  <a:pt x="390480" y="321990"/>
                  <a:pt x="376960" y="308494"/>
                  <a:pt x="376960" y="291931"/>
                </a:cubicBezTo>
                <a:lnTo>
                  <a:pt x="376960" y="201957"/>
                </a:lnTo>
                <a:cubicBezTo>
                  <a:pt x="376960" y="185393"/>
                  <a:pt x="390480" y="171897"/>
                  <a:pt x="407072" y="171897"/>
                </a:cubicBezTo>
                <a:close/>
                <a:moveTo>
                  <a:pt x="41796" y="0"/>
                </a:moveTo>
                <a:lnTo>
                  <a:pt x="519985" y="0"/>
                </a:lnTo>
                <a:cubicBezTo>
                  <a:pt x="542521" y="0"/>
                  <a:pt x="559936" y="18412"/>
                  <a:pt x="559936" y="40915"/>
                </a:cubicBezTo>
                <a:lnTo>
                  <a:pt x="559936" y="130927"/>
                </a:lnTo>
                <a:lnTo>
                  <a:pt x="337437" y="130927"/>
                </a:lnTo>
                <a:lnTo>
                  <a:pt x="337847" y="362912"/>
                </a:lnTo>
                <a:lnTo>
                  <a:pt x="559936" y="362912"/>
                </a:lnTo>
                <a:lnTo>
                  <a:pt x="559936" y="455584"/>
                </a:lnTo>
                <a:cubicBezTo>
                  <a:pt x="559936" y="478087"/>
                  <a:pt x="542521" y="496498"/>
                  <a:pt x="519985" y="496498"/>
                </a:cubicBezTo>
                <a:lnTo>
                  <a:pt x="41796" y="496498"/>
                </a:lnTo>
                <a:cubicBezTo>
                  <a:pt x="19259" y="496498"/>
                  <a:pt x="0" y="478087"/>
                  <a:pt x="0" y="455584"/>
                </a:cubicBezTo>
                <a:lnTo>
                  <a:pt x="0" y="40915"/>
                </a:lnTo>
                <a:cubicBezTo>
                  <a:pt x="0" y="18412"/>
                  <a:pt x="19259" y="0"/>
                  <a:pt x="41796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vert="horz" lIns="91440" tIns="45720" rIns="91440" bIns="45720" anchor="ctr">
            <a:normAutofit fontScale="70000" lnSpcReduction="20000"/>
          </a:bodyPr>
          <a:lstStyle/>
          <a:p>
            <a:pPr marL="0" algn="ctr"/>
            <a:endParaRPr/>
          </a:p>
        </p:txBody>
      </p:sp>
      <p:sp>
        <p:nvSpPr>
          <p:cNvPr id="25" name="AutoShape 25"/>
          <p:cNvSpPr/>
          <p:nvPr/>
        </p:nvSpPr>
        <p:spPr>
          <a:xfrm>
            <a:off x="6899862" y="4867862"/>
            <a:ext cx="2793790" cy="1624740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t">
            <a:spAutoFit/>
          </a:bodyPr>
          <a:lstStyle/>
          <a:p>
            <a:pPr marL="0" algn="ctr">
              <a:lnSpc>
                <a:spcPct val="120000"/>
              </a:lnSpc>
            </a:pPr>
            <a:r>
              <a:rPr lang="zh-CN" altLang="en-US" sz="1200" b="0" i="0" u="none" baseline="0">
                <a:solidFill>
                  <a:srgbClr val="000000"/>
                </a:solidFill>
                <a:latin typeface="+mn-ea"/>
                <a:ea typeface="+mn-ea"/>
              </a:rPr>
              <a:t>Use mobile brand analytics for targeted partnerships.</a:t>
            </a:r>
          </a:p>
        </p:txBody>
      </p:sp>
      <p:sp>
        <p:nvSpPr>
          <p:cNvPr id="26" name="AutoShape 26"/>
          <p:cNvSpPr/>
          <p:nvPr/>
        </p:nvSpPr>
        <p:spPr>
          <a:xfrm>
            <a:off x="6899862" y="4285853"/>
            <a:ext cx="2793790" cy="523220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b">
            <a:spAutoFit/>
          </a:bodyPr>
          <a:lstStyle/>
          <a:p>
            <a:pPr marL="0" algn="ctr">
              <a:lnSpc>
                <a:spcPct val="100000"/>
              </a:lnSpc>
              <a:spcBef>
                <a:spcPct val="0"/>
              </a:spcBef>
            </a:pPr>
            <a:r>
              <a:rPr lang="zh-CN" altLang="en-US" sz="1400" b="1" i="0" u="none" baseline="0">
                <a:solidFill>
                  <a:srgbClr val="000000"/>
                </a:solidFill>
                <a:latin typeface="Arial"/>
                <a:ea typeface="Arial"/>
              </a:rPr>
              <a:t>Product Strategy</a:t>
            </a:r>
          </a:p>
        </p:txBody>
      </p:sp>
      <p:cxnSp>
        <p:nvCxnSpPr>
          <p:cNvPr id="27" name="Connector 27"/>
          <p:cNvCxnSpPr/>
          <p:nvPr/>
        </p:nvCxnSpPr>
        <p:spPr>
          <a:xfrm flipH="1">
            <a:off x="10254138" y="4196215"/>
            <a:ext cx="0" cy="914281"/>
          </a:xfrm>
          <a:prstGeom prst="line">
            <a:avLst/>
          </a:prstGeom>
          <a:ln w="9525">
            <a:solidFill>
              <a:schemeClr val="accent5"/>
            </a:solidFill>
          </a:ln>
        </p:spPr>
      </p:cxnSp>
      <p:sp>
        <p:nvSpPr>
          <p:cNvPr id="28" name="AutoShape 28"/>
          <p:cNvSpPr/>
          <p:nvPr/>
        </p:nvSpPr>
        <p:spPr>
          <a:xfrm>
            <a:off x="10190638" y="5112462"/>
            <a:ext cx="127000" cy="127000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txBody>
          <a:bodyPr vert="horz" lIns="91440" tIns="45720" rIns="91440" bIns="45720" anchor="ctr">
            <a:normAutofit fontScale="25000" lnSpcReduction="20000"/>
          </a:bodyPr>
          <a:lstStyle/>
          <a:p>
            <a:pPr marL="0" algn="ctr"/>
            <a:endParaRPr/>
          </a:p>
        </p:txBody>
      </p:sp>
      <p:sp>
        <p:nvSpPr>
          <p:cNvPr id="29" name="Freeform 29"/>
          <p:cNvSpPr/>
          <p:nvPr/>
        </p:nvSpPr>
        <p:spPr>
          <a:xfrm>
            <a:off x="9942964" y="3573867"/>
            <a:ext cx="622349" cy="622349"/>
          </a:xfrm>
          <a:custGeom>
            <a:avLst/>
            <a:gdLst/>
            <a:ahLst/>
            <a:cxnLst/>
            <a:rect l="l" t="t" r="r" b="b"/>
            <a:pathLst>
              <a:path w="622349" h="622349">
                <a:moveTo>
                  <a:pt x="311175" y="0"/>
                </a:moveTo>
                <a:cubicBezTo>
                  <a:pt x="331976" y="0"/>
                  <a:pt x="352778" y="7936"/>
                  <a:pt x="368650" y="23807"/>
                </a:cubicBezTo>
                <a:lnTo>
                  <a:pt x="598542" y="253700"/>
                </a:lnTo>
                <a:cubicBezTo>
                  <a:pt x="630285" y="285442"/>
                  <a:pt x="630285" y="336907"/>
                  <a:pt x="598542" y="368650"/>
                </a:cubicBezTo>
                <a:lnTo>
                  <a:pt x="368650" y="598542"/>
                </a:lnTo>
                <a:cubicBezTo>
                  <a:pt x="336907" y="630285"/>
                  <a:pt x="285442" y="630285"/>
                  <a:pt x="253700" y="598542"/>
                </a:cubicBezTo>
                <a:lnTo>
                  <a:pt x="23807" y="368650"/>
                </a:lnTo>
                <a:cubicBezTo>
                  <a:pt x="-7936" y="336907"/>
                  <a:pt x="-7936" y="285442"/>
                  <a:pt x="23807" y="253700"/>
                </a:cubicBezTo>
                <a:lnTo>
                  <a:pt x="253700" y="23807"/>
                </a:lnTo>
                <a:cubicBezTo>
                  <a:pt x="269571" y="7936"/>
                  <a:pt x="290373" y="0"/>
                  <a:pt x="311175" y="0"/>
                </a:cubicBezTo>
                <a:close/>
              </a:path>
            </a:pathLst>
          </a:custGeom>
          <a:gradFill>
            <a:gsLst>
              <a:gs pos="0">
                <a:srgbClr val="BBCCE9">
                  <a:lumMod val="60000"/>
                  <a:lumOff val="40000"/>
                </a:srgbClr>
              </a:gs>
              <a:gs pos="60000">
                <a:srgbClr val="BBCCE9"/>
              </a:gs>
            </a:gsLst>
            <a:lin ang="5400000"/>
          </a:gradFill>
          <a:ln>
            <a:noFill/>
          </a:ln>
          <a:effectLst>
            <a:outerShdw blurRad="190500" dist="38100" dir="5400000" algn="t" rotWithShape="0">
              <a:schemeClr val="accent5">
                <a:alpha val="40000"/>
              </a:schemeClr>
            </a:outerShdw>
          </a:effectLst>
        </p:spPr>
        <p:txBody>
          <a:bodyPr vert="horz" wrap="square" lIns="91440" tIns="45720" rIns="91440" bIns="45720" anchor="ctr">
            <a:noAutofit/>
          </a:bodyPr>
          <a:lstStyle/>
          <a:p>
            <a:pPr marL="0" algn="ctr"/>
            <a:endParaRPr/>
          </a:p>
        </p:txBody>
      </p:sp>
      <p:sp>
        <p:nvSpPr>
          <p:cNvPr id="30" name="Freeform 30"/>
          <p:cNvSpPr/>
          <p:nvPr/>
        </p:nvSpPr>
        <p:spPr>
          <a:xfrm>
            <a:off x="10192275" y="3728183"/>
            <a:ext cx="123726" cy="313718"/>
          </a:xfrm>
          <a:custGeom>
            <a:avLst/>
            <a:gdLst/>
            <a:ahLst/>
            <a:cxnLst/>
            <a:rect l="l" t="t" r="r" b="b"/>
            <a:pathLst>
              <a:path w="237836" h="603052">
                <a:moveTo>
                  <a:pt x="33391" y="164488"/>
                </a:moveTo>
                <a:lnTo>
                  <a:pt x="204445" y="164488"/>
                </a:lnTo>
                <a:lnTo>
                  <a:pt x="237667" y="462986"/>
                </a:lnTo>
                <a:cubicBezTo>
                  <a:pt x="238491" y="470386"/>
                  <a:pt x="236295" y="477787"/>
                  <a:pt x="231490" y="483543"/>
                </a:cubicBezTo>
                <a:lnTo>
                  <a:pt x="140060" y="593184"/>
                </a:lnTo>
                <a:cubicBezTo>
                  <a:pt x="134843" y="599489"/>
                  <a:pt x="127018" y="603052"/>
                  <a:pt x="118918" y="603052"/>
                </a:cubicBezTo>
                <a:cubicBezTo>
                  <a:pt x="110818" y="603052"/>
                  <a:pt x="102993" y="599489"/>
                  <a:pt x="97777" y="593184"/>
                </a:cubicBezTo>
                <a:lnTo>
                  <a:pt x="6346" y="483543"/>
                </a:lnTo>
                <a:cubicBezTo>
                  <a:pt x="1542" y="477787"/>
                  <a:pt x="-655" y="470386"/>
                  <a:pt x="169" y="462986"/>
                </a:cubicBezTo>
                <a:close/>
                <a:moveTo>
                  <a:pt x="45754" y="0"/>
                </a:moveTo>
                <a:lnTo>
                  <a:pt x="192082" y="0"/>
                </a:lnTo>
                <a:cubicBezTo>
                  <a:pt x="200181" y="0"/>
                  <a:pt x="207868" y="3564"/>
                  <a:pt x="213085" y="9732"/>
                </a:cubicBezTo>
                <a:cubicBezTo>
                  <a:pt x="218301" y="15901"/>
                  <a:pt x="220497" y="23988"/>
                  <a:pt x="219262" y="31938"/>
                </a:cubicBezTo>
                <a:lnTo>
                  <a:pt x="206221" y="109659"/>
                </a:lnTo>
                <a:lnTo>
                  <a:pt x="31615" y="109659"/>
                </a:lnTo>
                <a:lnTo>
                  <a:pt x="18574" y="31938"/>
                </a:lnTo>
                <a:cubicBezTo>
                  <a:pt x="17339" y="23988"/>
                  <a:pt x="19535" y="15901"/>
                  <a:pt x="24752" y="9732"/>
                </a:cubicBezTo>
                <a:cubicBezTo>
                  <a:pt x="29968" y="3564"/>
                  <a:pt x="37655" y="0"/>
                  <a:pt x="45754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vert="horz" lIns="91440" tIns="45720" rIns="91440" bIns="45720" anchor="ctr">
            <a:normAutofit fontScale="92500" lnSpcReduction="20000"/>
          </a:bodyPr>
          <a:lstStyle/>
          <a:p>
            <a:pPr marL="0" algn="ctr"/>
            <a:endParaRPr/>
          </a:p>
        </p:txBody>
      </p:sp>
      <p:sp>
        <p:nvSpPr>
          <p:cNvPr id="31" name="AutoShape 31"/>
          <p:cNvSpPr/>
          <p:nvPr/>
        </p:nvSpPr>
        <p:spPr>
          <a:xfrm>
            <a:off x="8938579" y="1981200"/>
            <a:ext cx="2793790" cy="1624740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t">
            <a:spAutoFit/>
          </a:bodyPr>
          <a:lstStyle/>
          <a:p>
            <a:pPr marL="0" algn="ctr">
              <a:lnSpc>
                <a:spcPct val="120000"/>
              </a:lnSpc>
            </a:pPr>
            <a:r>
              <a:rPr lang="zh-CN" altLang="en-US" sz="1200" b="0" i="0" u="none" baseline="0">
                <a:solidFill>
                  <a:srgbClr val="000000"/>
                </a:solidFill>
                <a:latin typeface="+mn-ea"/>
                <a:ea typeface="+mn-ea"/>
              </a:rPr>
              <a:t>Introduce region-specific reward programs.</a:t>
            </a:r>
          </a:p>
        </p:txBody>
      </p:sp>
      <p:sp>
        <p:nvSpPr>
          <p:cNvPr id="32" name="AutoShape 32"/>
          <p:cNvSpPr/>
          <p:nvPr/>
        </p:nvSpPr>
        <p:spPr>
          <a:xfrm>
            <a:off x="8938579" y="1399191"/>
            <a:ext cx="2793790" cy="523220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b">
            <a:spAutoFit/>
          </a:bodyPr>
          <a:lstStyle/>
          <a:p>
            <a:pPr marL="0" algn="ctr">
              <a:lnSpc>
                <a:spcPct val="100000"/>
              </a:lnSpc>
              <a:spcBef>
                <a:spcPct val="0"/>
              </a:spcBef>
            </a:pPr>
            <a:r>
              <a:rPr lang="zh-CN" altLang="en-US" sz="1400" b="1" i="0" u="none" baseline="0">
                <a:solidFill>
                  <a:srgbClr val="000000"/>
                </a:solidFill>
                <a:latin typeface="Arial"/>
                <a:ea typeface="Arial"/>
              </a:rPr>
              <a:t>User Engagement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669924" y="1"/>
            <a:ext cx="10850563" cy="1028699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 marL="0" algn="l">
              <a:lnSpc>
                <a:spcPct val="90000"/>
              </a:lnSpc>
              <a:spcBef>
                <a:spcPct val="0"/>
              </a:spcBef>
              <a:defRPr/>
            </a:pPr>
            <a:r>
              <a:rPr lang="zh-CN" altLang="en-US" sz="2800" b="1" i="0" u="none" baseline="0">
                <a:solidFill>
                  <a:srgbClr val="000000"/>
                </a:solidFill>
                <a:latin typeface="微软雅黑"/>
                <a:ea typeface="微软雅黑"/>
              </a:rPr>
              <a:t>Business Recommendations</a:t>
            </a:r>
            <a:endParaRPr lang="en-US" sz="1100"/>
          </a:p>
        </p:txBody>
      </p:sp>
      <p:sp>
        <p:nvSpPr>
          <p:cNvPr id="34" name="TextBox 34"/>
          <p:cNvSpPr txBox="1"/>
          <p:nvPr/>
        </p:nvSpPr>
        <p:spPr>
          <a:xfrm>
            <a:off x="2169994" y="2306472"/>
            <a:ext cx="184731" cy="369332"/>
          </a:xfrm>
          <a:prstGeom prst="rect">
            <a:avLst/>
          </a:prstGeom>
          <a:noFill/>
        </p:spPr>
        <p:txBody>
          <a:bodyPr vert="horz" wrap="none" lIns="91440" tIns="45720" rIns="91440" bIns="45720" rtlCol="0" anchor="t">
            <a:spAutoFit/>
          </a:bodyPr>
          <a:lstStyle/>
          <a:p>
            <a:pPr marL="0" algn="l">
              <a:defRPr/>
            </a:pPr>
            <a:endParaRPr lang="en-US" sz="1100"/>
          </a:p>
        </p:txBody>
      </p:sp>
      <p:pic>
        <p:nvPicPr>
          <p:cNvPr id="36" name="Picture 35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18701" y="235917"/>
            <a:ext cx="1752598" cy="532790"/>
          </a:xfrm>
          <a:prstGeom prst="rect">
            <a:avLst/>
          </a:prstGeom>
        </p:spPr>
      </p:pic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>
            <a:spLocks noGrp="1"/>
          </p:cNvSpPr>
          <p:nvPr>
            <p:ph type="title"/>
          </p:nvPr>
        </p:nvSpPr>
        <p:spPr>
          <a:xfrm>
            <a:off x="3794704" y="2914650"/>
            <a:ext cx="7119766" cy="895350"/>
          </a:xfrm>
        </p:spPr>
        <p:txBody>
          <a:bodyPr vert="horz" lIns="91440" tIns="45720" rIns="91440" bIns="45720" anchor="t">
            <a:normAutofit/>
          </a:bodyPr>
          <a:lstStyle/>
          <a:p>
            <a:pPr algn="l">
              <a:lnSpc>
                <a:spcPct val="90000"/>
              </a:lnSpc>
              <a:spcBef>
                <a:spcPct val="0"/>
              </a:spcBef>
            </a:pPr>
            <a:r>
              <a:rPr lang="en-US" sz="2400" b="1" i="0" u="none" baseline="0">
                <a:solidFill>
                  <a:schemeClr val="accent1"/>
                </a:solidFill>
                <a:latin typeface="Arial"/>
                <a:ea typeface="Arial"/>
              </a:rPr>
              <a:t>Project Impact &amp; Future Scope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2499727" y="2794377"/>
            <a:ext cx="156976" cy="1015623"/>
          </a:xfrm>
          <a:prstGeom prst="rect">
            <a:avLst/>
          </a:prstGeom>
          <a:noFill/>
        </p:spPr>
        <p:txBody>
          <a:bodyPr vert="horz" wrap="none" lIns="91440" tIns="45720" rIns="91440" bIns="45720" rtlCol="0" anchor="t">
            <a:prstTxWarp prst="textPlain">
              <a:avLst/>
            </a:prstTxWarp>
            <a:spAutoFit/>
          </a:bodyPr>
          <a:lstStyle/>
          <a:p>
            <a:pPr marL="0" algn="l">
              <a:defRPr/>
            </a:pPr>
            <a:r>
              <a:rPr lang="en-US" b="0" i="0" u="none" spc="100" baseline="0">
                <a:solidFill>
                  <a:schemeClr val="accent1"/>
                </a:solidFill>
                <a:latin typeface="Impact"/>
                <a:ea typeface="Impact"/>
              </a:rPr>
              <a:t>/</a:t>
            </a:r>
            <a:endParaRPr lang="en-US" sz="1100"/>
          </a:p>
        </p:txBody>
      </p:sp>
      <p:sp>
        <p:nvSpPr>
          <p:cNvPr id="4" name="TextBox 4"/>
          <p:cNvSpPr txBox="1"/>
          <p:nvPr/>
        </p:nvSpPr>
        <p:spPr>
          <a:xfrm>
            <a:off x="2721210" y="2840523"/>
            <a:ext cx="1073494" cy="923330"/>
          </a:xfrm>
          <a:prstGeom prst="rect">
            <a:avLst/>
          </a:prstGeom>
          <a:noFill/>
        </p:spPr>
        <p:txBody>
          <a:bodyPr vert="horz" wrap="square" lIns="91440" tIns="45720" rIns="91440" bIns="45720" rtlCol="0" anchor="t">
            <a:spAutoFit/>
          </a:bodyPr>
          <a:lstStyle/>
          <a:p>
            <a:pPr marL="0" algn="l">
              <a:defRPr/>
            </a:pPr>
            <a:r>
              <a:rPr lang="en-US" sz="5400" b="0" i="0" u="none" spc="100" baseline="0">
                <a:solidFill>
                  <a:schemeClr val="accent1"/>
                </a:solidFill>
                <a:latin typeface="Impact"/>
                <a:ea typeface="Impact"/>
              </a:rPr>
              <a:t>06</a:t>
            </a:r>
            <a:endParaRPr lang="en-US" sz="110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18701" y="235917"/>
            <a:ext cx="1752598" cy="53279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673100" y="2129031"/>
            <a:ext cx="5039291" cy="2324100"/>
          </a:xfrm>
          <a:prstGeom prst="rect">
            <a:avLst/>
          </a:prstGeom>
          <a:blipFill>
            <a:blip r:embed="rId2"/>
            <a:stretch>
              <a:fillRect t="-85985" b="-85050"/>
            </a:stretch>
          </a:blipFill>
          <a:ln cap="flat" cmpd="sng">
            <a:noFill/>
            <a:prstDash val="solid"/>
            <a:miter lim="800000"/>
          </a:ln>
          <a:effectLst/>
        </p:spPr>
        <p:txBody>
          <a:bodyPr vert="horz" lIns="91440" tIns="45720" rIns="91440" bIns="45720" anchor="ctr">
            <a:normAutofit/>
          </a:bodyPr>
          <a:lstStyle/>
          <a:p>
            <a:pPr marL="0" algn="ctr"/>
            <a:endParaRPr/>
          </a:p>
        </p:txBody>
      </p:sp>
      <p:sp>
        <p:nvSpPr>
          <p:cNvPr id="3" name="AutoShape 3"/>
          <p:cNvSpPr/>
          <p:nvPr/>
        </p:nvSpPr>
        <p:spPr>
          <a:xfrm>
            <a:off x="660400" y="4432935"/>
            <a:ext cx="5039289" cy="1701166"/>
          </a:xfrm>
          <a:prstGeom prst="rect">
            <a:avLst/>
          </a:prstGeom>
          <a:solidFill>
            <a:schemeClr val="bg1"/>
          </a:solidFill>
          <a:ln cap="rnd">
            <a:noFill/>
            <a:prstDash val="solid"/>
          </a:ln>
          <a:effectLst>
            <a:outerShdw blurRad="254000" dist="127000" algn="ctr" rotWithShape="0">
              <a:schemeClr val="bg1">
                <a:alpha val="20000"/>
                <a:lumMod val="65000"/>
              </a:schemeClr>
            </a:outerShdw>
          </a:effectLst>
        </p:spPr>
        <p:txBody>
          <a:bodyPr rot="0" vert="horz" wrap="square" lIns="91440" tIns="45720" rIns="91440" bIns="45720" anchor="ctr">
            <a:prstTxWarp prst="textNoShape">
              <a:avLst/>
            </a:prstTxWarp>
            <a:normAutofit/>
          </a:bodyPr>
          <a:lstStyle/>
          <a:p>
            <a:pPr marL="0" algn="ctr"/>
            <a:endParaRPr/>
          </a:p>
        </p:txBody>
      </p:sp>
      <p:sp>
        <p:nvSpPr>
          <p:cNvPr id="4" name="TextBox 4"/>
          <p:cNvSpPr txBox="1"/>
          <p:nvPr/>
        </p:nvSpPr>
        <p:spPr>
          <a:xfrm>
            <a:off x="895598" y="4530730"/>
            <a:ext cx="4482559" cy="338554"/>
          </a:xfrm>
          <a:prstGeom prst="rect">
            <a:avLst/>
          </a:prstGeom>
          <a:noFill/>
        </p:spPr>
        <p:txBody>
          <a:bodyPr vert="horz" wrap="square" lIns="91440" tIns="45720" rIns="91440" bIns="45720" rtlCol="0" anchor="t">
            <a:spAutoFit/>
          </a:bodyPr>
          <a:lstStyle/>
          <a:p>
            <a:pPr marL="0" algn="l">
              <a:defRPr/>
            </a:pPr>
            <a:r>
              <a:rPr lang="zh-CN" altLang="en-US" sz="1600" b="1" i="0" u="none" baseline="0">
                <a:solidFill>
                  <a:srgbClr val="000000"/>
                </a:solidFill>
                <a:latin typeface="Arial"/>
                <a:ea typeface="Arial"/>
              </a:rPr>
              <a:t>Technical Skills Demonstrated</a:t>
            </a:r>
            <a:endParaRPr lang="en-US" sz="1100"/>
          </a:p>
        </p:txBody>
      </p:sp>
      <p:cxnSp>
        <p:nvCxnSpPr>
          <p:cNvPr id="5" name="Connector 5"/>
          <p:cNvCxnSpPr/>
          <p:nvPr/>
        </p:nvCxnSpPr>
        <p:spPr>
          <a:xfrm>
            <a:off x="4809818" y="5978515"/>
            <a:ext cx="568341" cy="0"/>
          </a:xfrm>
          <a:prstGeom prst="line">
            <a:avLst/>
          </a:prstGeom>
          <a:ln w="38100">
            <a:solidFill>
              <a:schemeClr val="accent1"/>
            </a:solidFill>
          </a:ln>
        </p:spPr>
      </p:cxnSp>
      <p:sp>
        <p:nvSpPr>
          <p:cNvPr id="6" name="AutoShape 6"/>
          <p:cNvSpPr/>
          <p:nvPr/>
        </p:nvSpPr>
        <p:spPr>
          <a:xfrm>
            <a:off x="6479610" y="1752600"/>
            <a:ext cx="5039290" cy="2324100"/>
          </a:xfrm>
          <a:prstGeom prst="rect">
            <a:avLst/>
          </a:prstGeom>
          <a:blipFill>
            <a:blip r:embed="rId3"/>
            <a:stretch>
              <a:fillRect t="-113235" b="-112006"/>
            </a:stretch>
          </a:blipFill>
          <a:ln cap="flat" cmpd="sng">
            <a:noFill/>
            <a:prstDash val="solid"/>
            <a:miter lim="800000"/>
          </a:ln>
          <a:effectLst/>
        </p:spPr>
        <p:txBody>
          <a:bodyPr vert="horz" lIns="91440" tIns="45720" rIns="91440" bIns="45720" anchor="ctr">
            <a:normAutofit/>
          </a:bodyPr>
          <a:lstStyle/>
          <a:p>
            <a:pPr marL="0" algn="ctr"/>
            <a:endParaRPr/>
          </a:p>
        </p:txBody>
      </p:sp>
      <p:sp>
        <p:nvSpPr>
          <p:cNvPr id="7" name="AutoShape 7"/>
          <p:cNvSpPr/>
          <p:nvPr/>
        </p:nvSpPr>
        <p:spPr>
          <a:xfrm>
            <a:off x="6479579" y="4076700"/>
            <a:ext cx="5039288" cy="1790700"/>
          </a:xfrm>
          <a:prstGeom prst="rect">
            <a:avLst/>
          </a:prstGeom>
          <a:solidFill>
            <a:schemeClr val="bg1"/>
          </a:solidFill>
          <a:ln cap="rnd">
            <a:noFill/>
            <a:prstDash val="solid"/>
          </a:ln>
          <a:effectLst>
            <a:outerShdw blurRad="254000" dist="127000" algn="ctr" rotWithShape="0">
              <a:schemeClr val="bg1">
                <a:alpha val="20000"/>
                <a:lumMod val="65000"/>
              </a:schemeClr>
            </a:outerShdw>
          </a:effectLst>
        </p:spPr>
        <p:txBody>
          <a:bodyPr rot="0" vert="horz" wrap="square" lIns="91440" tIns="45720" rIns="91440" bIns="45720" anchor="ctr">
            <a:prstTxWarp prst="textNoShape">
              <a:avLst/>
            </a:prstTxWarp>
            <a:normAutofit/>
          </a:bodyPr>
          <a:lstStyle/>
          <a:p>
            <a:pPr marL="0" algn="ctr"/>
            <a:endParaRPr/>
          </a:p>
        </p:txBody>
      </p:sp>
      <p:sp>
        <p:nvSpPr>
          <p:cNvPr id="8" name="TextBox 8"/>
          <p:cNvSpPr txBox="1"/>
          <p:nvPr/>
        </p:nvSpPr>
        <p:spPr>
          <a:xfrm>
            <a:off x="6714778" y="4174495"/>
            <a:ext cx="4482559" cy="338554"/>
          </a:xfrm>
          <a:prstGeom prst="rect">
            <a:avLst/>
          </a:prstGeom>
          <a:noFill/>
        </p:spPr>
        <p:txBody>
          <a:bodyPr vert="horz" wrap="square" lIns="91440" tIns="45720" rIns="91440" bIns="45720" rtlCol="0" anchor="t">
            <a:spAutoFit/>
          </a:bodyPr>
          <a:lstStyle/>
          <a:p>
            <a:pPr marL="0" algn="l">
              <a:defRPr/>
            </a:pPr>
            <a:r>
              <a:rPr lang="zh-CN" altLang="en-US" sz="1600" b="1" i="0" u="none" baseline="0">
                <a:solidFill>
                  <a:srgbClr val="000000"/>
                </a:solidFill>
                <a:latin typeface="Arial"/>
                <a:ea typeface="Arial"/>
              </a:rPr>
              <a:t>Centralized Reporting</a:t>
            </a:r>
            <a:endParaRPr lang="en-US" sz="1100"/>
          </a:p>
        </p:txBody>
      </p:sp>
      <p:cxnSp>
        <p:nvCxnSpPr>
          <p:cNvPr id="9" name="Connector 9"/>
          <p:cNvCxnSpPr/>
          <p:nvPr/>
        </p:nvCxnSpPr>
        <p:spPr>
          <a:xfrm>
            <a:off x="10628996" y="5704830"/>
            <a:ext cx="568341" cy="0"/>
          </a:xfrm>
          <a:prstGeom prst="line">
            <a:avLst/>
          </a:prstGeom>
          <a:ln w="38100">
            <a:solidFill>
              <a:schemeClr val="accent2"/>
            </a:solidFill>
          </a:ln>
        </p:spPr>
      </p:cxnSp>
      <p:sp>
        <p:nvSpPr>
          <p:cNvPr id="10" name="TextBox 10"/>
          <p:cNvSpPr txBox="1"/>
          <p:nvPr/>
        </p:nvSpPr>
        <p:spPr>
          <a:xfrm>
            <a:off x="6714778" y="4556480"/>
            <a:ext cx="4482559" cy="815340"/>
          </a:xfrm>
          <a:prstGeom prst="rect">
            <a:avLst/>
          </a:prstGeom>
          <a:noFill/>
        </p:spPr>
        <p:txBody>
          <a:bodyPr vert="horz" wrap="square" lIns="91440" tIns="45720" rIns="91440" bIns="45720" rtlCol="0" anchor="t">
            <a:spAutoFit/>
          </a:bodyPr>
          <a:lstStyle/>
          <a:p>
            <a:pPr marL="0" marR="0" indent="0" algn="l" fontAlgn="auto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zh-CN" altLang="en-US" sz="1400" b="0" i="0" u="none" baseline="0">
                <a:ln/>
                <a:solidFill>
                  <a:srgbClr val="000000"/>
                </a:solidFill>
                <a:effectLst/>
                <a:latin typeface="Arial"/>
                <a:ea typeface="Arial"/>
              </a:rPr>
              <a:t>Single platform for KPI monitoring, regional analysis, user growth tracking, and interactive data exploration.</a:t>
            </a:r>
            <a:endParaRPr lang="en-US" sz="1100"/>
          </a:p>
        </p:txBody>
      </p:sp>
      <p:sp>
        <p:nvSpPr>
          <p:cNvPr id="11" name="TextBox 11"/>
          <p:cNvSpPr txBox="1"/>
          <p:nvPr/>
        </p:nvSpPr>
        <p:spPr>
          <a:xfrm>
            <a:off x="895600" y="4831757"/>
            <a:ext cx="4482559" cy="700192"/>
          </a:xfrm>
          <a:prstGeom prst="rect">
            <a:avLst/>
          </a:prstGeom>
          <a:noFill/>
        </p:spPr>
        <p:txBody>
          <a:bodyPr vert="horz" wrap="square" lIns="91440" tIns="45720" rIns="91440" bIns="45720" rtlCol="0" anchor="t">
            <a:spAutoFit/>
          </a:bodyPr>
          <a:lstStyle/>
          <a:p>
            <a:pPr marL="0" marR="0" indent="0" algn="l" fontAlgn="auto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zh-CN" altLang="en-US" sz="1400" b="0" i="0" u="none" baseline="0">
                <a:ln/>
                <a:solidFill>
                  <a:srgbClr val="000000"/>
                </a:solidFill>
                <a:effectLst/>
                <a:latin typeface="Arial"/>
                <a:ea typeface="Arial"/>
              </a:rPr>
              <a:t>Power BI, Power Query, DAX, Data Modeling, Data Visualization, Business Intelligence.</a:t>
            </a:r>
            <a:endParaRPr lang="en-US" sz="1100"/>
          </a:p>
        </p:txBody>
      </p:sp>
      <p:sp>
        <p:nvSpPr>
          <p:cNvPr id="12" name="TextBox 12"/>
          <p:cNvSpPr txBox="1"/>
          <p:nvPr/>
        </p:nvSpPr>
        <p:spPr>
          <a:xfrm>
            <a:off x="669924" y="1"/>
            <a:ext cx="10850563" cy="1028699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 marL="0" algn="l">
              <a:lnSpc>
                <a:spcPct val="90000"/>
              </a:lnSpc>
              <a:spcBef>
                <a:spcPct val="0"/>
              </a:spcBef>
              <a:defRPr/>
            </a:pPr>
            <a:r>
              <a:rPr lang="zh-CN" altLang="en-US" sz="2800" b="1" i="0" u="none" baseline="0">
                <a:solidFill>
                  <a:srgbClr val="000000"/>
                </a:solidFill>
                <a:latin typeface="微软雅黑"/>
                <a:ea typeface="微软雅黑"/>
              </a:rPr>
              <a:t>Business Benefits Delivered</a:t>
            </a:r>
            <a:endParaRPr lang="en-US" sz="1100"/>
          </a:p>
        </p:txBody>
      </p:sp>
      <p:pic>
        <p:nvPicPr>
          <p:cNvPr id="14" name="Picture 13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18701" y="235917"/>
            <a:ext cx="1752598" cy="532790"/>
          </a:xfrm>
          <a:prstGeom prst="rect">
            <a:avLst/>
          </a:prstGeom>
        </p:spPr>
      </p:pic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>
            <a:spLocks noGrp="1"/>
          </p:cNvSpPr>
          <p:nvPr>
            <p:ph type="title"/>
          </p:nvPr>
        </p:nvSpPr>
        <p:spPr>
          <a:xfrm>
            <a:off x="669924" y="1"/>
            <a:ext cx="10850563" cy="1028699"/>
          </a:xfrm>
        </p:spPr>
        <p:txBody>
          <a:bodyPr vert="horz" lIns="91440" tIns="45720" rIns="91440" bIns="45720" anchor="b">
            <a:normAutofit/>
          </a:bodyPr>
          <a:lstStyle/>
          <a:p>
            <a:pPr algn="l">
              <a:lnSpc>
                <a:spcPct val="90000"/>
              </a:lnSpc>
              <a:spcBef>
                <a:spcPct val="0"/>
              </a:spcBef>
            </a:pPr>
            <a:r>
              <a:rPr lang="zh-CN" altLang="en-US" sz="2800" b="1" i="0" u="none" baseline="0">
                <a:solidFill>
                  <a:srgbClr val="000000"/>
                </a:solidFill>
                <a:latin typeface="微软雅黑"/>
                <a:ea typeface="微软雅黑"/>
              </a:rPr>
              <a:t>Future Enhancements</a:t>
            </a:r>
          </a:p>
        </p:txBody>
      </p:sp>
      <p:grpSp>
        <p:nvGrpSpPr>
          <p:cNvPr id="3" name="Group 3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4" name="AutoShape 4"/>
            <p:cNvSpPr/>
            <p:nvPr/>
          </p:nvSpPr>
          <p:spPr>
            <a:xfrm>
              <a:off x="7123176" y="0"/>
              <a:ext cx="5068824" cy="6858000"/>
            </a:xfrm>
            <a:prstGeom prst="rect">
              <a:avLst/>
            </a:prstGeom>
            <a:blipFill>
              <a:blip r:embed="rId2"/>
              <a:stretch>
                <a:fillRect l="-70637" r="-70637"/>
              </a:stretch>
            </a:blipFill>
            <a:ln cap="flat">
              <a:prstDash val="solid"/>
            </a:ln>
          </p:spPr>
          <p:txBody>
            <a:bodyPr vert="horz" wrap="square" lIns="91440" tIns="45720" rIns="91440" bIns="45720" anchor="ctr">
              <a:normAutofit/>
            </a:bodyPr>
            <a:lstStyle/>
            <a:p>
              <a:pPr marL="0" algn="ctr"/>
              <a:endParaRPr/>
            </a:p>
          </p:txBody>
        </p:sp>
        <p:grpSp>
          <p:nvGrpSpPr>
            <p:cNvPr id="5" name="Group 5"/>
            <p:cNvGrpSpPr/>
            <p:nvPr/>
          </p:nvGrpSpPr>
          <p:grpSpPr>
            <a:xfrm>
              <a:off x="0" y="2060448"/>
              <a:ext cx="7123176" cy="3143504"/>
              <a:chOff x="0" y="2060448"/>
              <a:chExt cx="7123176" cy="3143504"/>
            </a:xfrm>
          </p:grpSpPr>
          <p:grpSp>
            <p:nvGrpSpPr>
              <p:cNvPr id="6" name="Group 6"/>
              <p:cNvGrpSpPr/>
              <p:nvPr/>
            </p:nvGrpSpPr>
            <p:grpSpPr>
              <a:xfrm>
                <a:off x="0" y="2060448"/>
                <a:ext cx="7123176" cy="3143504"/>
                <a:chOff x="0" y="2060448"/>
                <a:chExt cx="7123176" cy="3143504"/>
              </a:xfrm>
            </p:grpSpPr>
            <p:sp>
              <p:nvSpPr>
                <p:cNvPr id="7" name="AutoShape 7"/>
                <p:cNvSpPr/>
                <p:nvPr/>
              </p:nvSpPr>
              <p:spPr>
                <a:xfrm>
                  <a:off x="0" y="2060448"/>
                  <a:ext cx="7123176" cy="3143504"/>
                </a:xfrm>
                <a:prstGeom prst="rect">
                  <a:avLst/>
                </a:prstGeom>
                <a:solidFill>
                  <a:schemeClr val="accent1">
                    <a:alpha val="10000"/>
                  </a:schemeClr>
                </a:solidFill>
                <a:ln cap="rnd" cmpd="sng">
                  <a:prstDash val="solid"/>
                </a:ln>
              </p:spPr>
              <p:txBody>
                <a:bodyPr rot="0" vert="horz" wrap="square" lIns="91440" tIns="45720" rIns="91440" bIns="45720" anchor="ctr">
                  <a:normAutofit/>
                </a:bodyPr>
                <a:lstStyle/>
                <a:p>
                  <a:pPr marL="0" algn="ctr"/>
                  <a:endParaRPr/>
                </a:p>
              </p:txBody>
            </p:sp>
            <p:sp>
              <p:nvSpPr>
                <p:cNvPr id="8" name="AutoShape 8"/>
                <p:cNvSpPr/>
                <p:nvPr/>
              </p:nvSpPr>
              <p:spPr>
                <a:xfrm>
                  <a:off x="6967727" y="2060448"/>
                  <a:ext cx="155448" cy="3143504"/>
                </a:xfrm>
                <a:prstGeom prst="rect">
                  <a:avLst/>
                </a:prstGeom>
                <a:solidFill>
                  <a:schemeClr val="accent1"/>
                </a:solidFill>
                <a:ln cap="rnd" cmpd="sng">
                  <a:prstDash val="solid"/>
                </a:ln>
              </p:spPr>
              <p:txBody>
                <a:bodyPr rot="0" vert="horz" wrap="square" lIns="91440" tIns="45720" rIns="91440" bIns="45720" anchor="ctr">
                  <a:normAutofit/>
                </a:bodyPr>
                <a:lstStyle/>
                <a:p>
                  <a:pPr marL="0" algn="ctr"/>
                  <a:endParaRPr/>
                </a:p>
              </p:txBody>
            </p:sp>
          </p:grpSp>
          <p:grpSp>
            <p:nvGrpSpPr>
              <p:cNvPr id="9" name="Group 9"/>
              <p:cNvGrpSpPr/>
              <p:nvPr/>
            </p:nvGrpSpPr>
            <p:grpSpPr>
              <a:xfrm>
                <a:off x="660399" y="2938772"/>
                <a:ext cx="5956300" cy="1657780"/>
                <a:chOff x="660399" y="2938772"/>
                <a:chExt cx="5956300" cy="1657780"/>
              </a:xfrm>
            </p:grpSpPr>
            <p:sp>
              <p:nvSpPr>
                <p:cNvPr id="10" name="TextBox 10"/>
                <p:cNvSpPr txBox="1"/>
                <p:nvPr/>
              </p:nvSpPr>
              <p:spPr>
                <a:xfrm>
                  <a:off x="660400" y="2938772"/>
                  <a:ext cx="5956299" cy="369332"/>
                </a:xfrm>
                <a:prstGeom prst="rect">
                  <a:avLst/>
                </a:prstGeom>
                <a:noFill/>
              </p:spPr>
              <p:txBody>
                <a:bodyPr vert="horz" wrap="square" lIns="91440" tIns="45720" rIns="91440" bIns="45720" rtlCol="0" anchor="ctr">
                  <a:spAutoFit/>
                </a:bodyPr>
                <a:lstStyle/>
                <a:p>
                  <a:pPr marL="0" marR="0" indent="0" algn="l" fontAlgn="auto">
                    <a:spcBef>
                      <a:spcPct val="0"/>
                    </a:spcBef>
                    <a:spcAft>
                      <a:spcPct val="0"/>
                    </a:spcAft>
                    <a:defRPr/>
                  </a:pPr>
                  <a:r>
                    <a:rPr lang="zh-CN" altLang="en-US" sz="1800" b="1" i="0" u="none" baseline="0">
                      <a:ln/>
                      <a:solidFill>
                        <a:srgbClr val="000000"/>
                      </a:solidFill>
                      <a:latin typeface="微软雅黑"/>
                      <a:ea typeface="微软雅黑"/>
                    </a:rPr>
                    <a:t>Planned Improvements</a:t>
                  </a:r>
                  <a:endParaRPr lang="en-US" sz="1100"/>
                </a:p>
              </p:txBody>
            </p:sp>
            <p:sp>
              <p:nvSpPr>
                <p:cNvPr id="11" name="TextBox 11"/>
                <p:cNvSpPr txBox="1"/>
                <p:nvPr/>
              </p:nvSpPr>
              <p:spPr>
                <a:xfrm>
                  <a:off x="660399" y="3896360"/>
                  <a:ext cx="5956299" cy="700192"/>
                </a:xfrm>
                <a:prstGeom prst="rect">
                  <a:avLst/>
                </a:prstGeom>
                <a:noFill/>
              </p:spPr>
              <p:txBody>
                <a:bodyPr vert="horz" wrap="square" lIns="91440" tIns="45720" rIns="91440" bIns="45720" rtlCol="0" anchor="t">
                  <a:spAutoFit/>
                </a:bodyPr>
                <a:lstStyle/>
                <a:p>
                  <a:pPr marL="0" algn="l">
                    <a:lnSpc>
                      <a:spcPct val="150000"/>
                    </a:lnSpc>
                    <a:defRPr/>
                  </a:pPr>
                  <a:r>
                    <a:rPr lang="zh-CN" altLang="en-US" sz="1400" b="0" i="0" u="none" baseline="0">
                      <a:solidFill>
                        <a:srgbClr val="000000"/>
                      </a:solidFill>
                      <a:latin typeface="微软雅黑"/>
                      <a:ea typeface="微软雅黑"/>
                    </a:rPr>
                    <a:t>Real-time data refresh, predictive analytics, forecasting models, AI-based insights, customer segmentation, and fraud detection dashboard.</a:t>
                  </a:r>
                  <a:endParaRPr lang="en-US" sz="1100"/>
                </a:p>
              </p:txBody>
            </p:sp>
            <p:cxnSp>
              <p:nvCxnSpPr>
                <p:cNvPr id="12" name="Connector 12"/>
                <p:cNvCxnSpPr/>
                <p:nvPr/>
              </p:nvCxnSpPr>
              <p:spPr>
                <a:xfrm>
                  <a:off x="660399" y="3639312"/>
                  <a:ext cx="4579112" cy="0"/>
                </a:xfrm>
                <a:prstGeom prst="line">
                  <a:avLst/>
                </a:prstGeom>
                <a:ln w="3175" cap="rnd" cmpd="sng">
                  <a:solidFill>
                    <a:schemeClr val="accent1"/>
                  </a:solidFill>
                  <a:prstDash val="solid"/>
                </a:ln>
              </p:spPr>
            </p:cxnSp>
          </p:grpSp>
        </p:grpSp>
      </p:grpSp>
      <p:pic>
        <p:nvPicPr>
          <p:cNvPr id="14" name="Picture 13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18701" y="235917"/>
            <a:ext cx="1752598" cy="53279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>
            <a:spLocks noGrp="1"/>
          </p:cNvSpPr>
          <p:nvPr>
            <p:ph type="ctrTitle"/>
          </p:nvPr>
        </p:nvSpPr>
        <p:spPr>
          <a:xfrm>
            <a:off x="3382962" y="1618376"/>
            <a:ext cx="5426076" cy="1621509"/>
          </a:xfrm>
        </p:spPr>
        <p:txBody>
          <a:bodyPr vert="horz" lIns="91440" tIns="45720" rIns="91440" bIns="45720" anchor="b">
            <a:noAutofit/>
          </a:bodyPr>
          <a:lstStyle/>
          <a:p>
            <a:pPr marL="0" indent="0" algn="ctr">
              <a:lnSpc>
                <a:spcPct val="90000"/>
              </a:lnSpc>
              <a:spcBef>
                <a:spcPct val="0"/>
              </a:spcBef>
            </a:pPr>
            <a:r>
              <a:rPr lang="zh-CN" altLang="en-US" sz="6600" b="1" i="0" u="none" baseline="0" dirty="0">
                <a:solidFill>
                  <a:schemeClr val="accent1"/>
                </a:solidFill>
                <a:latin typeface="Magneto" panose="04030805050802020D02" pitchFamily="82" charset="0"/>
                <a:ea typeface="微软雅黑"/>
              </a:rPr>
              <a:t>Thank </a:t>
            </a:r>
            <a:r>
              <a:rPr lang="en-US" altLang="zh-CN" sz="6600" b="1" dirty="0" smtClean="0">
                <a:solidFill>
                  <a:schemeClr val="accent1"/>
                </a:solidFill>
                <a:latin typeface="Magneto" panose="04030805050802020D02" pitchFamily="82" charset="0"/>
                <a:ea typeface="微软雅黑"/>
              </a:rPr>
              <a:t>You</a:t>
            </a:r>
            <a:endParaRPr lang="zh-CN" altLang="en-US" sz="6600" b="1" i="0" u="none" baseline="0" dirty="0">
              <a:solidFill>
                <a:schemeClr val="accent1"/>
              </a:solidFill>
              <a:latin typeface="Magneto" panose="04030805050802020D02" pitchFamily="82" charset="0"/>
              <a:ea typeface="微软雅黑"/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18701" y="235917"/>
            <a:ext cx="1752598" cy="53279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768394"/>
      </a:dk2>
      <a:lt2>
        <a:srgbClr val="F0F0F0"/>
      </a:lt2>
      <a:accent1>
        <a:srgbClr val="3F3F3F"/>
      </a:accent1>
      <a:accent2>
        <a:srgbClr val="818585"/>
      </a:accent2>
      <a:accent3>
        <a:srgbClr val="A5AEB2"/>
      </a:accent3>
      <a:accent4>
        <a:srgbClr val="B4AEAD"/>
      </a:accent4>
      <a:accent5>
        <a:srgbClr val="939496"/>
      </a:accent5>
      <a:accent6>
        <a:srgbClr val="625C5C"/>
      </a:accent6>
      <a:hlink>
        <a:srgbClr val="BC3548"/>
      </a:hlink>
      <a:folHlink>
        <a:srgbClr val="BFBFBF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39</TotalTime>
  <Words>896</Words>
  <Application>Microsoft Office PowerPoint</Application>
  <PresentationFormat>Custom</PresentationFormat>
  <Paragraphs>169</Paragraphs>
  <Slides>30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30</vt:i4>
      </vt:variant>
    </vt:vector>
  </HeadingPairs>
  <TitlesOfParts>
    <vt:vector size="31" baseType="lpstr">
      <vt:lpstr>Office Theme</vt:lpstr>
      <vt:lpstr>PhonePe Data Visualization Dashboard</vt:lpstr>
      <vt:lpstr>PowerPoint Presentation</vt:lpstr>
      <vt:lpstr>Project Overview</vt:lpstr>
      <vt:lpstr>Executive Summary</vt:lpstr>
      <vt:lpstr>Business Problem &amp; Objectives</vt:lpstr>
      <vt:lpstr>Data Architecture &amp; Preparation</vt:lpstr>
      <vt:lpstr>PowerPoint Presentation</vt:lpstr>
      <vt:lpstr>Data Preparation</vt:lpstr>
      <vt:lpstr>DAX Measures &amp; Analysis</vt:lpstr>
      <vt:lpstr>Core Measures</vt:lpstr>
      <vt:lpstr>Advanced Measures</vt:lpstr>
      <vt:lpstr>Relationship Screenshot</vt:lpstr>
      <vt:lpstr>Model View Screenshot</vt:lpstr>
      <vt:lpstr>Interactive Dashboards</vt:lpstr>
      <vt:lpstr>Executive Overview Dashboard</vt:lpstr>
      <vt:lpstr>Executive Overview Screenshot</vt:lpstr>
      <vt:lpstr>Transaction Analysis Page</vt:lpstr>
      <vt:lpstr>Transaction Analysis Screenshot</vt:lpstr>
      <vt:lpstr>User Analysis Page</vt:lpstr>
      <vt:lpstr>User Analysis Screenshot</vt:lpstr>
      <vt:lpstr>PowerPoint Presentation</vt:lpstr>
      <vt:lpstr>Top Insights Page</vt:lpstr>
      <vt:lpstr>Top Insights Screenshot</vt:lpstr>
      <vt:lpstr>Business Insights &amp; Recommendations</vt:lpstr>
      <vt:lpstr>Key Business Insights</vt:lpstr>
      <vt:lpstr>PowerPoint Presentation</vt:lpstr>
      <vt:lpstr>Project Impact &amp; Future Scope</vt:lpstr>
      <vt:lpstr>PowerPoint Presentation</vt:lpstr>
      <vt:lpstr>Future Enhancements</vt:lpstr>
      <vt:lpstr>Thank You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PhonePe Data Visualization Dashboard</dc:title>
  <cp:lastModifiedBy>HP</cp:lastModifiedBy>
  <cp:revision>5</cp:revision>
  <dcterms:created xsi:type="dcterms:W3CDTF">2026-06-17T06:11:03Z</dcterms:created>
  <dcterms:modified xsi:type="dcterms:W3CDTF">2026-06-17T11:18:45Z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pyright">
    <vt:lpwstr>https://docmee.cn</vt:lpwstr>
  </property>
  <property fmtid="{D5CDD505-2E9C-101B-9397-08002B2CF9AE}" pid="3" name="developer">
    <vt:lpwstr>https://github.com/veasion</vt:lpwstr>
  </property>
  <property fmtid="{D5CDD505-2E9C-101B-9397-08002B2CF9AE}" pid="4" name="AIGC">
    <vt:lpwstr>{"ContentPropagator":"文多多","Label":"1","ReservedCode1":"1781676663708","ProduceID":"wenduoduo-pptx-1781676663708","ReservedCode2":"1781676663708","PropagateID":"wenduoduo-pptx1781676663708","ContentProducer":"文多多"}</vt:lpwstr>
  </property>
</Properties>
</file>